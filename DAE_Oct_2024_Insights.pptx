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3"/>
    <p:sldId id="256" r:id="rId4"/>
    <p:sldId id="268" r:id="rId5"/>
    <p:sldId id="267" r:id="rId6"/>
    <p:sldId id="262" r:id="rId7"/>
    <p:sldId id="264" r:id="rId8"/>
    <p:sldId id="278" r:id="rId10"/>
    <p:sldId id="286" r:id="rId11"/>
    <p:sldId id="287" r:id="rId12"/>
    <p:sldId id="289" r:id="rId13"/>
    <p:sldId id="288" r:id="rId14"/>
    <p:sldId id="283" r:id="rId15"/>
    <p:sldId id="265" r:id="rId16"/>
    <p:sldId id="266" r:id="rId17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User\Desktop\Debug\Analysis\DAE\DAE%20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User\Desktop\Debug\Analysis\DAE\DAE%20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User\Desktop\Debug\Analysis\DAE\DAE%20Analysi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User\Desktop\Debug\Analysis\DAE\DAE%20Analysi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User\Desktop\Debug\Analysis\DAE\DAE%20Analysi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User\Desktop\Debug\Analysis\DAE\DAE%20Analysi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User\Desktop\Debug\Analysis\DAE\DAE%20Analysi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User\Desktop\Debug\Analysis\DAE\DAE%20Analysis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User\Desktop\Debug\Analysis\DAE\DAE%20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40744845932166"/>
          <c:y val="0.0946260252172849"/>
          <c:w val="0.906251385502106"/>
          <c:h val="0.613465540457828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Analysis.xlsx]PNL Overall Performance'!$C$2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'[DHL Analysis.xlsx]PNL Overall Performance'!$B$3:$B$13</c:f>
              <c:strCache>
                <c:ptCount val="11"/>
                <c:pt idx="0">
                  <c:v>Revenue</c:v>
                </c:pt>
                <c:pt idx="1">
                  <c:v>Cost Of Sales</c:v>
                </c:pt>
                <c:pt idx="2">
                  <c:v>Gross Profit</c:v>
                </c:pt>
                <c:pt idx="3">
                  <c:v>Administrative Expenses</c:v>
                </c:pt>
                <c:pt idx="4">
                  <c:v>Other Administrative Expenses</c:v>
                </c:pt>
                <c:pt idx="5">
                  <c:v>Staff Salary</c:v>
                </c:pt>
                <c:pt idx="6">
                  <c:v>Utility</c:v>
                </c:pt>
                <c:pt idx="7">
                  <c:v>Rent Expenses</c:v>
                </c:pt>
                <c:pt idx="8">
                  <c:v>Insurance</c:v>
                </c:pt>
                <c:pt idx="9">
                  <c:v>Selling and Distributions Expenses</c:v>
                </c:pt>
                <c:pt idx="10">
                  <c:v>Profit Before Tax</c:v>
                </c:pt>
              </c:strCache>
            </c:strRef>
          </c:cat>
          <c:val>
            <c:numRef>
              <c:f>'[DHL Analysis.xlsx]PNL Overall Performance'!$C$3:$C$13</c:f>
              <c:numCache>
                <c:formatCode>_ * #,##0.00_ ;_ * \-#,##0.00_ ;_ * "-"??_ ;_ @_ </c:formatCode>
                <c:ptCount val="11"/>
                <c:pt idx="0">
                  <c:v>24777094.817</c:v>
                </c:pt>
                <c:pt idx="1">
                  <c:v>17061127.6585</c:v>
                </c:pt>
                <c:pt idx="2">
                  <c:v>7715967.1585</c:v>
                </c:pt>
                <c:pt idx="3">
                  <c:v>3914920.9</c:v>
                </c:pt>
                <c:pt idx="4">
                  <c:v>2232340.95</c:v>
                </c:pt>
                <c:pt idx="5">
                  <c:v>1287289.51</c:v>
                </c:pt>
                <c:pt idx="6">
                  <c:v>29044.84</c:v>
                </c:pt>
                <c:pt idx="7">
                  <c:v>355000</c:v>
                </c:pt>
                <c:pt idx="8">
                  <c:v>11245.6</c:v>
                </c:pt>
                <c:pt idx="9">
                  <c:v>65635.5</c:v>
                </c:pt>
                <c:pt idx="10">
                  <c:v>3735410.7585</c:v>
                </c:pt>
              </c:numCache>
            </c:numRef>
          </c:val>
        </c:ser>
        <c:ser>
          <c:idx val="0"/>
          <c:order val="1"/>
          <c:tx>
            <c:strRef>
              <c:f>'[DAE Analysis.xlsx]PNL Overall Performance'!$D$2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'[DHL Analysis.xlsx]PNL Overall Performance'!$B$3:$B$13</c:f>
              <c:strCache>
                <c:ptCount val="11"/>
                <c:pt idx="0">
                  <c:v>Revenue</c:v>
                </c:pt>
                <c:pt idx="1">
                  <c:v>Cost Of Sales</c:v>
                </c:pt>
                <c:pt idx="2">
                  <c:v>Gross Profit</c:v>
                </c:pt>
                <c:pt idx="3">
                  <c:v>Administrative Expenses</c:v>
                </c:pt>
                <c:pt idx="4">
                  <c:v>Other Administrative Expenses</c:v>
                </c:pt>
                <c:pt idx="5">
                  <c:v>Staff Salary</c:v>
                </c:pt>
                <c:pt idx="6">
                  <c:v>Utility</c:v>
                </c:pt>
                <c:pt idx="7">
                  <c:v>Rent Expenses</c:v>
                </c:pt>
                <c:pt idx="8">
                  <c:v>Insurance</c:v>
                </c:pt>
                <c:pt idx="9">
                  <c:v>Selling and Distributions Expenses</c:v>
                </c:pt>
                <c:pt idx="10">
                  <c:v>Profit Before Tax</c:v>
                </c:pt>
              </c:strCache>
            </c:strRef>
          </c:cat>
          <c:val>
            <c:numRef>
              <c:f>'[DHL Analysis.xlsx]PNL Overall Performance'!$D$3:$D$13</c:f>
              <c:numCache>
                <c:formatCode>_ * #,##0.00_ ;_ * \-#,##0.00_ ;_ * "-"??_ ;_ @_ </c:formatCode>
                <c:ptCount val="11"/>
                <c:pt idx="0">
                  <c:v>70139070.545</c:v>
                </c:pt>
                <c:pt idx="1">
                  <c:v>49961836.1416</c:v>
                </c:pt>
                <c:pt idx="2">
                  <c:v>20177234.4034</c:v>
                </c:pt>
                <c:pt idx="3">
                  <c:v>3877645.22</c:v>
                </c:pt>
                <c:pt idx="4">
                  <c:v>2109716.65</c:v>
                </c:pt>
                <c:pt idx="5">
                  <c:v>1234687.6</c:v>
                </c:pt>
                <c:pt idx="6">
                  <c:v>85644.57</c:v>
                </c:pt>
                <c:pt idx="7">
                  <c:v>385000</c:v>
                </c:pt>
                <c:pt idx="8">
                  <c:v>62596.4</c:v>
                </c:pt>
                <c:pt idx="9">
                  <c:v>78210.75</c:v>
                </c:pt>
                <c:pt idx="10">
                  <c:v>16221378.4334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[$Rs.-849]#,##0.00_);[Red]\([$Rs.-849]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86111726889825"/>
          <c:y val="0.037336271269433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7368538823003"/>
          <c:y val="0.115498519249753"/>
          <c:w val="0.927746699485344"/>
          <c:h val="0.704639684106614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Analysis.xlsx]Revenue&amp;Profit'!$C$3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'[DHL Analysis.xlsx]Revenue&amp;Profit'!$B$4:$B$6</c:f>
              <c:strCache>
                <c:ptCount val="3"/>
                <c:pt idx="0">
                  <c:v>Revenue</c:v>
                </c:pt>
                <c:pt idx="1">
                  <c:v>Gross Profit</c:v>
                </c:pt>
                <c:pt idx="2">
                  <c:v>Profit Before Tax</c:v>
                </c:pt>
              </c:strCache>
            </c:strRef>
          </c:cat>
          <c:val>
            <c:numRef>
              <c:f>'[DHL Analysis.xlsx]Revenue&amp;Profit'!$C$4:$C$6</c:f>
              <c:numCache>
                <c:formatCode>_ * #,##0.00_ ;_ * \-#,##0.00_ ;_ * "-"??_ ;_ @_ </c:formatCode>
                <c:ptCount val="3"/>
                <c:pt idx="0">
                  <c:v>24777094.817</c:v>
                </c:pt>
                <c:pt idx="1">
                  <c:v>7715967.1585</c:v>
                </c:pt>
                <c:pt idx="2">
                  <c:v>3735410.7585</c:v>
                </c:pt>
              </c:numCache>
            </c:numRef>
          </c:val>
        </c:ser>
        <c:ser>
          <c:idx val="0"/>
          <c:order val="1"/>
          <c:tx>
            <c:strRef>
              <c:f>'[DAE Analysis.xlsx]Revenue&amp;Profit'!$D$3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'[DHL Analysis.xlsx]Revenue&amp;Profit'!$B$4:$B$6</c:f>
              <c:strCache>
                <c:ptCount val="3"/>
                <c:pt idx="0">
                  <c:v>Revenue</c:v>
                </c:pt>
                <c:pt idx="1">
                  <c:v>Gross Profit</c:v>
                </c:pt>
                <c:pt idx="2">
                  <c:v>Profit Before Tax</c:v>
                </c:pt>
              </c:strCache>
            </c:strRef>
          </c:cat>
          <c:val>
            <c:numRef>
              <c:f>'[DHL Analysis.xlsx]Revenue&amp;Profit'!$D$4:$D$6</c:f>
              <c:numCache>
                <c:formatCode>_ * #,##0.00_ ;_ * \-#,##0.00_ ;_ * "-"??_ ;_ @_ </c:formatCode>
                <c:ptCount val="3"/>
                <c:pt idx="0">
                  <c:v>70139070.545</c:v>
                </c:pt>
                <c:pt idx="1">
                  <c:v>20177234.4034</c:v>
                </c:pt>
                <c:pt idx="2">
                  <c:v>16221378.4334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[$$-45C]#,##0.00_);[Red]\([$$-45C]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5514656522712"/>
          <c:y val="0.03738894373149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>
          <a:solidFill>
            <a:schemeClr val="tx1"/>
          </a:solidFill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88026580503566"/>
          <c:y val="0.115469007131103"/>
          <c:w val="0.902725111260135"/>
          <c:h val="0.744843664289632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Analysis.xlsx]Revenue Performance'!$C$2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'[DHL Analysis.xlsx]Revenue Performance'!$B$3:$B$5</c:f>
              <c:strCache>
                <c:ptCount val="3"/>
                <c:pt idx="0">
                  <c:v>Revenue</c:v>
                </c:pt>
                <c:pt idx="1">
                  <c:v>Sales</c:v>
                </c:pt>
                <c:pt idx="2">
                  <c:v>SERVICE INCOME A/C</c:v>
                </c:pt>
              </c:strCache>
            </c:strRef>
          </c:cat>
          <c:val>
            <c:numRef>
              <c:f>'[DHL Analysis.xlsx]Revenue Performance'!$C$3:$C$5</c:f>
              <c:numCache>
                <c:formatCode>_ * #,##0.00_ ;_ * \-#,##0.00_ ;_ * "-"??_ ;_ @_ </c:formatCode>
                <c:ptCount val="3"/>
                <c:pt idx="0">
                  <c:v>24777094.817</c:v>
                </c:pt>
                <c:pt idx="1">
                  <c:v>24679038.613</c:v>
                </c:pt>
                <c:pt idx="2">
                  <c:v>98056.204</c:v>
                </c:pt>
              </c:numCache>
            </c:numRef>
          </c:val>
        </c:ser>
        <c:ser>
          <c:idx val="0"/>
          <c:order val="1"/>
          <c:tx>
            <c:strRef>
              <c:f>'[DAE Analysis.xlsx]Revenue Performance'!$D$2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'[DHL Analysis.xlsx]Revenue Performance'!$B$3:$B$5</c:f>
              <c:strCache>
                <c:ptCount val="3"/>
                <c:pt idx="0">
                  <c:v>Revenue</c:v>
                </c:pt>
                <c:pt idx="1">
                  <c:v>Sales</c:v>
                </c:pt>
                <c:pt idx="2">
                  <c:v>SERVICE INCOME A/C</c:v>
                </c:pt>
              </c:strCache>
            </c:strRef>
          </c:cat>
          <c:val>
            <c:numRef>
              <c:f>'[DHL Analysis.xlsx]Revenue Performance'!$D$3:$D$5</c:f>
              <c:numCache>
                <c:formatCode>_ * #,##0.00_ ;_ * \-#,##0.00_ ;_ * "-"??_ ;_ @_ </c:formatCode>
                <c:ptCount val="3"/>
                <c:pt idx="0">
                  <c:v>70139070.545</c:v>
                </c:pt>
                <c:pt idx="1">
                  <c:v>69999927.465</c:v>
                </c:pt>
                <c:pt idx="2">
                  <c:v>139143.08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74449795769067"/>
          <c:y val="0.044980800877674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9798510731494"/>
          <c:y val="0.115420473615514"/>
          <c:w val="0.919568550153307"/>
          <c:h val="0.774790229349245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Analysis.xlsx]COGS Performance'!$C$2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'[DAE Analysis.xlsx]COGS Performance'!$B$3:$B$7</c:f>
              <c:strCache>
                <c:ptCount val="5"/>
                <c:pt idx="0">
                  <c:v>Cost Of Sales</c:v>
                </c:pt>
                <c:pt idx="1">
                  <c:v>Cost Of Sales - General</c:v>
                </c:pt>
                <c:pt idx="2">
                  <c:v>Event Expenses</c:v>
                </c:pt>
                <c:pt idx="3">
                  <c:v>Cost of Service Income</c:v>
                </c:pt>
                <c:pt idx="4">
                  <c:v>Cost of Service - Specific</c:v>
                </c:pt>
              </c:strCache>
            </c:strRef>
          </c:cat>
          <c:val>
            <c:numRef>
              <c:f>'[DHL Analysis.xlsx]COGS Performance'!$C$3:$C$7</c:f>
              <c:numCache>
                <c:formatCode>_ * #,##0.00_ ;_ * \-#,##0.00_ ;_ * "-"??_ ;_ @_ </c:formatCode>
                <c:ptCount val="5"/>
                <c:pt idx="0">
                  <c:v>17061127.6585</c:v>
                </c:pt>
                <c:pt idx="1">
                  <c:v>16853963.4893</c:v>
                </c:pt>
                <c:pt idx="2">
                  <c:v>0</c:v>
                </c:pt>
                <c:pt idx="3">
                  <c:v>106884.1692</c:v>
                </c:pt>
                <c:pt idx="4">
                  <c:v>100280</c:v>
                </c:pt>
              </c:numCache>
            </c:numRef>
          </c:val>
        </c:ser>
        <c:ser>
          <c:idx val="0"/>
          <c:order val="1"/>
          <c:tx>
            <c:strRef>
              <c:f>'[DAE Analysis.xlsx]COGS Performance'!$E$2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'[DAE Analysis.xlsx]COGS Performance'!$B$3:$B$7</c:f>
              <c:strCache>
                <c:ptCount val="5"/>
                <c:pt idx="0">
                  <c:v>Cost Of Sales</c:v>
                </c:pt>
                <c:pt idx="1">
                  <c:v>Cost Of Sales - General</c:v>
                </c:pt>
                <c:pt idx="2">
                  <c:v>Event Expenses</c:v>
                </c:pt>
                <c:pt idx="3">
                  <c:v>Cost of Service Income</c:v>
                </c:pt>
                <c:pt idx="4">
                  <c:v>Cost of Service - Specific</c:v>
                </c:pt>
              </c:strCache>
            </c:strRef>
          </c:cat>
          <c:val>
            <c:numRef>
              <c:f>'[DAE Analysis.xlsx]COGS Performance'!$E$3:$E$7</c:f>
              <c:numCache>
                <c:formatCode>_ * #,##0.00_ ;_ * \-#,##0.00_ ;_ * "-"??_ ;_ @_ </c:formatCode>
                <c:ptCount val="5"/>
                <c:pt idx="0">
                  <c:v>49961836.1416</c:v>
                </c:pt>
                <c:pt idx="1">
                  <c:v>49940336.1416</c:v>
                </c:pt>
                <c:pt idx="2">
                  <c:v>21500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81756460797197"/>
          <c:y val="0.021629684877866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51402776984172"/>
          <c:y val="0.0446388847693905"/>
          <c:w val="0.936346494486029"/>
          <c:h val="0.610855702209699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Analysis.xlsx]Opex'!$H$2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'[DHL Analysis.xlsx]Opex'!$G$3:$G$19</c:f>
              <c:strCache>
                <c:ptCount val="17"/>
                <c:pt idx="0">
                  <c:v>Shared Service Cost</c:v>
                </c:pt>
                <c:pt idx="1">
                  <c:v>SSCL TAX</c:v>
                </c:pt>
                <c:pt idx="2">
                  <c:v>MOTOR VEHICLE MAINTENANCE</c:v>
                </c:pt>
                <c:pt idx="3">
                  <c:v>CONSULTANCY FEE</c:v>
                </c:pt>
                <c:pt idx="4">
                  <c:v>PROFESSIONAL CHARGES A/C</c:v>
                </c:pt>
                <c:pt idx="5">
                  <c:v>FOREIGEN TRAVELLING EXPENSES  A/C</c:v>
                </c:pt>
                <c:pt idx="6">
                  <c:v>Meals Expense</c:v>
                </c:pt>
                <c:pt idx="7">
                  <c:v>DIRECTOR FEES A/C</c:v>
                </c:pt>
                <c:pt idx="8">
                  <c:v>Subscription and Membership fee</c:v>
                </c:pt>
                <c:pt idx="9">
                  <c:v>Fuel Charges</c:v>
                </c:pt>
                <c:pt idx="10">
                  <c:v>Stamp Duty</c:v>
                </c:pt>
                <c:pt idx="11">
                  <c:v>PRINTING &amp; STATIONERY</c:v>
                </c:pt>
                <c:pt idx="12">
                  <c:v>Janitorial Service Expenses</c:v>
                </c:pt>
                <c:pt idx="13">
                  <c:v>TRAVELLING &amp; TRANSPORT</c:v>
                </c:pt>
                <c:pt idx="14">
                  <c:v>OFFICE EQUIPMENT REP. &amp; MAINT.</c:v>
                </c:pt>
                <c:pt idx="15">
                  <c:v>OFFICE EQUIPMENT MAINTENANCE</c:v>
                </c:pt>
                <c:pt idx="16">
                  <c:v>SECRETARIAL FEES A/C</c:v>
                </c:pt>
              </c:strCache>
            </c:strRef>
          </c:cat>
          <c:val>
            <c:numRef>
              <c:f>'[DHL Analysis.xlsx]Opex'!$H$3:$H$19</c:f>
              <c:numCache>
                <c:formatCode>_ * #,##0.00_ ;_ * \-#,##0.00_ ;_ * "-"??_ ;_ @_ </c:formatCode>
                <c:ptCount val="17"/>
                <c:pt idx="0">
                  <c:v>595854</c:v>
                </c:pt>
                <c:pt idx="1">
                  <c:v>314610.67</c:v>
                </c:pt>
                <c:pt idx="2">
                  <c:v>279633.14</c:v>
                </c:pt>
                <c:pt idx="3">
                  <c:v>249990</c:v>
                </c:pt>
                <c:pt idx="4">
                  <c:v>229000</c:v>
                </c:pt>
                <c:pt idx="5">
                  <c:v>206914.5</c:v>
                </c:pt>
                <c:pt idx="6">
                  <c:v>118159.3</c:v>
                </c:pt>
                <c:pt idx="7">
                  <c:v>75000</c:v>
                </c:pt>
                <c:pt idx="8">
                  <c:v>72404.86</c:v>
                </c:pt>
                <c:pt idx="9">
                  <c:v>37000</c:v>
                </c:pt>
                <c:pt idx="10">
                  <c:v>25903.2</c:v>
                </c:pt>
                <c:pt idx="11">
                  <c:v>11062.5</c:v>
                </c:pt>
                <c:pt idx="12">
                  <c:v>10000</c:v>
                </c:pt>
                <c:pt idx="13">
                  <c:v>4398.78</c:v>
                </c:pt>
                <c:pt idx="14">
                  <c:v>2250</c:v>
                </c:pt>
                <c:pt idx="15">
                  <c:v>160</c:v>
                </c:pt>
                <c:pt idx="16">
                  <c:v>0</c:v>
                </c:pt>
              </c:numCache>
            </c:numRef>
          </c:val>
        </c:ser>
        <c:ser>
          <c:idx val="0"/>
          <c:order val="1"/>
          <c:tx>
            <c:strRef>
              <c:f>'[DAE Analysis.xlsx]Opex'!$I$2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'[DHL Analysis.xlsx]Opex'!$G$3:$G$19</c:f>
              <c:strCache>
                <c:ptCount val="17"/>
                <c:pt idx="0">
                  <c:v>Shared Service Cost</c:v>
                </c:pt>
                <c:pt idx="1">
                  <c:v>SSCL TAX</c:v>
                </c:pt>
                <c:pt idx="2">
                  <c:v>MOTOR VEHICLE MAINTENANCE</c:v>
                </c:pt>
                <c:pt idx="3">
                  <c:v>CONSULTANCY FEE</c:v>
                </c:pt>
                <c:pt idx="4">
                  <c:v>PROFESSIONAL CHARGES A/C</c:v>
                </c:pt>
                <c:pt idx="5">
                  <c:v>FOREIGEN TRAVELLING EXPENSES  A/C</c:v>
                </c:pt>
                <c:pt idx="6">
                  <c:v>Meals Expense</c:v>
                </c:pt>
                <c:pt idx="7">
                  <c:v>DIRECTOR FEES A/C</c:v>
                </c:pt>
                <c:pt idx="8">
                  <c:v>Subscription and Membership fee</c:v>
                </c:pt>
                <c:pt idx="9">
                  <c:v>Fuel Charges</c:v>
                </c:pt>
                <c:pt idx="10">
                  <c:v>Stamp Duty</c:v>
                </c:pt>
                <c:pt idx="11">
                  <c:v>PRINTING &amp; STATIONERY</c:v>
                </c:pt>
                <c:pt idx="12">
                  <c:v>Janitorial Service Expenses</c:v>
                </c:pt>
                <c:pt idx="13">
                  <c:v>TRAVELLING &amp; TRANSPORT</c:v>
                </c:pt>
                <c:pt idx="14">
                  <c:v>OFFICE EQUIPMENT REP. &amp; MAINT.</c:v>
                </c:pt>
                <c:pt idx="15">
                  <c:v>OFFICE EQUIPMENT MAINTENANCE</c:v>
                </c:pt>
                <c:pt idx="16">
                  <c:v>SECRETARIAL FEES A/C</c:v>
                </c:pt>
              </c:strCache>
            </c:strRef>
          </c:cat>
          <c:val>
            <c:numRef>
              <c:f>'[DHL Analysis.xlsx]Opex'!$I$3:$I$19</c:f>
              <c:numCache>
                <c:formatCode>_ * #,##0.00_ ;_ * \-#,##0.00_ ;_ * "-"??_ ;_ @_ </c:formatCode>
                <c:ptCount val="17"/>
                <c:pt idx="0">
                  <c:v>595854</c:v>
                </c:pt>
                <c:pt idx="1">
                  <c:v>156113.32</c:v>
                </c:pt>
                <c:pt idx="2">
                  <c:v>28800</c:v>
                </c:pt>
                <c:pt idx="3">
                  <c:v>99990</c:v>
                </c:pt>
                <c:pt idx="4">
                  <c:v>218400</c:v>
                </c:pt>
                <c:pt idx="5">
                  <c:v>603591.93</c:v>
                </c:pt>
                <c:pt idx="6">
                  <c:v>38866.2</c:v>
                </c:pt>
                <c:pt idx="7">
                  <c:v>75000</c:v>
                </c:pt>
                <c:pt idx="8">
                  <c:v>12005.1</c:v>
                </c:pt>
                <c:pt idx="9">
                  <c:v>228066.69</c:v>
                </c:pt>
                <c:pt idx="10">
                  <c:v>1225</c:v>
                </c:pt>
                <c:pt idx="11">
                  <c:v>1828</c:v>
                </c:pt>
                <c:pt idx="12">
                  <c:v>10000</c:v>
                </c:pt>
                <c:pt idx="13">
                  <c:v>12476.41</c:v>
                </c:pt>
                <c:pt idx="14">
                  <c:v>0</c:v>
                </c:pt>
                <c:pt idx="15">
                  <c:v>0</c:v>
                </c:pt>
                <c:pt idx="16">
                  <c:v>27500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25587005467996"/>
          <c:y val="0.05490451388888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84935915219442"/>
          <c:y val="0.086337634694692"/>
          <c:w val="0.933030017200244"/>
          <c:h val="0.76272084082302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Analysis.xlsx]Opex'!$H$22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'[DHL Analysis.xlsx]Opex'!$G$23:$G$36</c:f>
              <c:strCache>
                <c:ptCount val="14"/>
                <c:pt idx="0">
                  <c:v>STAFF SALARIES A/C</c:v>
                </c:pt>
                <c:pt idx="1">
                  <c:v>Hard Working/Performance</c:v>
                </c:pt>
                <c:pt idx="2">
                  <c:v>Casual Allowance ( Interns &amp; trainees)</c:v>
                </c:pt>
                <c:pt idx="3">
                  <c:v>Staff Fuel</c:v>
                </c:pt>
                <c:pt idx="4">
                  <c:v>Motor Vehicle allowances</c:v>
                </c:pt>
                <c:pt idx="5">
                  <c:v>EPF A/C - 12%</c:v>
                </c:pt>
                <c:pt idx="6">
                  <c:v>STAFF WELFARE</c:v>
                </c:pt>
                <c:pt idx="7">
                  <c:v>Accommodation Allowance</c:v>
                </c:pt>
                <c:pt idx="8">
                  <c:v>Bonus</c:v>
                </c:pt>
                <c:pt idx="9">
                  <c:v>ETF A/C - 3%</c:v>
                </c:pt>
                <c:pt idx="10">
                  <c:v>Meals and Allowance</c:v>
                </c:pt>
                <c:pt idx="11">
                  <c:v>TELEPHONE - STAFF</c:v>
                </c:pt>
                <c:pt idx="12">
                  <c:v>Staff Welfare</c:v>
                </c:pt>
                <c:pt idx="13">
                  <c:v>TELEPHONE INCENTIVE</c:v>
                </c:pt>
              </c:strCache>
            </c:strRef>
          </c:cat>
          <c:val>
            <c:numRef>
              <c:f>'[DHL Analysis.xlsx]Opex'!$H$23:$H$36</c:f>
              <c:numCache>
                <c:formatCode>_ * #,##0.00_ ;_ * \-#,##0.00_ ;_ * "-"??_ ;_ @_ </c:formatCode>
                <c:ptCount val="14"/>
                <c:pt idx="0">
                  <c:v>600424.59</c:v>
                </c:pt>
                <c:pt idx="1">
                  <c:v>196433.33</c:v>
                </c:pt>
                <c:pt idx="2">
                  <c:v>126808.33</c:v>
                </c:pt>
                <c:pt idx="3">
                  <c:v>100218.62</c:v>
                </c:pt>
                <c:pt idx="4">
                  <c:v>80300</c:v>
                </c:pt>
                <c:pt idx="5">
                  <c:v>72050.95</c:v>
                </c:pt>
                <c:pt idx="6">
                  <c:v>32605</c:v>
                </c:pt>
                <c:pt idx="7">
                  <c:v>30000</c:v>
                </c:pt>
                <c:pt idx="8">
                  <c:v>20000</c:v>
                </c:pt>
                <c:pt idx="9">
                  <c:v>18012.74</c:v>
                </c:pt>
                <c:pt idx="10">
                  <c:v>10455</c:v>
                </c:pt>
                <c:pt idx="11">
                  <c:v>1703.09</c:v>
                </c:pt>
                <c:pt idx="12">
                  <c:v>450</c:v>
                </c:pt>
                <c:pt idx="13">
                  <c:v>-2172.14</c:v>
                </c:pt>
              </c:numCache>
            </c:numRef>
          </c:val>
        </c:ser>
        <c:ser>
          <c:idx val="0"/>
          <c:order val="1"/>
          <c:tx>
            <c:strRef>
              <c:f>'[DAE Analysis.xlsx]Opex'!$I$22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'[DHL Analysis.xlsx]Opex'!$G$23:$G$36</c:f>
              <c:strCache>
                <c:ptCount val="14"/>
                <c:pt idx="0">
                  <c:v>STAFF SALARIES A/C</c:v>
                </c:pt>
                <c:pt idx="1">
                  <c:v>Hard Working/Performance</c:v>
                </c:pt>
                <c:pt idx="2">
                  <c:v>Casual Allowance ( Interns &amp; trainees)</c:v>
                </c:pt>
                <c:pt idx="3">
                  <c:v>Staff Fuel</c:v>
                </c:pt>
                <c:pt idx="4">
                  <c:v>Motor Vehicle allowances</c:v>
                </c:pt>
                <c:pt idx="5">
                  <c:v>EPF A/C - 12%</c:v>
                </c:pt>
                <c:pt idx="6">
                  <c:v>STAFF WELFARE</c:v>
                </c:pt>
                <c:pt idx="7">
                  <c:v>Accommodation Allowance</c:v>
                </c:pt>
                <c:pt idx="8">
                  <c:v>Bonus</c:v>
                </c:pt>
                <c:pt idx="9">
                  <c:v>ETF A/C - 3%</c:v>
                </c:pt>
                <c:pt idx="10">
                  <c:v>Meals and Allowance</c:v>
                </c:pt>
                <c:pt idx="11">
                  <c:v>TELEPHONE - STAFF</c:v>
                </c:pt>
                <c:pt idx="12">
                  <c:v>Staff Welfare</c:v>
                </c:pt>
                <c:pt idx="13">
                  <c:v>TELEPHONE INCENTIVE</c:v>
                </c:pt>
              </c:strCache>
            </c:strRef>
          </c:cat>
          <c:val>
            <c:numRef>
              <c:f>'[DHL Analysis.xlsx]Opex'!$I$23:$I$36</c:f>
              <c:numCache>
                <c:formatCode>_ * #,##0.00_ ;_ * \-#,##0.00_ ;_ * "-"??_ ;_ @_ </c:formatCode>
                <c:ptCount val="14"/>
                <c:pt idx="0">
                  <c:v>643435.01</c:v>
                </c:pt>
                <c:pt idx="1">
                  <c:v>317266.67</c:v>
                </c:pt>
                <c:pt idx="2">
                  <c:v>55875</c:v>
                </c:pt>
                <c:pt idx="3">
                  <c:v>16352.6</c:v>
                </c:pt>
                <c:pt idx="4">
                  <c:v>80000</c:v>
                </c:pt>
                <c:pt idx="5">
                  <c:v>77212.2</c:v>
                </c:pt>
                <c:pt idx="6">
                  <c:v>0</c:v>
                </c:pt>
                <c:pt idx="7">
                  <c:v>30000</c:v>
                </c:pt>
                <c:pt idx="8">
                  <c:v>0</c:v>
                </c:pt>
                <c:pt idx="9">
                  <c:v>19303.05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-4756.93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0.00282971758308828"/>
                <c:y val="0.118692253020611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43325436510693"/>
          <c:y val="0.025466047737502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6852678571429"/>
          <c:y val="0.0172296838963506"/>
          <c:w val="0.939787946428571"/>
          <c:h val="0.696404829738163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Analysis.xlsx]Opex'!$H$38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'[DHL Analysis.xlsx]Opex'!$G$39:$G$43</c:f>
              <c:strCache>
                <c:ptCount val="5"/>
                <c:pt idx="0" c:formatCode="_ * #,##0.00_ ;_ * \-#,##0.00_ ;_ * &quot;-&quot;??_ ;_ @_ ">
                  <c:v>ELECTRICITY</c:v>
                </c:pt>
                <c:pt idx="1" c:formatCode="_ * #,##0.00_ ;_ * \-#,##0.00_ ;_ * &quot;-&quot;??_ ;_ @_ ">
                  <c:v>Water Charges</c:v>
                </c:pt>
                <c:pt idx="2" c:formatCode="_ * #,##0.00_ ;_ * \-#,##0.00_ ;_ * &quot;-&quot;??_ ;_ @_ ">
                  <c:v>E-Mail and Wesite Maintainance Fee</c:v>
                </c:pt>
                <c:pt idx="3" c:formatCode="_ * #,##0.00_ ;_ * \-#,##0.00_ ;_ * &quot;-&quot;??_ ;_ @_ ">
                  <c:v>TELEPHONE</c:v>
                </c:pt>
                <c:pt idx="4" c:formatCode="_ * #,##0.00_ ;_ * \-#,##0.00_ ;_ * &quot;-&quot;??_ ;_ @_ ">
                  <c:v>Electricity Boralesgamuwa</c:v>
                </c:pt>
              </c:strCache>
            </c:strRef>
          </c:cat>
          <c:val>
            <c:numRef>
              <c:f>'[DHL Analysis.xlsx]Opex'!$H$39:$H$43</c:f>
              <c:numCache>
                <c:formatCode>_ * #,##0.00_ ;_ * \-#,##0.00_ ;_ * "-"??_ ;_ @_ </c:formatCode>
                <c:ptCount val="5"/>
                <c:pt idx="0">
                  <c:v>0</c:v>
                </c:pt>
                <c:pt idx="1">
                  <c:v>5000</c:v>
                </c:pt>
                <c:pt idx="2">
                  <c:v>8069.71</c:v>
                </c:pt>
                <c:pt idx="3">
                  <c:v>2293.56</c:v>
                </c:pt>
                <c:pt idx="4">
                  <c:v>13681.57</c:v>
                </c:pt>
              </c:numCache>
            </c:numRef>
          </c:val>
        </c:ser>
        <c:ser>
          <c:idx val="0"/>
          <c:order val="1"/>
          <c:tx>
            <c:strRef>
              <c:f>'[DAE Analysis.xlsx]Opex'!$I$38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'[DHL Analysis.xlsx]Opex'!$G$39:$G$43</c:f>
              <c:strCache>
                <c:ptCount val="5"/>
                <c:pt idx="0" c:formatCode="_ * #,##0.00_ ;_ * \-#,##0.00_ ;_ * &quot;-&quot;??_ ;_ @_ ">
                  <c:v>ELECTRICITY</c:v>
                </c:pt>
                <c:pt idx="1" c:formatCode="_ * #,##0.00_ ;_ * \-#,##0.00_ ;_ * &quot;-&quot;??_ ;_ @_ ">
                  <c:v>Water Charges</c:v>
                </c:pt>
                <c:pt idx="2" c:formatCode="_ * #,##0.00_ ;_ * \-#,##0.00_ ;_ * &quot;-&quot;??_ ;_ @_ ">
                  <c:v>E-Mail and Wesite Maintainance Fee</c:v>
                </c:pt>
                <c:pt idx="3" c:formatCode="_ * #,##0.00_ ;_ * \-#,##0.00_ ;_ * &quot;-&quot;??_ ;_ @_ ">
                  <c:v>TELEPHONE</c:v>
                </c:pt>
                <c:pt idx="4" c:formatCode="_ * #,##0.00_ ;_ * \-#,##0.00_ ;_ * &quot;-&quot;??_ ;_ @_ ">
                  <c:v>Electricity Boralesgamuwa</c:v>
                </c:pt>
              </c:strCache>
            </c:strRef>
          </c:cat>
          <c:val>
            <c:numRef>
              <c:f>'[DHL Analysis.xlsx]Opex'!$I$39:$I$43</c:f>
              <c:numCache>
                <c:formatCode>_ * #,##0.00_ ;_ * \-#,##0.00_ ;_ * "-"??_ ;_ @_ </c:formatCode>
                <c:ptCount val="5"/>
                <c:pt idx="0">
                  <c:v>67860</c:v>
                </c:pt>
                <c:pt idx="1">
                  <c:v>7925.8</c:v>
                </c:pt>
                <c:pt idx="2">
                  <c:v>7771.61</c:v>
                </c:pt>
                <c:pt idx="3">
                  <c:v>2087.16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03875844322933"/>
          <c:y val="0.058159722222222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 sz="1200" b="1">
          <a:solidFill>
            <a:schemeClr val="tx1"/>
          </a:solidFill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3251574781203"/>
          <c:y val="0.0491618537822228"/>
          <c:w val="0.928167679357824"/>
          <c:h val="0.600957881391745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Analysis.xlsx]Opex'!$H$46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'[DAE Analysis.xlsx]Opex'!$G$47:$G$51</c:f>
              <c:strCache>
                <c:ptCount val="5"/>
                <c:pt idx="0">
                  <c:v>Rent Expenses</c:v>
                </c:pt>
                <c:pt idx="1">
                  <c:v>MEDICAL INSURANCE</c:v>
                </c:pt>
                <c:pt idx="2">
                  <c:v>Insurance</c:v>
                </c:pt>
                <c:pt idx="3">
                  <c:v>INSUARANCE ON MOTOR VEHICLE A/C</c:v>
                </c:pt>
                <c:pt idx="4">
                  <c:v>INSUARANCE - GOODS IN TRANSIT A/C</c:v>
                </c:pt>
              </c:strCache>
            </c:strRef>
          </c:cat>
          <c:val>
            <c:numRef>
              <c:f>'[DAE Analysis.xlsx]Opex'!$H$47:$H$51</c:f>
              <c:numCache>
                <c:formatCode>_ * #,##0.00_ ;_ * \-#,##0.00_ ;_ * "-"??_ ;_ @_ </c:formatCode>
                <c:ptCount val="5"/>
                <c:pt idx="0">
                  <c:v>355000</c:v>
                </c:pt>
                <c:pt idx="1">
                  <c:v>1165.6</c:v>
                </c:pt>
                <c:pt idx="2">
                  <c:v>0</c:v>
                </c:pt>
                <c:pt idx="3">
                  <c:v>10080</c:v>
                </c:pt>
                <c:pt idx="4">
                  <c:v>0</c:v>
                </c:pt>
              </c:numCache>
            </c:numRef>
          </c:val>
        </c:ser>
        <c:ser>
          <c:idx val="0"/>
          <c:order val="1"/>
          <c:tx>
            <c:strRef>
              <c:f>'[DAE Analysis.xlsx]Opex'!$I$46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'[DAE Analysis.xlsx]Opex'!$G$47:$G$51</c:f>
              <c:strCache>
                <c:ptCount val="5"/>
                <c:pt idx="0">
                  <c:v>Rent Expenses</c:v>
                </c:pt>
                <c:pt idx="1">
                  <c:v>MEDICAL INSURANCE</c:v>
                </c:pt>
                <c:pt idx="2">
                  <c:v>Insurance</c:v>
                </c:pt>
                <c:pt idx="3">
                  <c:v>INSUARANCE ON MOTOR VEHICLE A/C</c:v>
                </c:pt>
                <c:pt idx="4">
                  <c:v>INSUARANCE - GOODS IN TRANSIT A/C</c:v>
                </c:pt>
              </c:strCache>
            </c:strRef>
          </c:cat>
          <c:val>
            <c:numRef>
              <c:f>'[DAE Analysis.xlsx]Opex'!$I$47:$I$51</c:f>
              <c:numCache>
                <c:formatCode>_ * #,##0.00_ ;_ * \-#,##0.00_ ;_ * "-"??_ ;_ @_ </c:formatCode>
                <c:ptCount val="5"/>
                <c:pt idx="0">
                  <c:v>385000</c:v>
                </c:pt>
                <c:pt idx="1">
                  <c:v>39783.12</c:v>
                </c:pt>
                <c:pt idx="2">
                  <c:v>11369.61</c:v>
                </c:pt>
                <c:pt idx="3">
                  <c:v>7461.08</c:v>
                </c:pt>
                <c:pt idx="4">
                  <c:v>3982.59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10899647210496"/>
          <c:y val="0.027545982658724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07162687395891"/>
          <c:y val="0.0525072197427146"/>
          <c:w val="0.90929483620211"/>
          <c:h val="0.771252297190864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'[DAE Analysis.xlsx]Opex'!$H$55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'[DAE Analysis.xlsx]Opex'!$G$56:$G$57</c:f>
              <c:strCache>
                <c:ptCount val="2"/>
                <c:pt idx="0">
                  <c:v>Social Media Marketing &amp; Designing Expenses</c:v>
                </c:pt>
                <c:pt idx="1">
                  <c:v>SALES PROMOTION A/C</c:v>
                </c:pt>
              </c:strCache>
            </c:strRef>
          </c:cat>
          <c:val>
            <c:numRef>
              <c:f>'[DAE Analysis.xlsx]Opex'!$H$56:$H$57</c:f>
              <c:numCache>
                <c:formatCode>General</c:formatCode>
                <c:ptCount val="2"/>
                <c:pt idx="0">
                  <c:v>35258.07</c:v>
                </c:pt>
                <c:pt idx="1">
                  <c:v>30377.43</c:v>
                </c:pt>
              </c:numCache>
            </c:numRef>
          </c:val>
        </c:ser>
        <c:ser>
          <c:idx val="0"/>
          <c:order val="1"/>
          <c:tx>
            <c:strRef>
              <c:f>'[DAE Analysis.xlsx]Opex'!$I$55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'[DAE Analysis.xlsx]Opex'!$G$56:$G$57</c:f>
              <c:strCache>
                <c:ptCount val="2"/>
                <c:pt idx="0">
                  <c:v>Social Media Marketing &amp; Designing Expenses</c:v>
                </c:pt>
                <c:pt idx="1">
                  <c:v>SALES PROMOTION A/C</c:v>
                </c:pt>
              </c:strCache>
            </c:strRef>
          </c:cat>
          <c:val>
            <c:numRef>
              <c:f>'[DAE Analysis.xlsx]Opex'!$I$56:$I$57</c:f>
              <c:numCache>
                <c:formatCode>General</c:formatCode>
                <c:ptCount val="2"/>
                <c:pt idx="0">
                  <c:v>70210.75</c:v>
                </c:pt>
                <c:pt idx="1">
                  <c:v>8000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10899647210496"/>
          <c:y val="0.027545982658724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</a:t>
            </a:r>
            <a:r>
              <a:rPr lang="en-US" sz="5400">
                <a:solidFill>
                  <a:schemeClr val="bg1"/>
                </a:solidFill>
                <a:sym typeface="+mn-ea"/>
              </a:rPr>
              <a:t>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lum bright="-48000"/>
          </a:blip>
          <a:stretch>
            <a:fillRect/>
          </a:stretch>
        </p:blipFill>
        <p:spPr>
          <a:xfrm>
            <a:off x="-5715" y="-31750"/>
            <a:ext cx="12200890" cy="4701540"/>
          </a:xfrm>
          <a:prstGeom prst="rect">
            <a:avLst/>
          </a:prstGeom>
        </p:spPr>
      </p:pic>
      <p:pic>
        <p:nvPicPr>
          <p:cNvPr id="6" name="Picture 5" descr="download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430" y="71120"/>
            <a:ext cx="2275205" cy="1372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Overall 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1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7" name="Chart 6"/>
          <p:cNvGraphicFramePr/>
          <p:nvPr/>
        </p:nvGraphicFramePr>
        <p:xfrm>
          <a:off x="366395" y="1188085"/>
          <a:ext cx="11457940" cy="5187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Rectangle 2"/>
          <p:cNvSpPr/>
          <p:nvPr/>
        </p:nvSpPr>
        <p:spPr>
          <a:xfrm>
            <a:off x="4138930" y="4372610"/>
            <a:ext cx="6527165" cy="468630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Revenue and Profit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1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4" name="Chart 3"/>
          <p:cNvGraphicFramePr/>
          <p:nvPr/>
        </p:nvGraphicFramePr>
        <p:xfrm>
          <a:off x="419735" y="1122045"/>
          <a:ext cx="11351260" cy="514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Revenue Performance</a:t>
            </a:r>
            <a:endParaRPr lang="en-US" b="1">
              <a:solidFill>
                <a:schemeClr val="accent2"/>
              </a:solidFill>
              <a:sym typeface="+mn-ea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4" name="Chart 3"/>
          <p:cNvGraphicFramePr/>
          <p:nvPr/>
        </p:nvGraphicFramePr>
        <p:xfrm>
          <a:off x="391795" y="3036570"/>
          <a:ext cx="11408410" cy="3566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286385" y="1078865"/>
          <a:ext cx="1153287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5"/>
                <a:gridCol w="2967355"/>
                <a:gridCol w="2248535"/>
                <a:gridCol w="2726055"/>
              </a:tblGrid>
              <a:tr h="25908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Sep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63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% of 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Growth%(Sep-Oct)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% of 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183.1%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Sales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99.60%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99.80%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SERVICE INCOME A/C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0.40%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0.20%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COGS </a:t>
            </a:r>
            <a:r>
              <a:rPr lang="en-US" b="1">
                <a:solidFill>
                  <a:schemeClr val="accent2"/>
                </a:solidFill>
                <a:sym typeface="+mn-ea"/>
              </a:rPr>
              <a:t>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1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3" name="Table 2"/>
          <p:cNvGraphicFramePr/>
          <p:nvPr/>
        </p:nvGraphicFramePr>
        <p:xfrm>
          <a:off x="255270" y="1066165"/>
          <a:ext cx="1171638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4575"/>
                <a:gridCol w="1331595"/>
                <a:gridCol w="1597660"/>
                <a:gridCol w="1330960"/>
                <a:gridCol w="1331595"/>
              </a:tblGrid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% of Revenue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Sales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17,061,127.66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68.86%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49,961,836.14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71.23%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Sales - General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16,853,963.49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68.02%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49,940,336.14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71.20%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Event Expenses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21,500.00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0.03%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Service Income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106,884.17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0.43%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Service - Specific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100,280.00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0.40%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374015" y="3108325"/>
          <a:ext cx="11597640" cy="3405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KPIs (OPEX)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/>
          <p:nvPr/>
        </p:nvGraphicFramePr>
        <p:xfrm>
          <a:off x="610870" y="1250950"/>
          <a:ext cx="10468610" cy="4755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110"/>
                <a:gridCol w="1569720"/>
                <a:gridCol w="1697355"/>
                <a:gridCol w="1541780"/>
                <a:gridCol w="1604645"/>
              </a:tblGrid>
              <a:tr h="525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Administrative Expenses (% of Revenue)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3,914,920.90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15.801%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3,877,645.22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5.529%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678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1.Other Administrative Expenses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2,232,340.95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9.010%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2,109,716.65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3.008%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2.Staff Salary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1,287,289.51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5.195%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1,234,687.60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1.760%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3.Utility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29,044.84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0.117%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85,644.57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0.122%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4.Rent Expenses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355,000.00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1.433%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385,000.00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0.549%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5.Insurance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11,245.60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0.045%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62,596.40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0.089%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26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Selling &amp; Distribution Cost (% of Revenue)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65,635.50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0.265%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78,210.75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0.112%</a:t>
                      </a:r>
                      <a:endParaRPr lang="en-US" sz="18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1949450" y="1170305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Other Administrative Exp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9.010%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3.008%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8" name="Chart 7"/>
          <p:cNvGraphicFramePr/>
          <p:nvPr/>
        </p:nvGraphicFramePr>
        <p:xfrm>
          <a:off x="525145" y="1793240"/>
          <a:ext cx="11113135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1949450" y="1170305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Staff Salary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5.195%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1.760%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8" name="Chart 7"/>
          <p:cNvGraphicFramePr/>
          <p:nvPr/>
        </p:nvGraphicFramePr>
        <p:xfrm>
          <a:off x="374015" y="1727200"/>
          <a:ext cx="11444605" cy="4773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1949450" y="1170305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Utility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0.117%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0.122%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8" name="Chart 7"/>
          <p:cNvGraphicFramePr/>
          <p:nvPr/>
        </p:nvGraphicFramePr>
        <p:xfrm>
          <a:off x="420370" y="1766570"/>
          <a:ext cx="11379200" cy="4680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1949450" y="1170305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Rent &amp; Insurance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1.48%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0.64%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10" name="Chart 9"/>
          <p:cNvGraphicFramePr/>
          <p:nvPr/>
        </p:nvGraphicFramePr>
        <p:xfrm>
          <a:off x="539750" y="1718310"/>
          <a:ext cx="11391265" cy="4507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(Selling and Distributions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694690" y="1170305"/>
          <a:ext cx="107569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210"/>
                <a:gridCol w="1953260"/>
                <a:gridCol w="1179830"/>
                <a:gridCol w="1534795"/>
                <a:gridCol w="174180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Selling and Distributions Expenses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9.010%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3.008%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 descr="download-removebg-preview"/>
          <p:cNvPicPr>
            <a:picLocks noChangeAspect="1"/>
          </p:cNvPicPr>
          <p:nvPr/>
        </p:nvPicPr>
        <p:blipFill>
          <a:blip r:embed="rId2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graphicFrame>
        <p:nvGraphicFramePr>
          <p:cNvPr id="7" name="Chart 6"/>
          <p:cNvGraphicFramePr/>
          <p:nvPr/>
        </p:nvGraphicFramePr>
        <p:xfrm>
          <a:off x="377825" y="1566545"/>
          <a:ext cx="11436350" cy="4837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5651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8575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Overall Variation (Sep-Oct)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3238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 descr="download-removebg-preview"/>
          <p:cNvPicPr>
            <a:picLocks noChangeAspect="1"/>
          </p:cNvPicPr>
          <p:nvPr/>
        </p:nvPicPr>
        <p:blipFill>
          <a:blip r:embed="rId1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5" y="1133475"/>
            <a:ext cx="11551285" cy="4330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Summary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/>
          <p:nvPr/>
        </p:nvGraphicFramePr>
        <p:xfrm>
          <a:off x="535305" y="1176020"/>
          <a:ext cx="10940415" cy="549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290"/>
                <a:gridCol w="2068830"/>
                <a:gridCol w="1717675"/>
                <a:gridCol w="1927860"/>
                <a:gridCol w="1508760"/>
              </a:tblGrid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152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24,777,094.82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 Growth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183.08%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70,139,070.55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4191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Cost of Sale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17,061,127.66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68.858%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49,961,836.14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  <a:sym typeface="+mn-ea"/>
                        </a:rPr>
                        <a:t>71.233%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Gross Profit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7,715,967.16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31.142%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20,177,234.40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28.767%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Administrative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3,914,920.90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15.801%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3,877,645.22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5.529%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1.Other Administrative Exp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2,232,340.95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9.010%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2,109,716.65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3.008%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 Staff Salary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1,287,289.51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5.195%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1,234,687.60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1.760%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3.Utility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29,044.84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0.117%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85,644.57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0.122%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4.Rent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355,000.00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1.433%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385,000.00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0.549%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5.Insurance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11,245.60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0.045%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62,596.40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0.089%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Selling and Distributions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65,635.50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0.265%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78,210.75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0.112%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Profit Before Tax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3,735,410.76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15.076%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16,221,378.43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23.127%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 descr="download-removebg-preview"/>
          <p:cNvPicPr>
            <a:picLocks noChangeAspect="1"/>
          </p:cNvPicPr>
          <p:nvPr/>
        </p:nvPicPr>
        <p:blipFill>
          <a:blip r:embed="rId1"/>
          <a:srcRect t="31615" b="32859"/>
          <a:stretch>
            <a:fillRect/>
          </a:stretch>
        </p:blipFill>
        <p:spPr>
          <a:xfrm>
            <a:off x="10337800" y="116205"/>
            <a:ext cx="1758315" cy="624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Content Placeholder 2"/>
          <p:cNvSpPr>
            <a:spLocks noGrp="1"/>
          </p:cNvSpPr>
          <p:nvPr/>
        </p:nvSpPr>
        <p:spPr>
          <a:xfrm>
            <a:off x="2400300" y="3407410"/>
            <a:ext cx="7383145" cy="83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50000"/>
                  </a:schemeClr>
                </a:solidFill>
              </a14:hiddenFill>
            </a:ext>
          </a:extLst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>
                <a:solidFill>
                  <a:schemeClr val="accent1">
                    <a:lumMod val="50000"/>
                  </a:schemeClr>
                </a:solidFill>
              </a:rPr>
              <a:t>THANK YOU!</a:t>
            </a:r>
            <a:endParaRPr lang="en-US" sz="54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 descr="debug30461-removebg-preview"/>
          <p:cNvPicPr>
            <a:picLocks noChangeAspect="1"/>
          </p:cNvPicPr>
          <p:nvPr/>
        </p:nvPicPr>
        <p:blipFill>
          <a:blip r:embed="rId1"/>
          <a:srcRect l="-2334" t="35341" r="2334" b="30251"/>
          <a:stretch>
            <a:fillRect/>
          </a:stretch>
        </p:blipFill>
        <p:spPr>
          <a:xfrm>
            <a:off x="2622550" y="1171575"/>
            <a:ext cx="6497955" cy="2235835"/>
          </a:xfrm>
          <a:prstGeom prst="round1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2174</Words>
  <Application>WPS Presentation</Application>
  <PresentationFormat>Widescreen</PresentationFormat>
  <Paragraphs>370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Office Theme</vt:lpstr>
      <vt:lpstr>PowerPoint 演示文稿</vt:lpstr>
      <vt:lpstr>P&amp;L - Overall Performance</vt:lpstr>
      <vt:lpstr>P&amp;L - Revenue and Profit</vt:lpstr>
      <vt:lpstr>P&amp;L - Revenue Performance</vt:lpstr>
      <vt:lpstr>P&amp;L - COGS Performance</vt:lpstr>
      <vt:lpstr>P&amp;L - KPIs (OPEX)</vt:lpstr>
      <vt:lpstr>P&amp;L - OPEX (Administration Expenses)</vt:lpstr>
      <vt:lpstr>P&amp;L - OPEX (Administration Expenses)</vt:lpstr>
      <vt:lpstr>P&amp;L - OPEX (Administration Expenses)</vt:lpstr>
      <vt:lpstr>P&amp;L - OPEX (Administration Expenses)</vt:lpstr>
      <vt:lpstr>P&amp;L - OPEX (Selling and Distributions Expenses)</vt:lpstr>
      <vt:lpstr>P&amp;L - Overall Variation (Sep-Oct)</vt:lpstr>
      <vt:lpstr>P&amp;L - 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User</dc:creator>
  <cp:lastModifiedBy>User</cp:lastModifiedBy>
  <cp:revision>25</cp:revision>
  <dcterms:created xsi:type="dcterms:W3CDTF">2024-12-09T04:57:00Z</dcterms:created>
  <dcterms:modified xsi:type="dcterms:W3CDTF">2024-12-16T03:24:13Z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1033-10.2.0.7480</vt:lpwstr>
  </property>
</Properties>
</file>