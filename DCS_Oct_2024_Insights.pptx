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3"/>
    <p:sldId id="256" r:id="rId4"/>
    <p:sldId id="268" r:id="rId5"/>
    <p:sldId id="264" r:id="rId6"/>
    <p:sldId id="278" r:id="rId8"/>
    <p:sldId id="299" r:id="rId9"/>
    <p:sldId id="300" r:id="rId10"/>
    <p:sldId id="283" r:id="rId11"/>
    <p:sldId id="265" r:id="rId12"/>
    <p:sldId id="266" r:id="rId13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\Desktop\Debug\Analysis\DCS\DCS%20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ser\Desktop\Debug\Analysis\DCS\DCS%20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User\Desktop\Debug\Analysis\DCS\DCS%20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User\Desktop\Debug\Analysis\DCS\DCS%20Analysi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User\Desktop\Debug\Analysis\DCS\DCS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40744845932166"/>
          <c:y val="0.0565552699228792"/>
          <c:w val="0.906251385502106"/>
          <c:h val="0.75145944696073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'[DCS Analysis.xlsx]P&amp;L Overall Performance'!$B$6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'[DCS Analysis.xlsx]P&amp;L Overall Performance'!$A$7:$A$14</c:f>
              <c:strCache>
                <c:ptCount val="8"/>
                <c:pt idx="0" c:formatCode="###,##0.00;\(###,##0.00\)">
                  <c:v>REVENUE</c:v>
                </c:pt>
                <c:pt idx="1" c:formatCode="###,##0.00;\(###,##0.00\)">
                  <c:v>DIRECT EXPENSES</c:v>
                </c:pt>
                <c:pt idx="2" c:formatCode="###,##0.00;\(###,##0.00\)">
                  <c:v>Employee Cost</c:v>
                </c:pt>
                <c:pt idx="3" c:formatCode="###,##0.00;\(###,##0.00\)">
                  <c:v>Direct Service Expenses</c:v>
                </c:pt>
                <c:pt idx="4" c:formatCode="###,##0.00;\(###,##0.00\)">
                  <c:v>Other Direct Expenses</c:v>
                </c:pt>
                <c:pt idx="5" c:formatCode="###,##0.00;\(###,##0.00\)">
                  <c:v>GROSS PROFIT</c:v>
                </c:pt>
                <c:pt idx="6" c:formatCode="###,##0.00;\(###,##0.00\)">
                  <c:v>ADMINISTRATIVE EXPENSES</c:v>
                </c:pt>
                <c:pt idx="7" c:formatCode="###,##0.00;\(###,##0.00\)">
                  <c:v>PROFIT BEFORE TAX</c:v>
                </c:pt>
              </c:strCache>
            </c:strRef>
          </c:cat>
          <c:val>
            <c:numRef>
              <c:f>'[DCS Analysis.xlsx]P&amp;L Overall Performance'!$B$7:$B$14</c:f>
              <c:numCache>
                <c:formatCode>_ * #,##0.00_ ;_ * \-#,##0.00_ ;_ * "-"??_ ;_ @_ </c:formatCode>
                <c:ptCount val="8"/>
                <c:pt idx="0">
                  <c:v>9110676</c:v>
                </c:pt>
                <c:pt idx="1">
                  <c:v>7774096.82</c:v>
                </c:pt>
                <c:pt idx="2">
                  <c:v>4483602.66</c:v>
                </c:pt>
                <c:pt idx="3">
                  <c:v>45905.16</c:v>
                </c:pt>
                <c:pt idx="4">
                  <c:v>3244589</c:v>
                </c:pt>
                <c:pt idx="5">
                  <c:v>1336579.18</c:v>
                </c:pt>
                <c:pt idx="6">
                  <c:v>1055845.8125</c:v>
                </c:pt>
                <c:pt idx="7">
                  <c:v>280733.3675</c:v>
                </c:pt>
              </c:numCache>
            </c:numRef>
          </c:val>
        </c:ser>
        <c:ser>
          <c:idx val="0"/>
          <c:order val="1"/>
          <c:tx>
            <c:strRef>
              <c:f>'[DCS Analysis.xlsx]P&amp;L Overall Performance'!$C$6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'[DCS Analysis.xlsx]P&amp;L Overall Performance'!$A$7:$A$14</c:f>
              <c:strCache>
                <c:ptCount val="8"/>
                <c:pt idx="0" c:formatCode="###,##0.00;\(###,##0.00\)">
                  <c:v>REVENUE</c:v>
                </c:pt>
                <c:pt idx="1" c:formatCode="###,##0.00;\(###,##0.00\)">
                  <c:v>DIRECT EXPENSES</c:v>
                </c:pt>
                <c:pt idx="2" c:formatCode="###,##0.00;\(###,##0.00\)">
                  <c:v>Employee Cost</c:v>
                </c:pt>
                <c:pt idx="3" c:formatCode="###,##0.00;\(###,##0.00\)">
                  <c:v>Direct Service Expenses</c:v>
                </c:pt>
                <c:pt idx="4" c:formatCode="###,##0.00;\(###,##0.00\)">
                  <c:v>Other Direct Expenses</c:v>
                </c:pt>
                <c:pt idx="5" c:formatCode="###,##0.00;\(###,##0.00\)">
                  <c:v>GROSS PROFIT</c:v>
                </c:pt>
                <c:pt idx="6" c:formatCode="###,##0.00;\(###,##0.00\)">
                  <c:v>ADMINISTRATIVE EXPENSES</c:v>
                </c:pt>
                <c:pt idx="7" c:formatCode="###,##0.00;\(###,##0.00\)">
                  <c:v>PROFIT BEFORE TAX</c:v>
                </c:pt>
              </c:strCache>
            </c:strRef>
          </c:cat>
          <c:val>
            <c:numRef>
              <c:f>'[DCS Analysis.xlsx]P&amp;L Overall Performance'!$C$7:$C$14</c:f>
              <c:numCache>
                <c:formatCode>_ * #,##0.00_ ;_ * \-#,##0.00_ ;_ * "-"??_ ;_ @_ </c:formatCode>
                <c:ptCount val="8"/>
                <c:pt idx="0">
                  <c:v>9110676</c:v>
                </c:pt>
                <c:pt idx="1">
                  <c:v>8178971.21</c:v>
                </c:pt>
                <c:pt idx="2">
                  <c:v>4747613.03</c:v>
                </c:pt>
                <c:pt idx="3">
                  <c:v>32403.28</c:v>
                </c:pt>
                <c:pt idx="4">
                  <c:v>3398954.9</c:v>
                </c:pt>
                <c:pt idx="5">
                  <c:v>931704.79</c:v>
                </c:pt>
                <c:pt idx="6">
                  <c:v>1719345.71</c:v>
                </c:pt>
                <c:pt idx="7">
                  <c:v>-787640.92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Rs.-849]#,##0.00_);[Red]\([$Rs.-849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86111726889825"/>
          <c:y val="0.043089729465050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27443319718226"/>
          <c:y val="0.115518527729421"/>
          <c:w val="0.898727283490203"/>
          <c:h val="0.731832877393683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'[DCS Analysis.xlsx]Revenue &amp; Profit'!$D$4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'[DCS Analysis.xlsx]Revenue &amp; Profit'!$C$5:$C$7</c:f>
              <c:strCache>
                <c:ptCount val="3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</c:strCache>
            </c:strRef>
          </c:cat>
          <c:val>
            <c:numRef>
              <c:f>'[DCS Analysis.xlsx]Revenue &amp; Profit'!$D$5:$D$7</c:f>
              <c:numCache>
                <c:formatCode>_ * #,##0.00_ ;_ * \-#,##0.00_ ;_ * "-"??_ ;_ @_ </c:formatCode>
                <c:ptCount val="3"/>
                <c:pt idx="0">
                  <c:v>9110676</c:v>
                </c:pt>
                <c:pt idx="1">
                  <c:v>1336579.18</c:v>
                </c:pt>
                <c:pt idx="2">
                  <c:v>280733.3675</c:v>
                </c:pt>
              </c:numCache>
            </c:numRef>
          </c:val>
        </c:ser>
        <c:ser>
          <c:idx val="0"/>
          <c:order val="1"/>
          <c:tx>
            <c:strRef>
              <c:f>'[DCS Analysis.xlsx]Revenue &amp; Profit'!$E$4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'[DCS Analysis.xlsx]Revenue &amp; Profit'!$C$5:$C$7</c:f>
              <c:strCache>
                <c:ptCount val="3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</c:strCache>
            </c:strRef>
          </c:cat>
          <c:val>
            <c:numRef>
              <c:f>'[DCS Analysis.xlsx]Revenue &amp; Profit'!$E$5:$E$7</c:f>
              <c:numCache>
                <c:formatCode>_ * #,##0.00_ ;_ * \-#,##0.00_ ;_ * "-"??_ ;_ @_ </c:formatCode>
                <c:ptCount val="3"/>
                <c:pt idx="0">
                  <c:v>9110676</c:v>
                </c:pt>
                <c:pt idx="1">
                  <c:v>931704.79</c:v>
                </c:pt>
                <c:pt idx="2">
                  <c:v>-787640.92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$-45C]#,##0.00_);[Red]\([$$-45C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50441011069674"/>
          <c:y val="0.027356379010196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71587541240284"/>
          <c:y val="0.0201360181357514"/>
          <c:w val="0.917743107979645"/>
          <c:h val="0.612081610881451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'[DCS Analysis.xlsx]Direct Expenses Performance'!$G$4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'[DCS Analysis.xlsx]Direct Expenses Performance'!$F$5:$F$19</c:f>
              <c:strCache>
                <c:ptCount val="15"/>
                <c:pt idx="0">
                  <c:v>Staff Salaries (Basic)</c:v>
                </c:pt>
                <c:pt idx="1">
                  <c:v>Hard Working/Performance Incentive</c:v>
                </c:pt>
                <c:pt idx="2">
                  <c:v>Employee Provident Fund-12%</c:v>
                </c:pt>
                <c:pt idx="3">
                  <c:v>Director Remuneration</c:v>
                </c:pt>
                <c:pt idx="4">
                  <c:v>Staff Welfare</c:v>
                </c:pt>
                <c:pt idx="5">
                  <c:v>Casual Wages</c:v>
                </c:pt>
                <c:pt idx="6">
                  <c:v>Transport Allowance</c:v>
                </c:pt>
                <c:pt idx="7">
                  <c:v>Employee Trust Fund-3%</c:v>
                </c:pt>
                <c:pt idx="8">
                  <c:v>Motor Vehicle Allowance</c:v>
                </c:pt>
                <c:pt idx="9">
                  <c:v>Meals Allowance</c:v>
                </c:pt>
                <c:pt idx="10">
                  <c:v>Casual Allowance ( Interns &amp; Trainee)</c:v>
                </c:pt>
                <c:pt idx="11">
                  <c:v>Care Taker Allowance</c:v>
                </c:pt>
                <c:pt idx="12">
                  <c:v>OT Meal Allowance</c:v>
                </c:pt>
                <c:pt idx="13">
                  <c:v>Telephone Allowance</c:v>
                </c:pt>
                <c:pt idx="14">
                  <c:v>Overtime 1.5</c:v>
                </c:pt>
              </c:strCache>
            </c:strRef>
          </c:cat>
          <c:val>
            <c:numRef>
              <c:f>'[DCS Analysis.xlsx]Direct Expenses Performance'!$G$5:$G$19</c:f>
              <c:numCache>
                <c:formatCode>_ * #,##0.00_ ;_ * \-#,##0.00_ ;_ * "-"??_ ;_ @_ </c:formatCode>
                <c:ptCount val="15"/>
                <c:pt idx="0">
                  <c:v>2677967.62</c:v>
                </c:pt>
                <c:pt idx="1">
                  <c:v>748540</c:v>
                </c:pt>
                <c:pt idx="2">
                  <c:v>321356.11</c:v>
                </c:pt>
                <c:pt idx="3">
                  <c:v>200000</c:v>
                </c:pt>
                <c:pt idx="4">
                  <c:v>58114</c:v>
                </c:pt>
                <c:pt idx="5">
                  <c:v>91675</c:v>
                </c:pt>
                <c:pt idx="6">
                  <c:v>104000</c:v>
                </c:pt>
                <c:pt idx="7">
                  <c:v>80339.03</c:v>
                </c:pt>
                <c:pt idx="8">
                  <c:v>65000</c:v>
                </c:pt>
                <c:pt idx="9">
                  <c:v>19600</c:v>
                </c:pt>
                <c:pt idx="10">
                  <c:v>48666.66</c:v>
                </c:pt>
                <c:pt idx="11">
                  <c:v>24500</c:v>
                </c:pt>
                <c:pt idx="12">
                  <c:v>13120.8</c:v>
                </c:pt>
                <c:pt idx="13">
                  <c:v>23300</c:v>
                </c:pt>
                <c:pt idx="14">
                  <c:v>7423.44</c:v>
                </c:pt>
              </c:numCache>
            </c:numRef>
          </c:val>
        </c:ser>
        <c:ser>
          <c:idx val="0"/>
          <c:order val="1"/>
          <c:tx>
            <c:strRef>
              <c:f>'[DCS Analysis.xlsx]Direct Expenses Performance'!$H$4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'[DCS Analysis.xlsx]Direct Expenses Performance'!$F$5:$F$19</c:f>
              <c:strCache>
                <c:ptCount val="15"/>
                <c:pt idx="0">
                  <c:v>Staff Salaries (Basic)</c:v>
                </c:pt>
                <c:pt idx="1">
                  <c:v>Hard Working/Performance Incentive</c:v>
                </c:pt>
                <c:pt idx="2">
                  <c:v>Employee Provident Fund-12%</c:v>
                </c:pt>
                <c:pt idx="3">
                  <c:v>Director Remuneration</c:v>
                </c:pt>
                <c:pt idx="4">
                  <c:v>Staff Welfare</c:v>
                </c:pt>
                <c:pt idx="5">
                  <c:v>Casual Wages</c:v>
                </c:pt>
                <c:pt idx="6">
                  <c:v>Transport Allowance</c:v>
                </c:pt>
                <c:pt idx="7">
                  <c:v>Employee Trust Fund-3%</c:v>
                </c:pt>
                <c:pt idx="8">
                  <c:v>Motor Vehicle Allowance</c:v>
                </c:pt>
                <c:pt idx="9">
                  <c:v>Meals Allowance</c:v>
                </c:pt>
                <c:pt idx="10">
                  <c:v>Casual Allowance ( Interns &amp; Trainee)</c:v>
                </c:pt>
                <c:pt idx="11">
                  <c:v>Care Taker Allowance</c:v>
                </c:pt>
                <c:pt idx="12">
                  <c:v>OT Meal Allowance</c:v>
                </c:pt>
                <c:pt idx="13">
                  <c:v>Telephone Allowance</c:v>
                </c:pt>
                <c:pt idx="14">
                  <c:v>Overtime 1.5</c:v>
                </c:pt>
              </c:strCache>
            </c:strRef>
          </c:cat>
          <c:val>
            <c:numRef>
              <c:f>'[DCS Analysis.xlsx]Direct Expenses Performance'!$H$5:$H$19</c:f>
              <c:numCache>
                <c:formatCode>_ * #,##0.00_ ;_ * \-#,##0.00_ ;_ * "-"??_ ;_ @_ </c:formatCode>
                <c:ptCount val="15"/>
                <c:pt idx="0">
                  <c:v>2708027.18</c:v>
                </c:pt>
                <c:pt idx="1">
                  <c:v>743366.67</c:v>
                </c:pt>
                <c:pt idx="2">
                  <c:v>324963.26</c:v>
                </c:pt>
                <c:pt idx="3">
                  <c:v>200000</c:v>
                </c:pt>
                <c:pt idx="4">
                  <c:v>164332.25</c:v>
                </c:pt>
                <c:pt idx="5">
                  <c:v>148692.2</c:v>
                </c:pt>
                <c:pt idx="6">
                  <c:v>109000</c:v>
                </c:pt>
                <c:pt idx="7">
                  <c:v>81240.82</c:v>
                </c:pt>
                <c:pt idx="8">
                  <c:v>65000</c:v>
                </c:pt>
                <c:pt idx="9">
                  <c:v>57050</c:v>
                </c:pt>
                <c:pt idx="10">
                  <c:v>56666.67</c:v>
                </c:pt>
                <c:pt idx="11">
                  <c:v>29500</c:v>
                </c:pt>
                <c:pt idx="12">
                  <c:v>22727.1</c:v>
                </c:pt>
                <c:pt idx="13">
                  <c:v>21800</c:v>
                </c:pt>
                <c:pt idx="14">
                  <c:v>15246.88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353532532812"/>
          <c:y val="0.0906876015159718"/>
          <c:w val="0.935995531974309"/>
          <c:h val="0.530048727666486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'[DCS Analysis.xlsx]Direct Expenses Performance'!$G$24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'[DCS Analysis.xlsx]Direct Expenses Performance'!$F$25:$F$30</c:f>
              <c:strCache>
                <c:ptCount val="6"/>
                <c:pt idx="0" c:formatCode="_ * #,##0.00_ ;_ * \-#,##0.00_ ;_ * &quot;-&quot;??_ ;_ @_ ">
                  <c:v>RENT - 56 42ND LANE A/C</c:v>
                </c:pt>
                <c:pt idx="1" c:formatCode="_ * #,##0.00_ ;_ * \-#,##0.00_ ;_ * &quot;-&quot;??_ ;_ @_ ">
                  <c:v>Electricity A/C</c:v>
                </c:pt>
                <c:pt idx="2" c:formatCode="_ * #,##0.00_ ;_ * \-#,##0.00_ ;_ * &quot;-&quot;??_ ;_ @_ ">
                  <c:v>COURIER CHARGES</c:v>
                </c:pt>
                <c:pt idx="3" c:formatCode="_ * #,##0.00_ ;_ * \-#,##0.00_ ;_ * &quot;-&quot;??_ ;_ @_ ">
                  <c:v>Direct Service Expenses</c:v>
                </c:pt>
                <c:pt idx="4" c:formatCode="_ * #,##0.00_ ;_ * \-#,##0.00_ ;_ * &quot;-&quot;??_ ;_ @_ ">
                  <c:v>Water Charges</c:v>
                </c:pt>
                <c:pt idx="5" c:formatCode="_ * #,##0.00_ ;_ * \-#,##0.00_ ;_ * &quot;-&quot;??_ ;_ @_ ">
                  <c:v>Office Equipment Maintenance</c:v>
                </c:pt>
              </c:strCache>
            </c:strRef>
          </c:cat>
          <c:val>
            <c:numRef>
              <c:f>'[DCS Analysis.xlsx]Direct Expenses Performance'!$G$25:$G$30</c:f>
              <c:numCache>
                <c:formatCode>_ * #,##0.00_ ;_ * \-#,##0.00_ ;_ * "-"??_ ;_ @_ </c:formatCode>
                <c:ptCount val="6"/>
                <c:pt idx="0">
                  <c:v>2488888.89</c:v>
                </c:pt>
                <c:pt idx="1">
                  <c:v>638035.32</c:v>
                </c:pt>
                <c:pt idx="2">
                  <c:v>80000</c:v>
                </c:pt>
                <c:pt idx="3">
                  <c:v>45905.16</c:v>
                </c:pt>
                <c:pt idx="4">
                  <c:v>11864.79</c:v>
                </c:pt>
                <c:pt idx="5">
                  <c:v>25800</c:v>
                </c:pt>
              </c:numCache>
            </c:numRef>
          </c:val>
        </c:ser>
        <c:ser>
          <c:idx val="0"/>
          <c:order val="1"/>
          <c:tx>
            <c:strRef>
              <c:f>'[DCS Analysis.xlsx]Direct Expenses Performance'!$H$24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'[DCS Analysis.xlsx]Direct Expenses Performance'!$F$25:$F$30</c:f>
              <c:strCache>
                <c:ptCount val="6"/>
                <c:pt idx="0" c:formatCode="_ * #,##0.00_ ;_ * \-#,##0.00_ ;_ * &quot;-&quot;??_ ;_ @_ ">
                  <c:v>RENT - 56 42ND LANE A/C</c:v>
                </c:pt>
                <c:pt idx="1" c:formatCode="_ * #,##0.00_ ;_ * \-#,##0.00_ ;_ * &quot;-&quot;??_ ;_ @_ ">
                  <c:v>Electricity A/C</c:v>
                </c:pt>
                <c:pt idx="2" c:formatCode="_ * #,##0.00_ ;_ * \-#,##0.00_ ;_ * &quot;-&quot;??_ ;_ @_ ">
                  <c:v>COURIER CHARGES</c:v>
                </c:pt>
                <c:pt idx="3" c:formatCode="_ * #,##0.00_ ;_ * \-#,##0.00_ ;_ * &quot;-&quot;??_ ;_ @_ ">
                  <c:v>Direct Service Expenses</c:v>
                </c:pt>
                <c:pt idx="4" c:formatCode="_ * #,##0.00_ ;_ * \-#,##0.00_ ;_ * &quot;-&quot;??_ ;_ @_ ">
                  <c:v>Water Charges</c:v>
                </c:pt>
                <c:pt idx="5" c:formatCode="_ * #,##0.00_ ;_ * \-#,##0.00_ ;_ * &quot;-&quot;??_ ;_ @_ ">
                  <c:v>Office Equipment Maintenance</c:v>
                </c:pt>
              </c:strCache>
            </c:strRef>
          </c:cat>
          <c:val>
            <c:numRef>
              <c:f>'[DCS Analysis.xlsx]Direct Expenses Performance'!$H$25:$H$30</c:f>
              <c:numCache>
                <c:formatCode>_ * #,##0.00_ ;_ * \-#,##0.00_ ;_ * "-"??_ ;_ @_ </c:formatCode>
                <c:ptCount val="6"/>
                <c:pt idx="0">
                  <c:v>2488888.89</c:v>
                </c:pt>
                <c:pt idx="1">
                  <c:v>696032.5</c:v>
                </c:pt>
                <c:pt idx="2">
                  <c:v>190956.17</c:v>
                </c:pt>
                <c:pt idx="3">
                  <c:v>32403.28</c:v>
                </c:pt>
                <c:pt idx="4">
                  <c:v>16677.34</c:v>
                </c:pt>
                <c:pt idx="5">
                  <c:v>6400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3976705490849"/>
          <c:y val="0.0906943168394802"/>
          <c:w val="0.935995562950638"/>
          <c:h val="0.651989804398356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'[DCS Analysis.xlsx]Direct Expenses Performance'!$G$34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'[DCS Analysis.xlsx]Direct Expenses Performance'!$F$35:$F$54</c:f>
              <c:strCache>
                <c:ptCount val="20"/>
                <c:pt idx="0" c:formatCode="###,##0.00;\(###,##0.00\)">
                  <c:v>Consultancy Fee</c:v>
                </c:pt>
                <c:pt idx="1" c:formatCode="###,##0.00;\(###,##0.00\)">
                  <c:v>Office Maintenance A/C</c:v>
                </c:pt>
                <c:pt idx="2" c:formatCode="###,##0.00;\(###,##0.00\)">
                  <c:v>Telephone Charges A/C</c:v>
                </c:pt>
                <c:pt idx="3" c:formatCode="###,##0.00;\(###,##0.00\)">
                  <c:v>Email And Internet</c:v>
                </c:pt>
                <c:pt idx="4" c:formatCode="###,##0.00;\(###,##0.00\)">
                  <c:v>Travelling Expenses A/C</c:v>
                </c:pt>
                <c:pt idx="5" c:formatCode="###,##0.00;\(###,##0.00\)">
                  <c:v>Transport Expense A/C</c:v>
                </c:pt>
                <c:pt idx="6" c:formatCode="###,##0.00;\(###,##0.00\)">
                  <c:v>Printing &amp; Stationery</c:v>
                </c:pt>
                <c:pt idx="7" c:formatCode="###,##0.00;\(###,##0.00\)">
                  <c:v>Diesal &amp; Petrol A/C</c:v>
                </c:pt>
                <c:pt idx="8" c:formatCode="###,##0.00;\(###,##0.00\)">
                  <c:v>Loading &amp; Unloading Charges</c:v>
                </c:pt>
                <c:pt idx="9" c:formatCode="###,##0.00;\(###,##0.00\)">
                  <c:v>Vehicle Maintenance A/C</c:v>
                </c:pt>
                <c:pt idx="10" c:formatCode="###,##0.00;\(###,##0.00\)">
                  <c:v>ERP Maintenance Charges</c:v>
                </c:pt>
                <c:pt idx="11" c:formatCode="###,##0.00;\(###,##0.00\)">
                  <c:v>Bank Charges</c:v>
                </c:pt>
                <c:pt idx="12" c:formatCode="###,##0.00;\(###,##0.00\)">
                  <c:v>Stores Maintenance</c:v>
                </c:pt>
                <c:pt idx="13" c:formatCode="###,##0.00;\(###,##0.00\)">
                  <c:v>Miscellaneous IT accessories expenses</c:v>
                </c:pt>
                <c:pt idx="14" c:formatCode="###,##0.00;\(###,##0.00\)">
                  <c:v>WORKMEN COMPENSATION</c:v>
                </c:pt>
                <c:pt idx="15" c:formatCode="###,##0.00;\(###,##0.00\)">
                  <c:v>Postage &amp; Stamps</c:v>
                </c:pt>
                <c:pt idx="16" c:formatCode="###,##0.00;\(###,##0.00\)">
                  <c:v>Payroll System Charges</c:v>
                </c:pt>
                <c:pt idx="17" c:formatCode="###,##0.00;\(###,##0.00\)">
                  <c:v>Professional Charges</c:v>
                </c:pt>
                <c:pt idx="18" c:formatCode="###,##0.00;\(###,##0.00\)">
                  <c:v>Medical Insurance</c:v>
                </c:pt>
                <c:pt idx="19" c:formatCode="###,##0.00;\(###,##0.00\)">
                  <c:v>Over draft Interest</c:v>
                </c:pt>
              </c:strCache>
            </c:strRef>
          </c:cat>
          <c:val>
            <c:numRef>
              <c:f>'[DCS Analysis.xlsx]Direct Expenses Performance'!$G$35:$G$54</c:f>
              <c:numCache>
                <c:formatCode>_ * #,##0.00_ ;_ * \-#,##0.00_ ;_ * "-"??_ ;_ @_ </c:formatCode>
                <c:ptCount val="20"/>
                <c:pt idx="0">
                  <c:v>215000</c:v>
                </c:pt>
                <c:pt idx="1">
                  <c:v>178744</c:v>
                </c:pt>
                <c:pt idx="2">
                  <c:v>155929.32</c:v>
                </c:pt>
                <c:pt idx="3">
                  <c:v>127109.67</c:v>
                </c:pt>
                <c:pt idx="4">
                  <c:v>82666.4</c:v>
                </c:pt>
                <c:pt idx="5">
                  <c:v>74230</c:v>
                </c:pt>
                <c:pt idx="6">
                  <c:v>71935</c:v>
                </c:pt>
                <c:pt idx="7">
                  <c:v>45157.37</c:v>
                </c:pt>
                <c:pt idx="8">
                  <c:v>30000</c:v>
                </c:pt>
                <c:pt idx="9">
                  <c:v>24620</c:v>
                </c:pt>
                <c:pt idx="10">
                  <c:v>22380.95</c:v>
                </c:pt>
                <c:pt idx="11">
                  <c:v>10709.99</c:v>
                </c:pt>
                <c:pt idx="12">
                  <c:v>7250</c:v>
                </c:pt>
                <c:pt idx="13">
                  <c:v>5500</c:v>
                </c:pt>
                <c:pt idx="14">
                  <c:v>3613.1125</c:v>
                </c:pt>
                <c:pt idx="15">
                  <c:v>1000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ser>
          <c:idx val="0"/>
          <c:order val="1"/>
          <c:tx>
            <c:strRef>
              <c:f>'[DCS Analysis.xlsx]Direct Expenses Performance'!$H$34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'[DCS Analysis.xlsx]Direct Expenses Performance'!$F$35:$F$54</c:f>
              <c:strCache>
                <c:ptCount val="20"/>
                <c:pt idx="0" c:formatCode="###,##0.00;\(###,##0.00\)">
                  <c:v>Consultancy Fee</c:v>
                </c:pt>
                <c:pt idx="1" c:formatCode="###,##0.00;\(###,##0.00\)">
                  <c:v>Office Maintenance A/C</c:v>
                </c:pt>
                <c:pt idx="2" c:formatCode="###,##0.00;\(###,##0.00\)">
                  <c:v>Telephone Charges A/C</c:v>
                </c:pt>
                <c:pt idx="3" c:formatCode="###,##0.00;\(###,##0.00\)">
                  <c:v>Email And Internet</c:v>
                </c:pt>
                <c:pt idx="4" c:formatCode="###,##0.00;\(###,##0.00\)">
                  <c:v>Travelling Expenses A/C</c:v>
                </c:pt>
                <c:pt idx="5" c:formatCode="###,##0.00;\(###,##0.00\)">
                  <c:v>Transport Expense A/C</c:v>
                </c:pt>
                <c:pt idx="6" c:formatCode="###,##0.00;\(###,##0.00\)">
                  <c:v>Printing &amp; Stationery</c:v>
                </c:pt>
                <c:pt idx="7" c:formatCode="###,##0.00;\(###,##0.00\)">
                  <c:v>Diesal &amp; Petrol A/C</c:v>
                </c:pt>
                <c:pt idx="8" c:formatCode="###,##0.00;\(###,##0.00\)">
                  <c:v>Loading &amp; Unloading Charges</c:v>
                </c:pt>
                <c:pt idx="9" c:formatCode="###,##0.00;\(###,##0.00\)">
                  <c:v>Vehicle Maintenance A/C</c:v>
                </c:pt>
                <c:pt idx="10" c:formatCode="###,##0.00;\(###,##0.00\)">
                  <c:v>ERP Maintenance Charges</c:v>
                </c:pt>
                <c:pt idx="11" c:formatCode="###,##0.00;\(###,##0.00\)">
                  <c:v>Bank Charges</c:v>
                </c:pt>
                <c:pt idx="12" c:formatCode="###,##0.00;\(###,##0.00\)">
                  <c:v>Stores Maintenance</c:v>
                </c:pt>
                <c:pt idx="13" c:formatCode="###,##0.00;\(###,##0.00\)">
                  <c:v>Miscellaneous IT accessories expenses</c:v>
                </c:pt>
                <c:pt idx="14" c:formatCode="###,##0.00;\(###,##0.00\)">
                  <c:v>WORKMEN COMPENSATION</c:v>
                </c:pt>
                <c:pt idx="15" c:formatCode="###,##0.00;\(###,##0.00\)">
                  <c:v>Postage &amp; Stamps</c:v>
                </c:pt>
                <c:pt idx="16" c:formatCode="###,##0.00;\(###,##0.00\)">
                  <c:v>Payroll System Charges</c:v>
                </c:pt>
                <c:pt idx="17" c:formatCode="###,##0.00;\(###,##0.00\)">
                  <c:v>Professional Charges</c:v>
                </c:pt>
                <c:pt idx="18" c:formatCode="###,##0.00;\(###,##0.00\)">
                  <c:v>Medical Insurance</c:v>
                </c:pt>
                <c:pt idx="19" c:formatCode="###,##0.00;\(###,##0.00\)">
                  <c:v>Over draft Interest</c:v>
                </c:pt>
              </c:strCache>
            </c:strRef>
          </c:cat>
          <c:val>
            <c:numRef>
              <c:f>'[DCS Analysis.xlsx]Direct Expenses Performance'!$H$35:$H$54</c:f>
              <c:numCache>
                <c:formatCode>_ * #,##0.00_ ;_ * \-#,##0.00_ ;_ * "-"??_ ;_ @_ </c:formatCode>
                <c:ptCount val="20"/>
                <c:pt idx="0">
                  <c:v>145798</c:v>
                </c:pt>
                <c:pt idx="1">
                  <c:v>316884.4</c:v>
                </c:pt>
                <c:pt idx="2">
                  <c:v>358303.18</c:v>
                </c:pt>
                <c:pt idx="3">
                  <c:v>-10520.33</c:v>
                </c:pt>
                <c:pt idx="4">
                  <c:v>53777.51</c:v>
                </c:pt>
                <c:pt idx="5">
                  <c:v>35800</c:v>
                </c:pt>
                <c:pt idx="6">
                  <c:v>0</c:v>
                </c:pt>
                <c:pt idx="7">
                  <c:v>464306.47</c:v>
                </c:pt>
                <c:pt idx="8">
                  <c:v>30000</c:v>
                </c:pt>
                <c:pt idx="9">
                  <c:v>121230</c:v>
                </c:pt>
                <c:pt idx="10">
                  <c:v>22380.95</c:v>
                </c:pt>
                <c:pt idx="11">
                  <c:v>3180.03</c:v>
                </c:pt>
                <c:pt idx="12">
                  <c:v>5380</c:v>
                </c:pt>
                <c:pt idx="13">
                  <c:v>43475</c:v>
                </c:pt>
                <c:pt idx="14">
                  <c:v>0</c:v>
                </c:pt>
                <c:pt idx="15">
                  <c:v>1000</c:v>
                </c:pt>
                <c:pt idx="16">
                  <c:v>92514.5</c:v>
                </c:pt>
                <c:pt idx="17">
                  <c:v>20000</c:v>
                </c:pt>
                <c:pt idx="18">
                  <c:v>15836</c:v>
                </c:pt>
                <c:pt idx="1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</a:t>
            </a:r>
            <a:r>
              <a:rPr lang="en-US" sz="5400">
                <a:solidFill>
                  <a:schemeClr val="bg1"/>
                </a:solidFill>
                <a:sym typeface="+mn-ea"/>
              </a:rPr>
              <a:t>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lum bright="-48000"/>
          </a:blip>
          <a:stretch>
            <a:fillRect/>
          </a:stretch>
        </p:blipFill>
        <p:spPr>
          <a:xfrm>
            <a:off x="-5715" y="-31750"/>
            <a:ext cx="12200890" cy="4701540"/>
          </a:xfrm>
          <a:prstGeom prst="rect">
            <a:avLst/>
          </a:prstGeom>
        </p:spPr>
      </p:pic>
      <p:pic>
        <p:nvPicPr>
          <p:cNvPr id="7" name="Picture 6" descr="images__1_-removebg-preview"/>
          <p:cNvPicPr>
            <a:picLocks noChangeAspect="1"/>
          </p:cNvPicPr>
          <p:nvPr/>
        </p:nvPicPr>
        <p:blipFill>
          <a:blip r:embed="rId2"/>
          <a:srcRect t="31988" b="27055"/>
          <a:stretch>
            <a:fillRect/>
          </a:stretch>
        </p:blipFill>
        <p:spPr>
          <a:xfrm>
            <a:off x="10262235" y="87630"/>
            <a:ext cx="1729740" cy="69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Overall 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  <p:graphicFrame>
        <p:nvGraphicFramePr>
          <p:cNvPr id="5" name="Chart 4"/>
          <p:cNvGraphicFramePr/>
          <p:nvPr/>
        </p:nvGraphicFramePr>
        <p:xfrm>
          <a:off x="367030" y="1404938"/>
          <a:ext cx="11457940" cy="5187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and Profit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  <p:graphicFrame>
        <p:nvGraphicFramePr>
          <p:cNvPr id="3" name="Chart 2"/>
          <p:cNvGraphicFramePr/>
          <p:nvPr/>
        </p:nvGraphicFramePr>
        <p:xfrm>
          <a:off x="380365" y="1236980"/>
          <a:ext cx="11470640" cy="5393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KPIs (Expenses)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/>
          <p:nvPr/>
        </p:nvGraphicFramePr>
        <p:xfrm>
          <a:off x="610870" y="1313815"/>
          <a:ext cx="10693400" cy="360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6335"/>
                <a:gridCol w="2049145"/>
                <a:gridCol w="1734185"/>
                <a:gridCol w="1574800"/>
                <a:gridCol w="1638935"/>
              </a:tblGrid>
              <a:tr h="6915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153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Direct Expenses (% of Revenue)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7,774,096.82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85.33%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8,178,971.21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89.77%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607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1.Employee Cost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4,483,602.66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49.21%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4,747,613.03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52.11%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2.Direct Service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45,905.16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0.50%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32,403.28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0.36%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3.Other Direct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3,244,589.00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35.6%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3,398,954.90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37.31%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Administrative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1,055,845.81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11.59%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1,719,345.71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18.87%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</a:t>
            </a:r>
            <a:r>
              <a:rPr lang="en-US" sz="4000" b="1">
                <a:solidFill>
                  <a:schemeClr val="accent2"/>
                </a:solidFill>
              </a:rPr>
              <a:t>Direct Expenses</a:t>
            </a:r>
            <a:endParaRPr lang="en-US" sz="40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Employee Cost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49.21%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52.11%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  <p:graphicFrame>
        <p:nvGraphicFramePr>
          <p:cNvPr id="8" name="Chart 7"/>
          <p:cNvGraphicFramePr/>
          <p:nvPr/>
        </p:nvGraphicFramePr>
        <p:xfrm>
          <a:off x="477520" y="1699895"/>
          <a:ext cx="11355705" cy="4761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</a:t>
            </a:r>
            <a:r>
              <a:rPr lang="en-US" sz="4000" b="1">
                <a:solidFill>
                  <a:schemeClr val="accent2"/>
                </a:solidFill>
              </a:rPr>
              <a:t>Direct Expenses</a:t>
            </a:r>
            <a:endParaRPr lang="en-US" sz="40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Service and Other Cost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36.1%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37.7%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  <p:graphicFrame>
        <p:nvGraphicFramePr>
          <p:cNvPr id="10" name="Chart 9"/>
          <p:cNvGraphicFramePr/>
          <p:nvPr/>
        </p:nvGraphicFramePr>
        <p:xfrm>
          <a:off x="396875" y="1705610"/>
          <a:ext cx="11369675" cy="469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</a:t>
            </a:r>
            <a:r>
              <a:rPr lang="en-US" sz="4000" b="1">
                <a:solidFill>
                  <a:schemeClr val="accent2"/>
                </a:solidFill>
              </a:rPr>
              <a:t>Administrative Expenses</a:t>
            </a:r>
            <a:endParaRPr lang="en-US" sz="40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charset="0"/>
                          <a:sym typeface="+mn-ea"/>
                        </a:rPr>
                        <a:t>Administrative Expenses</a:t>
                      </a:r>
                      <a:endParaRPr lang="en-US" sz="2000" b="1">
                        <a:solidFill>
                          <a:schemeClr val="bg1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11.59%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18.87%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  <p:graphicFrame>
        <p:nvGraphicFramePr>
          <p:cNvPr id="8" name="Chart 7"/>
          <p:cNvGraphicFramePr/>
          <p:nvPr/>
        </p:nvGraphicFramePr>
        <p:xfrm>
          <a:off x="490855" y="1668145"/>
          <a:ext cx="11449050" cy="4838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Rectangle 2"/>
          <p:cNvSpPr/>
          <p:nvPr/>
        </p:nvSpPr>
        <p:spPr>
          <a:xfrm>
            <a:off x="1797050" y="2711450"/>
            <a:ext cx="967105" cy="200914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93640" y="2167890"/>
            <a:ext cx="484505" cy="25527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5651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8575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Overall Variation (Sep-Oct)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238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45" y="1402080"/>
            <a:ext cx="10500360" cy="3399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Summary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/>
          <p:nvPr/>
        </p:nvGraphicFramePr>
        <p:xfrm>
          <a:off x="522605" y="1251585"/>
          <a:ext cx="10940415" cy="54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290"/>
                <a:gridCol w="2082165"/>
                <a:gridCol w="1704340"/>
                <a:gridCol w="1927860"/>
                <a:gridCol w="1508760"/>
              </a:tblGrid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152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9,110,676.00 </a:t>
                      </a:r>
                      <a:endParaRPr lang="en-US" sz="1600" b="1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 Growth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0%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9,110,676.00 </a:t>
                      </a:r>
                      <a:endParaRPr lang="en-US" sz="1600" b="1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Gross Profit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1,336,579.18 </a:t>
                      </a:r>
                      <a:endParaRPr lang="en-US" sz="1600" b="1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14.67%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931,704.79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10.23%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DIRECT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7,774,096.82 </a:t>
                      </a:r>
                      <a:endParaRPr lang="en-US" sz="1600" b="1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85.33%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8,178,971.21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89.77%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1.Employee Cost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4,483,602.66 </a:t>
                      </a:r>
                      <a:endParaRPr lang="en-US" sz="16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49.21%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4,747,613.03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52.11%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2.Direct Service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45,905.16 </a:t>
                      </a:r>
                      <a:endParaRPr lang="en-US" sz="16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0.50%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32,403.28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0.36%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3.Other Direct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3,244,589.00 </a:t>
                      </a:r>
                      <a:endParaRPr lang="en-US" sz="1600" b="0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35.6%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3,398,954.90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37.31%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Administrative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1,055,845.81 </a:t>
                      </a:r>
                      <a:endParaRPr lang="en-US" sz="1600" b="1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11.59%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1,719,345.71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18.87%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Before Tax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 280,733.37 </a:t>
                      </a:r>
                      <a:endParaRPr lang="en-US" sz="1600" b="1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3.08%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-787,640.92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-8.65%</a:t>
                      </a:r>
                      <a:endParaRPr lang="en-US" sz="1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36981" b="26308"/>
          <a:stretch>
            <a:fillRect/>
          </a:stretch>
        </p:blipFill>
        <p:spPr>
          <a:xfrm>
            <a:off x="10078720" y="182880"/>
            <a:ext cx="186118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Content Placeholder 2"/>
          <p:cNvSpPr>
            <a:spLocks noGrp="1"/>
          </p:cNvSpPr>
          <p:nvPr/>
        </p:nvSpPr>
        <p:spPr>
          <a:xfrm>
            <a:off x="2400300" y="3407410"/>
            <a:ext cx="7383145" cy="83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50000"/>
                  </a:schemeClr>
                </a:solidFill>
              </a14:hiddenFill>
            </a:ext>
          </a:extLst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US" sz="54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t="36981" b="26308"/>
          <a:stretch>
            <a:fillRect/>
          </a:stretch>
        </p:blipFill>
        <p:spPr>
          <a:xfrm>
            <a:off x="3300730" y="1249045"/>
            <a:ext cx="5824855" cy="2110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WPS Presentation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P&amp;L - Overall Performance</vt:lpstr>
      <vt:lpstr>P&amp;L - Revenue and Profit</vt:lpstr>
      <vt:lpstr>P&amp;L - KPIs (Expenses)</vt:lpstr>
      <vt:lpstr>P&amp;L - Direct Expenses</vt:lpstr>
      <vt:lpstr>P&amp;L - Direct Expenses</vt:lpstr>
      <vt:lpstr>P&amp;L - Administrative Expenses</vt:lpstr>
      <vt:lpstr>P&amp;L - Overall Variation (Sep-Oct)</vt:lpstr>
      <vt:lpstr>P&amp;L - 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User</dc:creator>
  <cp:lastModifiedBy>User</cp:lastModifiedBy>
  <cp:revision>30</cp:revision>
  <dcterms:created xsi:type="dcterms:W3CDTF">2024-12-09T04:57:00Z</dcterms:created>
  <dcterms:modified xsi:type="dcterms:W3CDTF">2024-12-13T12:25:49Z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1033-10.2.0.7480</vt:lpwstr>
  </property>
</Properties>
</file>