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3"/>
    <p:sldId id="256" r:id="rId4"/>
    <p:sldId id="268" r:id="rId5"/>
    <p:sldId id="267" r:id="rId6"/>
    <p:sldId id="262" r:id="rId7"/>
    <p:sldId id="264" r:id="rId9"/>
    <p:sldId id="278" r:id="rId10"/>
    <p:sldId id="288" r:id="rId11"/>
    <p:sldId id="294" r:id="rId12"/>
    <p:sldId id="295" r:id="rId13"/>
    <p:sldId id="283" r:id="rId14"/>
    <p:sldId id="265" r:id="rId15"/>
    <p:sldId id="266" r:id="rId16"/>
  </p:sldIdLst>
  <p:sldSz cx="12192000" cy="6858000"/>
  <p:notesSz cx="7103745" cy="102342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User\Desktop\Debug\Analysis\DT\DT%20Analysi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User\Desktop\Debug\Analysis\DT\DT%20Analysi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User\Desktop\Debug\Analysis\DT\DT%20Analysis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User\Desktop\Debug\Analysis\DT\DT%20Analysis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User\Desktop\Debug\Analysis\DT\DT%20Analysis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Users\User\Desktop\Debug\Analysis\DT\DT%20Analysis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C:\Users\User\Desktop\Debug\Analysis\DT\DT%20Analysis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C:\Users\User\Desktop\Debug\Analysis\DT\DT%20Analysi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7616376892877"/>
          <c:y val="0.0369526094781044"/>
          <c:w val="0.903555804823331"/>
          <c:h val="0.610965806838632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'[DT Analysis.xlsx]P&amp;L Overall Performance'!$C$3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'[DT Analysis.xlsx]P&amp;L Overall Performance'!$B$4:$B$15</c:f>
              <c:strCache>
                <c:ptCount val="12"/>
                <c:pt idx="0" c:formatCode="###,##0.00;\(###,##0.00\)">
                  <c:v>REVENUE</c:v>
                </c:pt>
                <c:pt idx="1" c:formatCode="###,##0.00;\(###,##0.00\)">
                  <c:v>COST OF GOODS SOLD</c:v>
                </c:pt>
                <c:pt idx="2" c:formatCode="###,##0.00;\(###,##0.00\)">
                  <c:v>GROSS PROFIT</c:v>
                </c:pt>
                <c:pt idx="3" c:formatCode="###,##0.00;\(###,##0.00\)">
                  <c:v>OTHER INCOME</c:v>
                </c:pt>
                <c:pt idx="4" c:formatCode="###,##0.00;\(###,##0.00\)">
                  <c:v>ADMINISTRATION EXPENSES</c:v>
                </c:pt>
                <c:pt idx="5" c:formatCode="###,##0.00;\(###,##0.00\)">
                  <c:v>Insurance Expenses</c:v>
                </c:pt>
                <c:pt idx="6" c:formatCode="###,##0.00;\(###,##0.00\)">
                  <c:v>Other Administration Expenses</c:v>
                </c:pt>
                <c:pt idx="7" c:formatCode="###,##0.00;\(###,##0.00\)">
                  <c:v>Depreciation</c:v>
                </c:pt>
                <c:pt idx="8" c:formatCode="###,##0.00;\(###,##0.00\)">
                  <c:v>SELLING AND DISTRIBUTION EXPENSES</c:v>
                </c:pt>
                <c:pt idx="9" c:formatCode="###,##0.00;\(###,##0.00\)">
                  <c:v>EMPLOYEE COST</c:v>
                </c:pt>
                <c:pt idx="10" c:formatCode="###,##0.00;\(###,##0.00\)">
                  <c:v>FINANCE COST</c:v>
                </c:pt>
                <c:pt idx="11" c:formatCode="###,##0.00;\(###,##0.00\)">
                  <c:v>PROFIT/LOSS BEFORE TAX</c:v>
                </c:pt>
              </c:strCache>
            </c:strRef>
          </c:cat>
          <c:val>
            <c:numRef>
              <c:f>'[DT Analysis.xlsx]P&amp;L Overall Performance'!$C$4:$C$15</c:f>
              <c:numCache>
                <c:formatCode>_ * #,##0.0_ ;_ * \-#,##0.0_ ;_ * "-"??_ ;_ @_ </c:formatCode>
                <c:ptCount val="12"/>
                <c:pt idx="0">
                  <c:v>15046011.2528</c:v>
                </c:pt>
                <c:pt idx="1">
                  <c:v>11764444.4292</c:v>
                </c:pt>
                <c:pt idx="2">
                  <c:v>3281566.8236</c:v>
                </c:pt>
                <c:pt idx="3">
                  <c:v>203756.418</c:v>
                </c:pt>
                <c:pt idx="4">
                  <c:v>677340.1226</c:v>
                </c:pt>
                <c:pt idx="5">
                  <c:v>31340.01</c:v>
                </c:pt>
                <c:pt idx="6">
                  <c:v>646000.1126</c:v>
                </c:pt>
                <c:pt idx="7">
                  <c:v>0</c:v>
                </c:pt>
                <c:pt idx="8">
                  <c:v>31115</c:v>
                </c:pt>
                <c:pt idx="9">
                  <c:v>265421.43</c:v>
                </c:pt>
                <c:pt idx="10">
                  <c:v>163631.56</c:v>
                </c:pt>
                <c:pt idx="11">
                  <c:v>2347815.129</c:v>
                </c:pt>
              </c:numCache>
            </c:numRef>
          </c:val>
        </c:ser>
        <c:ser>
          <c:idx val="0"/>
          <c:order val="1"/>
          <c:tx>
            <c:strRef>
              <c:f>'[DT Analysis.xlsx]P&amp;L Overall Performance'!$D$3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'[DT Analysis.xlsx]P&amp;L Overall Performance'!$B$4:$B$15</c:f>
              <c:strCache>
                <c:ptCount val="12"/>
                <c:pt idx="0" c:formatCode="###,##0.00;\(###,##0.00\)">
                  <c:v>REVENUE</c:v>
                </c:pt>
                <c:pt idx="1" c:formatCode="###,##0.00;\(###,##0.00\)">
                  <c:v>COST OF GOODS SOLD</c:v>
                </c:pt>
                <c:pt idx="2" c:formatCode="###,##0.00;\(###,##0.00\)">
                  <c:v>GROSS PROFIT</c:v>
                </c:pt>
                <c:pt idx="3" c:formatCode="###,##0.00;\(###,##0.00\)">
                  <c:v>OTHER INCOME</c:v>
                </c:pt>
                <c:pt idx="4" c:formatCode="###,##0.00;\(###,##0.00\)">
                  <c:v>ADMINISTRATION EXPENSES</c:v>
                </c:pt>
                <c:pt idx="5" c:formatCode="###,##0.00;\(###,##0.00\)">
                  <c:v>Insurance Expenses</c:v>
                </c:pt>
                <c:pt idx="6" c:formatCode="###,##0.00;\(###,##0.00\)">
                  <c:v>Other Administration Expenses</c:v>
                </c:pt>
                <c:pt idx="7" c:formatCode="###,##0.00;\(###,##0.00\)">
                  <c:v>Depreciation</c:v>
                </c:pt>
                <c:pt idx="8" c:formatCode="###,##0.00;\(###,##0.00\)">
                  <c:v>SELLING AND DISTRIBUTION EXPENSES</c:v>
                </c:pt>
                <c:pt idx="9" c:formatCode="###,##0.00;\(###,##0.00\)">
                  <c:v>EMPLOYEE COST</c:v>
                </c:pt>
                <c:pt idx="10" c:formatCode="###,##0.00;\(###,##0.00\)">
                  <c:v>FINANCE COST</c:v>
                </c:pt>
                <c:pt idx="11" c:formatCode="###,##0.00;\(###,##0.00\)">
                  <c:v>PROFIT/LOSS BEFORE TAX</c:v>
                </c:pt>
              </c:strCache>
            </c:strRef>
          </c:cat>
          <c:val>
            <c:numRef>
              <c:f>'[DT Analysis.xlsx]P&amp;L Overall Performance'!$D$4:$D$15</c:f>
              <c:numCache>
                <c:formatCode>_ * #,##0.0_ ;_ * \-#,##0.0_ ;_ * "-"??_ ;_ @_ </c:formatCode>
                <c:ptCount val="12"/>
                <c:pt idx="0">
                  <c:v>30746457.9944</c:v>
                </c:pt>
                <c:pt idx="1">
                  <c:v>25096804.0838</c:v>
                </c:pt>
                <c:pt idx="2">
                  <c:v>5649653.9106</c:v>
                </c:pt>
                <c:pt idx="3">
                  <c:v>1275388.604</c:v>
                </c:pt>
                <c:pt idx="4">
                  <c:v>643953.37</c:v>
                </c:pt>
                <c:pt idx="5">
                  <c:v>17580.57</c:v>
                </c:pt>
                <c:pt idx="6">
                  <c:v>625792.8</c:v>
                </c:pt>
                <c:pt idx="7">
                  <c:v>580</c:v>
                </c:pt>
                <c:pt idx="8">
                  <c:v>21882.3</c:v>
                </c:pt>
                <c:pt idx="9">
                  <c:v>236462.43</c:v>
                </c:pt>
                <c:pt idx="10">
                  <c:v>220719.3</c:v>
                </c:pt>
                <c:pt idx="11">
                  <c:v>5802025.1146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[$Rs.-849]#,##0.00_);[Red]\([$Rs.-849]#,##0.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0.0150392943970148"/>
                <c:y val="0.0397120575884823"/>
              </c:manualLayout>
            </c:layout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45394922824673"/>
          <c:y val="0.013797240551889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27443319718226"/>
          <c:y val="0.115518527729421"/>
          <c:w val="0.898727283490203"/>
          <c:h val="0.731832877393683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'[DT Analysis.xlsx]Revenue&amp;Profit'!$C$2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'[DT Analysis.xlsx]Revenue&amp;Profit'!$B$3:$B$5</c:f>
              <c:strCache>
                <c:ptCount val="3"/>
                <c:pt idx="0" c:formatCode="###,##0.00;\(###,##0.00\)">
                  <c:v>REVENUE</c:v>
                </c:pt>
                <c:pt idx="1" c:formatCode="###,##0.00;\(###,##0.00\)">
                  <c:v>GROSS PROFIT</c:v>
                </c:pt>
                <c:pt idx="2" c:formatCode="###,##0.00;\(###,##0.00\)">
                  <c:v>PROFIT/LOSS BEFORE TAX</c:v>
                </c:pt>
              </c:strCache>
            </c:strRef>
          </c:cat>
          <c:val>
            <c:numRef>
              <c:f>'[DT Analysis.xlsx]Revenue&amp;Profit'!$C$3:$C$5</c:f>
              <c:numCache>
                <c:formatCode>_ * #,##0.0_ ;_ * \-#,##0.0_ ;_ * "-"??_ ;_ @_ </c:formatCode>
                <c:ptCount val="3"/>
                <c:pt idx="0">
                  <c:v>15046011.2528</c:v>
                </c:pt>
                <c:pt idx="1">
                  <c:v>3281566.8236</c:v>
                </c:pt>
                <c:pt idx="2">
                  <c:v>2347815.129</c:v>
                </c:pt>
              </c:numCache>
            </c:numRef>
          </c:val>
        </c:ser>
        <c:ser>
          <c:idx val="0"/>
          <c:order val="1"/>
          <c:tx>
            <c:strRef>
              <c:f>'[DT Analysis.xlsx]Revenue&amp;Profit'!$D$2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'[DT Analysis.xlsx]Revenue&amp;Profit'!$B$3:$B$5</c:f>
              <c:strCache>
                <c:ptCount val="3"/>
                <c:pt idx="0" c:formatCode="###,##0.00;\(###,##0.00\)">
                  <c:v>REVENUE</c:v>
                </c:pt>
                <c:pt idx="1" c:formatCode="###,##0.00;\(###,##0.00\)">
                  <c:v>GROSS PROFIT</c:v>
                </c:pt>
                <c:pt idx="2" c:formatCode="###,##0.00;\(###,##0.00\)">
                  <c:v>PROFIT/LOSS BEFORE TAX</c:v>
                </c:pt>
              </c:strCache>
            </c:strRef>
          </c:cat>
          <c:val>
            <c:numRef>
              <c:f>'[DT Analysis.xlsx]Revenue&amp;Profit'!$D$3:$D$5</c:f>
              <c:numCache>
                <c:formatCode>_ * #,##0.0_ ;_ * \-#,##0.0_ ;_ * "-"??_ ;_ @_ </c:formatCode>
                <c:ptCount val="3"/>
                <c:pt idx="0">
                  <c:v>30746457.9944</c:v>
                </c:pt>
                <c:pt idx="1">
                  <c:v>5649653.9106</c:v>
                </c:pt>
                <c:pt idx="2">
                  <c:v>5802025.1146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0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[$$-45C]#,##0.00_);[Red]\([$$-45C]#,##0.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50441011069674"/>
          <c:y val="0.027356379010196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98067659598029"/>
          <c:y val="0.0413016270337922"/>
          <c:w val="0.891755716737722"/>
          <c:h val="0.784355444305382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'[DT Analysis.xlsx]Revenue Performance'!$C$2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'[DT Analysis.xlsx]Revenue Performance'!$B$3:$B$5</c:f>
              <c:strCache>
                <c:ptCount val="3"/>
                <c:pt idx="0" c:formatCode="###,##0.00;\(###,##0.00\)">
                  <c:v>Sales Income</c:v>
                </c:pt>
                <c:pt idx="1" c:formatCode="###,##0.00;\(###,##0.00\)">
                  <c:v>Service Income</c:v>
                </c:pt>
                <c:pt idx="2" c:formatCode="###,##0.00;\(###,##0.00\)">
                  <c:v>Inter SBU Sales Income</c:v>
                </c:pt>
              </c:strCache>
            </c:strRef>
          </c:cat>
          <c:val>
            <c:numRef>
              <c:f>'[DT Analysis.xlsx]Revenue Performance'!$C$3:$C$5</c:f>
              <c:numCache>
                <c:formatCode>_ * #,##0.00_ ;_ * \-#,##0.00_ ;_ * "-"??_ ;_ @_ </c:formatCode>
                <c:ptCount val="3"/>
                <c:pt idx="0">
                  <c:v>14594821.6949</c:v>
                </c:pt>
                <c:pt idx="1">
                  <c:v>451189.5579</c:v>
                </c:pt>
                <c:pt idx="2">
                  <c:v>0</c:v>
                </c:pt>
              </c:numCache>
            </c:numRef>
          </c:val>
        </c:ser>
        <c:ser>
          <c:idx val="0"/>
          <c:order val="1"/>
          <c:tx>
            <c:strRef>
              <c:f>'[DT Analysis.xlsx]Revenue Performance'!$D$2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'[DT Analysis.xlsx]Revenue Performance'!$B$3:$B$5</c:f>
              <c:strCache>
                <c:ptCount val="3"/>
                <c:pt idx="0" c:formatCode="###,##0.00;\(###,##0.00\)">
                  <c:v>Sales Income</c:v>
                </c:pt>
                <c:pt idx="1" c:formatCode="###,##0.00;\(###,##0.00\)">
                  <c:v>Service Income</c:v>
                </c:pt>
                <c:pt idx="2" c:formatCode="###,##0.00;\(###,##0.00\)">
                  <c:v>Inter SBU Sales Income</c:v>
                </c:pt>
              </c:strCache>
            </c:strRef>
          </c:cat>
          <c:val>
            <c:numRef>
              <c:f>'[DT Analysis.xlsx]Revenue Performance'!$D$3:$D$5</c:f>
              <c:numCache>
                <c:formatCode>_ * #,##0.00_ ;_ * \-#,##0.00_ ;_ * "-"??_ ;_ @_ </c:formatCode>
                <c:ptCount val="3"/>
                <c:pt idx="0">
                  <c:v>30238348.5672</c:v>
                </c:pt>
                <c:pt idx="1">
                  <c:v>281705.4272</c:v>
                </c:pt>
                <c:pt idx="2">
                  <c:v>226404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0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[$$-45C]#,##0.00_);[Red]\([$$-45C]#,##0.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32617553132915"/>
          <c:y val="0.02404414662987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9798510731494"/>
          <c:y val="0.112623531605445"/>
          <c:w val="0.919568550153307"/>
          <c:h val="0.774790229349245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'[DT Analysis.xlsx]COGS Performance'!$C$2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'[DT Analysis.xlsx]COGS Performance'!$B$3:$B$6</c:f>
              <c:strCache>
                <c:ptCount val="4"/>
                <c:pt idx="0">
                  <c:v>Cost of Sale-General</c:v>
                </c:pt>
                <c:pt idx="1">
                  <c:v>Cost of Service Income</c:v>
                </c:pt>
                <c:pt idx="2">
                  <c:v>Inventory Consumption</c:v>
                </c:pt>
                <c:pt idx="3">
                  <c:v>IMPORTS PURCHASE</c:v>
                </c:pt>
              </c:strCache>
            </c:strRef>
          </c:cat>
          <c:val>
            <c:numRef>
              <c:f>'[DT Analysis.xlsx]COGS Performance'!$C$3:$C$6</c:f>
              <c:numCache>
                <c:formatCode>_ * #,##0.00_ ;_ * \-#,##0.00_ ;_ * "-"??_ ;_ @_ </c:formatCode>
                <c:ptCount val="4"/>
                <c:pt idx="0">
                  <c:v>11654301.6863</c:v>
                </c:pt>
                <c:pt idx="1">
                  <c:v>101624.8228</c:v>
                </c:pt>
                <c:pt idx="2">
                  <c:v>7900</c:v>
                </c:pt>
                <c:pt idx="3">
                  <c:v>617.92</c:v>
                </c:pt>
              </c:numCache>
            </c:numRef>
          </c:val>
        </c:ser>
        <c:ser>
          <c:idx val="0"/>
          <c:order val="1"/>
          <c:tx>
            <c:strRef>
              <c:f>'[DT Analysis.xlsx]COGS Performance'!$D$2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'[DT Analysis.xlsx]COGS Performance'!$B$3:$B$6</c:f>
              <c:strCache>
                <c:ptCount val="4"/>
                <c:pt idx="0">
                  <c:v>Cost of Sale-General</c:v>
                </c:pt>
                <c:pt idx="1">
                  <c:v>Cost of Service Income</c:v>
                </c:pt>
                <c:pt idx="2">
                  <c:v>Inventory Consumption</c:v>
                </c:pt>
                <c:pt idx="3">
                  <c:v>IMPORTS PURCHASE</c:v>
                </c:pt>
              </c:strCache>
            </c:strRef>
          </c:cat>
          <c:val>
            <c:numRef>
              <c:f>'[DT Analysis.xlsx]COGS Performance'!$D$3:$D$6</c:f>
              <c:numCache>
                <c:formatCode>_ * #,##0.00_ ;_ * \-#,##0.00_ ;_ * "-"??_ ;_ @_ </c:formatCode>
                <c:ptCount val="4"/>
                <c:pt idx="0">
                  <c:v>25003609.8727</c:v>
                </c:pt>
                <c:pt idx="1">
                  <c:v>93194.2113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0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781756460797197"/>
          <c:y val="0.021629684877866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2799177366461"/>
          <c:y val="0.0417853751187085"/>
          <c:w val="0.9363570674226"/>
          <c:h val="0.663319611018459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'[DT Analysis.xlsx]Opex'!$I$4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'[DT Analysis.xlsx]Opex'!$H$5:$H$20</c:f>
              <c:strCache>
                <c:ptCount val="16"/>
                <c:pt idx="0">
                  <c:v>Shared Service Cost</c:v>
                </c:pt>
                <c:pt idx="1">
                  <c:v>Advisory fees</c:v>
                </c:pt>
                <c:pt idx="2">
                  <c:v>Professional charges</c:v>
                </c:pt>
                <c:pt idx="3">
                  <c:v>Consultant Fees</c:v>
                </c:pt>
                <c:pt idx="4">
                  <c:v>Insurance Expenses</c:v>
                </c:pt>
                <c:pt idx="5">
                  <c:v>Cheque Book Charges</c:v>
                </c:pt>
                <c:pt idx="6">
                  <c:v>TELEPHONE CHARGES A/C</c:v>
                </c:pt>
                <c:pt idx="7">
                  <c:v>TRAVELLING EXPENSES A/C</c:v>
                </c:pt>
                <c:pt idx="8">
                  <c:v>Bank Charges</c:v>
                </c:pt>
                <c:pt idx="9">
                  <c:v>ERP Maintenance A/C</c:v>
                </c:pt>
                <c:pt idx="10">
                  <c:v>Motor Vehicle Depreciation</c:v>
                </c:pt>
                <c:pt idx="11">
                  <c:v>PRINTING &amp; STATIONERY</c:v>
                </c:pt>
                <c:pt idx="12">
                  <c:v>Workman Compensation Insurance</c:v>
                </c:pt>
                <c:pt idx="13">
                  <c:v>VEHICAL MAINTENANCE A/C</c:v>
                </c:pt>
                <c:pt idx="14">
                  <c:v>Domain Expenses</c:v>
                </c:pt>
                <c:pt idx="15">
                  <c:v>E MAIL CHARGES A/C</c:v>
                </c:pt>
              </c:strCache>
            </c:strRef>
          </c:cat>
          <c:val>
            <c:numRef>
              <c:f>'[DT Analysis.xlsx]Opex'!$I$5:$I$20</c:f>
              <c:numCache>
                <c:formatCode>_ * #,##0.00_ ;_ * \-#,##0.00_ ;_ * "-"??_ ;_ @_ </c:formatCode>
                <c:ptCount val="16"/>
                <c:pt idx="0">
                  <c:v>437344</c:v>
                </c:pt>
                <c:pt idx="1">
                  <c:v>90000</c:v>
                </c:pt>
                <c:pt idx="2">
                  <c:v>40307.14</c:v>
                </c:pt>
                <c:pt idx="3">
                  <c:v>0</c:v>
                </c:pt>
                <c:pt idx="4">
                  <c:v>31340.01</c:v>
                </c:pt>
                <c:pt idx="5">
                  <c:v>0</c:v>
                </c:pt>
                <c:pt idx="6">
                  <c:v>9013.33</c:v>
                </c:pt>
                <c:pt idx="7">
                  <c:v>0</c:v>
                </c:pt>
                <c:pt idx="8">
                  <c:v>39394.7826</c:v>
                </c:pt>
                <c:pt idx="9">
                  <c:v>952.38</c:v>
                </c:pt>
                <c:pt idx="10">
                  <c:v>0</c:v>
                </c:pt>
                <c:pt idx="11">
                  <c:v>1100</c:v>
                </c:pt>
                <c:pt idx="12">
                  <c:v>234.73</c:v>
                </c:pt>
                <c:pt idx="13">
                  <c:v>0</c:v>
                </c:pt>
                <c:pt idx="14">
                  <c:v>25493.42</c:v>
                </c:pt>
                <c:pt idx="15">
                  <c:v>2160.33</c:v>
                </c:pt>
              </c:numCache>
            </c:numRef>
          </c:val>
        </c:ser>
        <c:ser>
          <c:idx val="0"/>
          <c:order val="1"/>
          <c:tx>
            <c:strRef>
              <c:f>'[DT Analysis.xlsx]Opex'!$J$4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'[DT Analysis.xlsx]Opex'!$H$5:$H$20</c:f>
              <c:strCache>
                <c:ptCount val="16"/>
                <c:pt idx="0">
                  <c:v>Shared Service Cost</c:v>
                </c:pt>
                <c:pt idx="1">
                  <c:v>Advisory fees</c:v>
                </c:pt>
                <c:pt idx="2">
                  <c:v>Professional charges</c:v>
                </c:pt>
                <c:pt idx="3">
                  <c:v>Consultant Fees</c:v>
                </c:pt>
                <c:pt idx="4">
                  <c:v>Insurance Expenses</c:v>
                </c:pt>
                <c:pt idx="5">
                  <c:v>Cheque Book Charges</c:v>
                </c:pt>
                <c:pt idx="6">
                  <c:v>TELEPHONE CHARGES A/C</c:v>
                </c:pt>
                <c:pt idx="7">
                  <c:v>TRAVELLING EXPENSES A/C</c:v>
                </c:pt>
                <c:pt idx="8">
                  <c:v>Bank Charges</c:v>
                </c:pt>
                <c:pt idx="9">
                  <c:v>ERP Maintenance A/C</c:v>
                </c:pt>
                <c:pt idx="10">
                  <c:v>Motor Vehicle Depreciation</c:v>
                </c:pt>
                <c:pt idx="11">
                  <c:v>PRINTING &amp; STATIONERY</c:v>
                </c:pt>
                <c:pt idx="12">
                  <c:v>Workman Compensation Insurance</c:v>
                </c:pt>
                <c:pt idx="13">
                  <c:v>VEHICAL MAINTENANCE A/C</c:v>
                </c:pt>
                <c:pt idx="14">
                  <c:v>Domain Expenses</c:v>
                </c:pt>
                <c:pt idx="15">
                  <c:v>E MAIL CHARGES A/C</c:v>
                </c:pt>
              </c:strCache>
            </c:strRef>
          </c:cat>
          <c:val>
            <c:numRef>
              <c:f>'[DT Analysis.xlsx]Opex'!$J$5:$J$20</c:f>
              <c:numCache>
                <c:formatCode>_ * #,##0.00_ ;_ * \-#,##0.00_ ;_ * "-"??_ ;_ @_ </c:formatCode>
                <c:ptCount val="16"/>
                <c:pt idx="0">
                  <c:v>437344</c:v>
                </c:pt>
                <c:pt idx="1">
                  <c:v>90000</c:v>
                </c:pt>
                <c:pt idx="2">
                  <c:v>40307.14</c:v>
                </c:pt>
                <c:pt idx="3">
                  <c:v>40000</c:v>
                </c:pt>
                <c:pt idx="4">
                  <c:v>17580.57</c:v>
                </c:pt>
                <c:pt idx="5">
                  <c:v>7000</c:v>
                </c:pt>
                <c:pt idx="6">
                  <c:v>4988.45</c:v>
                </c:pt>
                <c:pt idx="7">
                  <c:v>4350</c:v>
                </c:pt>
                <c:pt idx="8">
                  <c:v>1550</c:v>
                </c:pt>
                <c:pt idx="9">
                  <c:v>952.38</c:v>
                </c:pt>
                <c:pt idx="10">
                  <c:v>580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-699.17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0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Calibri" panose="020F050202020403020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25587005467996"/>
          <c:y val="0.054904513888888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5163846284453"/>
          <c:y val="0.0303466129728175"/>
          <c:w val="0.93632916407267"/>
          <c:h val="0.610815475334388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'[DT Analysis.xlsx]Opex'!$I$23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'[DT Analysis.xlsx]Opex'!$H$24:$H$27</c:f>
              <c:strCache>
                <c:ptCount val="4"/>
                <c:pt idx="0">
                  <c:v>DIESAL &amp; PETROL A/C</c:v>
                </c:pt>
                <c:pt idx="1">
                  <c:v>TENDER CHARGES A/C</c:v>
                </c:pt>
                <c:pt idx="2">
                  <c:v>BUSINESS PROMOTION A/C</c:v>
                </c:pt>
                <c:pt idx="3">
                  <c:v>ADVERTISMENT</c:v>
                </c:pt>
              </c:strCache>
            </c:strRef>
          </c:cat>
          <c:val>
            <c:numRef>
              <c:f>'[DT Analysis.xlsx]Opex'!$I$24:$I$27</c:f>
              <c:numCache>
                <c:formatCode>_ * #,##0.00_ ;_ * \-#,##0.00_ ;_ * "-"??_ ;_ @_ </c:formatCode>
                <c:ptCount val="4"/>
                <c:pt idx="0">
                  <c:v>17915</c:v>
                </c:pt>
                <c:pt idx="1">
                  <c:v>0</c:v>
                </c:pt>
                <c:pt idx="2">
                  <c:v>13200</c:v>
                </c:pt>
                <c:pt idx="3">
                  <c:v>0</c:v>
                </c:pt>
              </c:numCache>
            </c:numRef>
          </c:val>
        </c:ser>
        <c:ser>
          <c:idx val="0"/>
          <c:order val="1"/>
          <c:tx>
            <c:strRef>
              <c:f>'[DT Analysis.xlsx]Opex'!$J$23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'[DT Analysis.xlsx]Opex'!$H$24:$H$27</c:f>
              <c:strCache>
                <c:ptCount val="4"/>
                <c:pt idx="0">
                  <c:v>DIESAL &amp; PETROL A/C</c:v>
                </c:pt>
                <c:pt idx="1">
                  <c:v>TENDER CHARGES A/C</c:v>
                </c:pt>
                <c:pt idx="2">
                  <c:v>BUSINESS PROMOTION A/C</c:v>
                </c:pt>
                <c:pt idx="3">
                  <c:v>ADVERTISMENT</c:v>
                </c:pt>
              </c:strCache>
            </c:strRef>
          </c:cat>
          <c:val>
            <c:numRef>
              <c:f>'[DT Analysis.xlsx]Opex'!$J$24:$J$27</c:f>
              <c:numCache>
                <c:formatCode>_ * #,##0.00_ ;_ * \-#,##0.00_ ;_ * "-"??_ ;_ @_ </c:formatCode>
                <c:ptCount val="4"/>
                <c:pt idx="0">
                  <c:v>13995</c:v>
                </c:pt>
                <c:pt idx="1">
                  <c:v>5000</c:v>
                </c:pt>
                <c:pt idx="2">
                  <c:v>1880</c:v>
                </c:pt>
                <c:pt idx="3">
                  <c:v>1007.3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0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Calibri" panose="020F050202020403020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25587005467996"/>
          <c:y val="0.054904513888888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51402776984172"/>
          <c:y val="0.0446388847693905"/>
          <c:w val="0.936346494486029"/>
          <c:h val="0.610855702209699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'[DT Analysis.xlsx]Opex'!$I$35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'[DT Analysis.xlsx]Opex'!$H$36:$H$42</c:f>
              <c:strCache>
                <c:ptCount val="7"/>
                <c:pt idx="0">
                  <c:v>STAFF SALARIES</c:v>
                </c:pt>
                <c:pt idx="1">
                  <c:v>Allowance</c:v>
                </c:pt>
                <c:pt idx="2">
                  <c:v>MOTER VEHICAL ALLOWANCE</c:v>
                </c:pt>
                <c:pt idx="3">
                  <c:v>Employee Provident Fund-12%</c:v>
                </c:pt>
                <c:pt idx="4">
                  <c:v>TRANSPORT ALLOWANCE</c:v>
                </c:pt>
                <c:pt idx="5">
                  <c:v>Employee Trust Fund-3%</c:v>
                </c:pt>
                <c:pt idx="6">
                  <c:v>TELEPHONE ALLOWANCE</c:v>
                </c:pt>
              </c:strCache>
            </c:strRef>
          </c:cat>
          <c:val>
            <c:numRef>
              <c:f>'[DT Analysis.xlsx]Opex'!$I$36:$I$42</c:f>
              <c:numCache>
                <c:formatCode>_ * #,##0.00_ ;_ * \-#,##0.00_ ;_ * "-"??_ ;_ @_ </c:formatCode>
                <c:ptCount val="7"/>
                <c:pt idx="0">
                  <c:v>171496.89</c:v>
                </c:pt>
                <c:pt idx="1">
                  <c:v>37200</c:v>
                </c:pt>
                <c:pt idx="2">
                  <c:v>21000</c:v>
                </c:pt>
                <c:pt idx="3">
                  <c:v>20579.63</c:v>
                </c:pt>
                <c:pt idx="4">
                  <c:v>10000</c:v>
                </c:pt>
                <c:pt idx="5">
                  <c:v>5144.91</c:v>
                </c:pt>
                <c:pt idx="6">
                  <c:v>0</c:v>
                </c:pt>
              </c:numCache>
            </c:numRef>
          </c:val>
        </c:ser>
        <c:ser>
          <c:idx val="0"/>
          <c:order val="1"/>
          <c:tx>
            <c:strRef>
              <c:f>'[DT Analysis.xlsx]Opex'!$J$35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'[DT Analysis.xlsx]Opex'!$H$36:$H$42</c:f>
              <c:strCache>
                <c:ptCount val="7"/>
                <c:pt idx="0">
                  <c:v>STAFF SALARIES</c:v>
                </c:pt>
                <c:pt idx="1">
                  <c:v>Allowance</c:v>
                </c:pt>
                <c:pt idx="2">
                  <c:v>MOTER VEHICAL ALLOWANCE</c:v>
                </c:pt>
                <c:pt idx="3">
                  <c:v>Employee Provident Fund-12%</c:v>
                </c:pt>
                <c:pt idx="4">
                  <c:v>TRANSPORT ALLOWANCE</c:v>
                </c:pt>
                <c:pt idx="5">
                  <c:v>Employee Trust Fund-3%</c:v>
                </c:pt>
                <c:pt idx="6">
                  <c:v>TELEPHONE ALLOWANCE</c:v>
                </c:pt>
              </c:strCache>
            </c:strRef>
          </c:cat>
          <c:val>
            <c:numRef>
              <c:f>'[DT Analysis.xlsx]Opex'!$J$36:$J$42</c:f>
              <c:numCache>
                <c:formatCode>_ * #,##0.00_ ;_ * \-#,##0.00_ ;_ * "-"??_ ;_ @_ </c:formatCode>
                <c:ptCount val="7"/>
                <c:pt idx="0">
                  <c:v>164576.03</c:v>
                </c:pt>
                <c:pt idx="1">
                  <c:v>0</c:v>
                </c:pt>
                <c:pt idx="2">
                  <c:v>40000</c:v>
                </c:pt>
                <c:pt idx="3">
                  <c:v>19749.12</c:v>
                </c:pt>
                <c:pt idx="4">
                  <c:v>5000</c:v>
                </c:pt>
                <c:pt idx="5">
                  <c:v>4937.28</c:v>
                </c:pt>
                <c:pt idx="6">
                  <c:v>2200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0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Calibri" panose="020F050202020403020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25587005467996"/>
          <c:y val="0.054904513888888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40693845735511"/>
          <c:y val="0.0162933868331545"/>
          <c:w val="0.936346494486029"/>
          <c:h val="0.610855702209699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'[DT Analysis.xlsx]Opex'!$I$49</c:f>
              <c:strCache>
                <c:ptCount val="1"/>
                <c:pt idx="0">
                  <c:v>Sep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'[DT Analysis.xlsx]Opex'!$H$50:$H$51</c:f>
              <c:strCache>
                <c:ptCount val="2"/>
                <c:pt idx="0">
                  <c:v>IMPORT LOAN INTEREST HNB</c:v>
                </c:pt>
                <c:pt idx="1">
                  <c:v>OD INTEREST</c:v>
                </c:pt>
              </c:strCache>
            </c:strRef>
          </c:cat>
          <c:val>
            <c:numRef>
              <c:f>'[DT Analysis.xlsx]Opex'!$I$50:$I$51</c:f>
              <c:numCache>
                <c:formatCode>_ * #,##0.00_ ;_ * \-#,##0.00_ ;_ * "-"??_ ;_ @_ </c:formatCode>
                <c:ptCount val="2"/>
                <c:pt idx="0">
                  <c:v>128001.61</c:v>
                </c:pt>
                <c:pt idx="1">
                  <c:v>35629.95</c:v>
                </c:pt>
              </c:numCache>
            </c:numRef>
          </c:val>
        </c:ser>
        <c:ser>
          <c:idx val="0"/>
          <c:order val="1"/>
          <c:tx>
            <c:strRef>
              <c:f>'[DT Analysis.xlsx]Opex'!$J$49</c:f>
              <c:strCache>
                <c:ptCount val="1"/>
                <c:pt idx="0">
                  <c:v>Oct</c:v>
                </c:pt>
              </c:strCache>
            </c:strRef>
          </c:tx>
          <c:spPr>
            <a:gradFill>
              <a:gsLst>
                <a:gs pos="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'[DT Analysis.xlsx]Opex'!$H$50:$H$51</c:f>
              <c:strCache>
                <c:ptCount val="2"/>
                <c:pt idx="0">
                  <c:v>IMPORT LOAN INTEREST HNB</c:v>
                </c:pt>
                <c:pt idx="1">
                  <c:v>OD INTEREST</c:v>
                </c:pt>
              </c:strCache>
            </c:strRef>
          </c:cat>
          <c:val>
            <c:numRef>
              <c:f>'[DT Analysis.xlsx]Opex'!$J$50:$J$51</c:f>
              <c:numCache>
                <c:formatCode>_ * #,##0.00_ ;_ * \-#,##0.00_ ;_ * "-"??_ ;_ @_ </c:formatCode>
                <c:ptCount val="2"/>
                <c:pt idx="0">
                  <c:v>220719.3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0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Calibri" panose="020F050202020403020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823258386168854"/>
          <c:y val="0.051997939494425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-540000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1430" y="4669790"/>
            <a:ext cx="12207240" cy="2186305"/>
          </a:xfrm>
          <a:solidFill>
            <a:schemeClr val="accent5">
              <a:lumMod val="50000"/>
            </a:schemeClr>
          </a:solidFill>
        </p:spPr>
        <p:txBody>
          <a:bodyPr>
            <a:normAutofit/>
          </a:bodyPr>
          <a:p>
            <a:pPr marL="0" indent="0" algn="ctr">
              <a:buNone/>
            </a:pPr>
            <a:endParaRPr lang="en-US" sz="54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400">
                <a:solidFill>
                  <a:schemeClr val="bg1"/>
                </a:solidFill>
              </a:rPr>
              <a:t>Analysis Update -</a:t>
            </a:r>
            <a:r>
              <a:rPr lang="en-US" sz="5400">
                <a:solidFill>
                  <a:schemeClr val="bg1"/>
                </a:solidFill>
                <a:sym typeface="+mn-ea"/>
              </a:rPr>
              <a:t>31/10/2024</a:t>
            </a:r>
            <a:endParaRPr lang="en-US" sz="5400">
              <a:solidFill>
                <a:schemeClr val="bg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-11430" y="4558030"/>
            <a:ext cx="12206605" cy="2159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lum bright="-48000"/>
          </a:blip>
          <a:stretch>
            <a:fillRect/>
          </a:stretch>
        </p:blipFill>
        <p:spPr>
          <a:xfrm>
            <a:off x="-5715" y="-31750"/>
            <a:ext cx="12200890" cy="4701540"/>
          </a:xfrm>
          <a:prstGeom prst="rect">
            <a:avLst/>
          </a:prstGeom>
        </p:spPr>
      </p:pic>
      <p:pic>
        <p:nvPicPr>
          <p:cNvPr id="8" name="Picture 7" descr="images-removebg-preview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895" y="107950"/>
            <a:ext cx="2002790" cy="671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-19050" y="893445"/>
            <a:ext cx="12229465" cy="177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21615" y="103505"/>
            <a:ext cx="9144000" cy="833120"/>
          </a:xfrm>
        </p:spPr>
        <p:txBody>
          <a:bodyPr>
            <a:normAutofit fontScale="90000"/>
          </a:bodyPr>
          <a:p>
            <a:pPr algn="l"/>
            <a:r>
              <a:rPr lang="en-US" b="1">
                <a:solidFill>
                  <a:schemeClr val="accent2"/>
                </a:solidFill>
                <a:sym typeface="+mn-ea"/>
              </a:rPr>
              <a:t>P&amp;L - Overall Performance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19050" y="893445"/>
            <a:ext cx="5641975" cy="101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Chart 2"/>
          <p:cNvGraphicFramePr/>
          <p:nvPr/>
        </p:nvGraphicFramePr>
        <p:xfrm>
          <a:off x="462280" y="1148080"/>
          <a:ext cx="11322050" cy="529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Rectangle 3"/>
          <p:cNvSpPr/>
          <p:nvPr/>
        </p:nvSpPr>
        <p:spPr>
          <a:xfrm>
            <a:off x="4987290" y="4191635"/>
            <a:ext cx="5861685" cy="3937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8" name="Picture 7" descr="images-removebg-preview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480" y="146050"/>
            <a:ext cx="1767205" cy="592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-19050" y="893445"/>
            <a:ext cx="12229465" cy="177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21615" y="103505"/>
            <a:ext cx="9144000" cy="833120"/>
          </a:xfrm>
        </p:spPr>
        <p:txBody>
          <a:bodyPr>
            <a:normAutofit fontScale="90000"/>
          </a:bodyPr>
          <a:p>
            <a:pPr algn="l"/>
            <a:r>
              <a:rPr lang="en-US" b="1">
                <a:solidFill>
                  <a:schemeClr val="accent2"/>
                </a:solidFill>
                <a:sym typeface="+mn-ea"/>
              </a:rPr>
              <a:t>P&amp;L - Revenue and Profit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19050" y="893445"/>
            <a:ext cx="5641975" cy="101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Picture 7" descr="images-removebg-preview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480" y="146050"/>
            <a:ext cx="1767205" cy="592455"/>
          </a:xfrm>
          <a:prstGeom prst="rect">
            <a:avLst/>
          </a:prstGeom>
        </p:spPr>
      </p:pic>
      <p:graphicFrame>
        <p:nvGraphicFramePr>
          <p:cNvPr id="5" name="Chart 4"/>
          <p:cNvGraphicFramePr/>
          <p:nvPr/>
        </p:nvGraphicFramePr>
        <p:xfrm>
          <a:off x="499745" y="1082040"/>
          <a:ext cx="10727055" cy="51066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-19050" y="893445"/>
            <a:ext cx="12229465" cy="177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21615" y="103505"/>
            <a:ext cx="9144000" cy="833120"/>
          </a:xfrm>
        </p:spPr>
        <p:txBody>
          <a:bodyPr>
            <a:normAutofit fontScale="90000"/>
          </a:bodyPr>
          <a:p>
            <a:pPr algn="l"/>
            <a:r>
              <a:rPr lang="en-US" b="1">
                <a:solidFill>
                  <a:schemeClr val="accent2"/>
                </a:solidFill>
                <a:sym typeface="+mn-ea"/>
              </a:rPr>
              <a:t>P&amp;L - Revenue Performance</a:t>
            </a:r>
            <a:endParaRPr lang="en-US" b="1">
              <a:solidFill>
                <a:schemeClr val="accent2"/>
              </a:solidFill>
              <a:sym typeface="+mn-ea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19050" y="893445"/>
            <a:ext cx="5641975" cy="101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/>
          <p:nvPr/>
        </p:nvGraphicFramePr>
        <p:xfrm>
          <a:off x="286385" y="1078865"/>
          <a:ext cx="1153287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925"/>
                <a:gridCol w="2967355"/>
                <a:gridCol w="2248535"/>
                <a:gridCol w="2726055"/>
              </a:tblGrid>
              <a:tr h="25908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Sep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63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% of Revenue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Growth%(Sep-Oct)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% of Revenue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Revenue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104.3%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Sales Income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97.00%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20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98.35%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Service Income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3.00%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20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0.92%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Inter SBU Income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-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20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0.74%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s-removebg-preview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480" y="146050"/>
            <a:ext cx="1767205" cy="592455"/>
          </a:xfrm>
          <a:prstGeom prst="rect">
            <a:avLst/>
          </a:prstGeom>
        </p:spPr>
      </p:pic>
      <p:graphicFrame>
        <p:nvGraphicFramePr>
          <p:cNvPr id="2" name="Chart 1"/>
          <p:cNvGraphicFramePr/>
          <p:nvPr/>
        </p:nvGraphicFramePr>
        <p:xfrm>
          <a:off x="318770" y="3515360"/>
          <a:ext cx="11468735" cy="3044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COGS </a:t>
            </a:r>
            <a:r>
              <a:rPr lang="en-US" b="1">
                <a:solidFill>
                  <a:schemeClr val="accent2"/>
                </a:solidFill>
                <a:sym typeface="+mn-ea"/>
              </a:rPr>
              <a:t>Performance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/>
          <p:cNvGraphicFramePr/>
          <p:nvPr/>
        </p:nvGraphicFramePr>
        <p:xfrm>
          <a:off x="255270" y="1066165"/>
          <a:ext cx="11716385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4575"/>
                <a:gridCol w="1331595"/>
                <a:gridCol w="1597660"/>
                <a:gridCol w="1330960"/>
                <a:gridCol w="1331595"/>
              </a:tblGrid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% Of Revenue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% of Revenue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Sales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11,764,444.4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4E78"/>
                          </a:solidFill>
                          <a:latin typeface="Calibri" panose="020F0502020204030204" charset="0"/>
                        </a:rPr>
                        <a:t>78.2%</a:t>
                      </a: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25,096,804.1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4E78"/>
                          </a:solidFill>
                          <a:latin typeface="Calibri" panose="020F0502020204030204" charset="0"/>
                        </a:rPr>
                        <a:t>81.6%</a:t>
                      </a: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Sale-General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11,654,301.69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4E78"/>
                          </a:solidFill>
                          <a:latin typeface="Calibri" panose="020F0502020204030204" charset="0"/>
                        </a:rPr>
                        <a:t>77.46%</a:t>
                      </a: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25,003,609.8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4E78"/>
                          </a:solidFill>
                          <a:latin typeface="Calibri" panose="020F0502020204030204" charset="0"/>
                        </a:rPr>
                        <a:t>81.32%</a:t>
                      </a: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Service Income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101,624.82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4E78"/>
                          </a:solidFill>
                          <a:latin typeface="Calibri" panose="020F0502020204030204" charset="0"/>
                        </a:rPr>
                        <a:t>0.68%</a:t>
                      </a: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93,194.21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4E78"/>
                          </a:solidFill>
                          <a:latin typeface="Calibri" panose="020F0502020204030204" charset="0"/>
                        </a:rPr>
                        <a:t>0.30%</a:t>
                      </a: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Inventory Consumption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7,900.00</a:t>
                      </a: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4E78"/>
                          </a:solidFill>
                          <a:latin typeface="Calibri" panose="020F0502020204030204" charset="0"/>
                        </a:rPr>
                        <a:t>0.05%</a:t>
                      </a: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Import Purchase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617.92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1F4E78"/>
                          </a:solidFill>
                          <a:latin typeface="Calibri" panose="020F0502020204030204" charset="0"/>
                        </a:rPr>
                        <a:t>0.004%</a:t>
                      </a: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400" b="1">
                        <a:solidFill>
                          <a:srgbClr val="1F4E78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s-removebg-preview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480" y="146050"/>
            <a:ext cx="1767205" cy="592455"/>
          </a:xfrm>
          <a:prstGeom prst="rect">
            <a:avLst/>
          </a:prstGeom>
        </p:spPr>
      </p:pic>
      <p:graphicFrame>
        <p:nvGraphicFramePr>
          <p:cNvPr id="19" name="Chart 18"/>
          <p:cNvGraphicFramePr/>
          <p:nvPr/>
        </p:nvGraphicFramePr>
        <p:xfrm>
          <a:off x="255270" y="3108325"/>
          <a:ext cx="11597640" cy="34055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KPIs (OPEX)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/>
          <p:cNvGraphicFramePr/>
          <p:nvPr/>
        </p:nvGraphicFramePr>
        <p:xfrm>
          <a:off x="610870" y="1327150"/>
          <a:ext cx="10693400" cy="4712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3890"/>
                <a:gridCol w="1291590"/>
                <a:gridCol w="1734185"/>
                <a:gridCol w="1574800"/>
                <a:gridCol w="1638935"/>
              </a:tblGrid>
              <a:tr h="6915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153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Administrative Expenses (% of Revenue)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677,340.1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4.5%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643,953.4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2.09%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56070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1.Insurance Expenses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31,340.0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0.21%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17,580.6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0.06%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2.Other Administration Expenses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646,000.1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4.29%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625,792.8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2.04%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940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3.Depreciation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-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580.0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0.002%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Selling &amp; Distribution Cost (% of Revenue)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31,115.0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0.21%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21,882.3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0.07%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5518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Employee Cost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265,421.4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1.76%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236,462.4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0.77%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5530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Finance Cost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163,631.6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1.09%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220,719.3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0.72%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s-removebg-preview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480" y="146050"/>
            <a:ext cx="1767205" cy="592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Straight Connector 3"/>
          <p:cNvCxnSpPr/>
          <p:nvPr/>
        </p:nvCxnSpPr>
        <p:spPr>
          <a:xfrm>
            <a:off x="-10160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19075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(Administration Expenses)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-34290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/>
          <p:nvPr/>
        </p:nvGraphicFramePr>
        <p:xfrm>
          <a:off x="1949450" y="1170305"/>
          <a:ext cx="11085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990"/>
                <a:gridCol w="1391285"/>
                <a:gridCol w="839470"/>
                <a:gridCol w="1092835"/>
                <a:gridCol w="124015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sym typeface="+mn-ea"/>
                        </a:rPr>
                        <a:t>Administration Expenses</a:t>
                      </a:r>
                      <a:endParaRPr lang="en-US" sz="20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4.5%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2.09%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" name="Picture 2" descr="images-removebg-preview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480" y="146050"/>
            <a:ext cx="1767205" cy="592455"/>
          </a:xfrm>
          <a:prstGeom prst="rect">
            <a:avLst/>
          </a:prstGeom>
        </p:spPr>
      </p:pic>
      <p:graphicFrame>
        <p:nvGraphicFramePr>
          <p:cNvPr id="7" name="Chart 6"/>
          <p:cNvGraphicFramePr/>
          <p:nvPr/>
        </p:nvGraphicFramePr>
        <p:xfrm>
          <a:off x="532765" y="1819910"/>
          <a:ext cx="11424285" cy="4680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Straight Connector 3"/>
          <p:cNvCxnSpPr/>
          <p:nvPr/>
        </p:nvCxnSpPr>
        <p:spPr>
          <a:xfrm>
            <a:off x="-10160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19075" y="103505"/>
            <a:ext cx="9110345" cy="833120"/>
          </a:xfrm>
        </p:spPr>
        <p:txBody>
          <a:bodyPr>
            <a:normAutofit fontScale="90000"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(Selling and Distributions Expenses)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-34290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/>
          <p:nvPr/>
        </p:nvGraphicFramePr>
        <p:xfrm>
          <a:off x="694690" y="1170305"/>
          <a:ext cx="107569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7210"/>
                <a:gridCol w="1953260"/>
                <a:gridCol w="1179830"/>
                <a:gridCol w="1534795"/>
                <a:gridCol w="174180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/>
                        <a:t>Selling and Distributions Expenses</a:t>
                      </a:r>
                      <a:endParaRPr lang="en-US" sz="200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0.21%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0.07%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s-removebg-preview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480" y="146050"/>
            <a:ext cx="1767205" cy="592455"/>
          </a:xfrm>
          <a:prstGeom prst="rect">
            <a:avLst/>
          </a:prstGeom>
        </p:spPr>
      </p:pic>
      <p:graphicFrame>
        <p:nvGraphicFramePr>
          <p:cNvPr id="3" name="Chart 2"/>
          <p:cNvGraphicFramePr/>
          <p:nvPr/>
        </p:nvGraphicFramePr>
        <p:xfrm>
          <a:off x="612775" y="1899920"/>
          <a:ext cx="11219815" cy="4415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Straight Connector 3"/>
          <p:cNvCxnSpPr/>
          <p:nvPr/>
        </p:nvCxnSpPr>
        <p:spPr>
          <a:xfrm>
            <a:off x="-10160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19075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(Employee Cost)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-34290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/>
          <p:nvPr/>
        </p:nvGraphicFramePr>
        <p:xfrm>
          <a:off x="694690" y="1170305"/>
          <a:ext cx="107569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7210"/>
                <a:gridCol w="1953260"/>
                <a:gridCol w="1179830"/>
                <a:gridCol w="1534795"/>
                <a:gridCol w="174180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sym typeface="+mn-ea"/>
                        </a:rPr>
                        <a:t>Employee Cost</a:t>
                      </a:r>
                      <a:endParaRPr lang="en-US" sz="20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1.76%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0.77%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s-removebg-preview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480" y="146050"/>
            <a:ext cx="1767205" cy="592455"/>
          </a:xfrm>
          <a:prstGeom prst="rect">
            <a:avLst/>
          </a:prstGeom>
        </p:spPr>
      </p:pic>
      <p:graphicFrame>
        <p:nvGraphicFramePr>
          <p:cNvPr id="9" name="Chart 8"/>
          <p:cNvGraphicFramePr/>
          <p:nvPr/>
        </p:nvGraphicFramePr>
        <p:xfrm>
          <a:off x="544830" y="1872615"/>
          <a:ext cx="11292205" cy="44811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Straight Connector 3"/>
          <p:cNvCxnSpPr/>
          <p:nvPr/>
        </p:nvCxnSpPr>
        <p:spPr>
          <a:xfrm>
            <a:off x="-10160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19075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(Finance</a:t>
            </a:r>
            <a:r>
              <a:rPr lang="en-US" sz="3600" b="1">
                <a:solidFill>
                  <a:schemeClr val="accent2"/>
                </a:solidFill>
              </a:rPr>
              <a:t> Cost)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-34290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/>
          <p:nvPr/>
        </p:nvGraphicFramePr>
        <p:xfrm>
          <a:off x="694690" y="1170305"/>
          <a:ext cx="107569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7210"/>
                <a:gridCol w="1953260"/>
                <a:gridCol w="1179830"/>
                <a:gridCol w="1534795"/>
                <a:gridCol w="174180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sym typeface="+mn-ea"/>
                        </a:rPr>
                        <a:t>Finance Cost</a:t>
                      </a:r>
                      <a:endParaRPr lang="en-US" sz="20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1.09%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0.72%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s-removebg-preview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480" y="146050"/>
            <a:ext cx="1767205" cy="592455"/>
          </a:xfrm>
          <a:prstGeom prst="rect">
            <a:avLst/>
          </a:prstGeom>
        </p:spPr>
      </p:pic>
      <p:graphicFrame>
        <p:nvGraphicFramePr>
          <p:cNvPr id="10" name="Chart 9"/>
          <p:cNvGraphicFramePr/>
          <p:nvPr/>
        </p:nvGraphicFramePr>
        <p:xfrm>
          <a:off x="572135" y="1833245"/>
          <a:ext cx="11180445" cy="4587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5651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8575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Overall Variation (Sep-Oct)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3238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Picture 7" descr="images-removebg-preview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480" y="146050"/>
            <a:ext cx="1767205" cy="59245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10" y="1233805"/>
            <a:ext cx="10650855" cy="4323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Summary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/>
          <p:nvPr/>
        </p:nvGraphicFramePr>
        <p:xfrm>
          <a:off x="522605" y="1162685"/>
          <a:ext cx="10940415" cy="5495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7290"/>
                <a:gridCol w="2082165"/>
                <a:gridCol w="1704340"/>
                <a:gridCol w="1927860"/>
                <a:gridCol w="1508760"/>
              </a:tblGrid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152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Revenue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15,046,011.25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Revenue Growth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104.3%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</a:t>
                      </a: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30,746,457.99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4191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Cost of Sale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11,764,444.43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78.2%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25,096,804.08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81.6%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Gross Profit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3,281,566.82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24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5,649,653.91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24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Administrative Expenses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677,340.12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4.5%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643,953.37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2.09%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1.Insurance Expenses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31,340.01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0.21%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17,580.57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0.06%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2.Other Administration Expenses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646,000.11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4.29%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625,792.80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2.04%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3.Depreciation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580.00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0.002%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Selling and Distributions Expenses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31,115.00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0.21%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21,882.30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0.07%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Employee Cost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265,421.43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1.76%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236,462.43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0.77%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Finance Cost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163,631.56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1.09%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220,719.30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0.72%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Profit Before Tax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</a:t>
                      </a: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2,347,815.13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15.6%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5,802,025.11 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charset="0"/>
                        </a:rPr>
                        <a:t>18.87%</a:t>
                      </a:r>
                      <a:endParaRPr lang="en-US" sz="1600" b="1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s-removebg-preview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480" y="146050"/>
            <a:ext cx="1767205" cy="5924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1430" y="4669790"/>
            <a:ext cx="12207240" cy="2186305"/>
          </a:xfrm>
          <a:solidFill>
            <a:schemeClr val="accent5">
              <a:lumMod val="50000"/>
            </a:schemeClr>
          </a:solidFill>
        </p:spPr>
        <p:txBody>
          <a:bodyPr>
            <a:normAutofit/>
          </a:bodyPr>
          <a:p>
            <a:pPr marL="0" indent="0" algn="ctr">
              <a:buNone/>
            </a:pPr>
            <a:endParaRPr lang="en-US" sz="54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400">
                <a:solidFill>
                  <a:schemeClr val="bg1"/>
                </a:solidFill>
              </a:rPr>
              <a:t>Analysis Update -31/10/2024</a:t>
            </a:r>
            <a:endParaRPr lang="en-US" sz="5400">
              <a:solidFill>
                <a:schemeClr val="bg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-11430" y="4558030"/>
            <a:ext cx="12206605" cy="2159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Content Placeholder 2"/>
          <p:cNvSpPr>
            <a:spLocks noGrp="1"/>
          </p:cNvSpPr>
          <p:nvPr/>
        </p:nvSpPr>
        <p:spPr>
          <a:xfrm>
            <a:off x="2400300" y="3407410"/>
            <a:ext cx="7383145" cy="83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50000"/>
                  </a:schemeClr>
                </a:solidFill>
              </a14:hiddenFill>
            </a:ext>
          </a:extLst>
        </p:spPr>
        <p:txBody>
          <a:bodyPr vert="horz" lIns="91440" tIns="45720" rIns="91440" bIns="45720" rtlCol="0">
            <a:normAutofit fontScale="90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400">
                <a:solidFill>
                  <a:schemeClr val="accent1">
                    <a:lumMod val="50000"/>
                  </a:schemeClr>
                </a:solidFill>
              </a:rPr>
              <a:t>THANK YOU!</a:t>
            </a:r>
            <a:endParaRPr lang="en-US" sz="540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Picture 4" descr="images-removebg-preview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0795" y="751205"/>
            <a:ext cx="7514590" cy="25184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1998</Words>
  <Application>WPS Presentation</Application>
  <PresentationFormat>Widescreen</PresentationFormat>
  <Paragraphs>362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Office Theme</vt:lpstr>
      <vt:lpstr>PowerPoint 演示文稿</vt:lpstr>
      <vt:lpstr>P&amp;L - Overall Performance</vt:lpstr>
      <vt:lpstr>P&amp;L - Revenue and Profit</vt:lpstr>
      <vt:lpstr>P&amp;L - Revenue Performance</vt:lpstr>
      <vt:lpstr>P&amp;L - COGS Performance</vt:lpstr>
      <vt:lpstr>P&amp;L - KPIs (OPEX)</vt:lpstr>
      <vt:lpstr>P&amp;L - OPEX (Administration Expenses)</vt:lpstr>
      <vt:lpstr>P&amp;L - OPEX (Selling and Distributions Expenses)</vt:lpstr>
      <vt:lpstr>P&amp;L - OPEX (Employee Cost)</vt:lpstr>
      <vt:lpstr>P&amp;L - OPEX (Finance Cost)</vt:lpstr>
      <vt:lpstr>P&amp;L - Overall Variation (Sep-Oct)</vt:lpstr>
      <vt:lpstr>P&amp;L - Summary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WPP Presentation</dc:title>
  <dc:creator>User</dc:creator>
  <cp:lastModifiedBy>User</cp:lastModifiedBy>
  <cp:revision>27</cp:revision>
  <dcterms:created xsi:type="dcterms:W3CDTF">2024-12-09T04:57:00Z</dcterms:created>
  <dcterms:modified xsi:type="dcterms:W3CDTF">2024-12-13T10:36:45Z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1033-10.2.0.7480</vt:lpwstr>
  </property>
</Properties>
</file>