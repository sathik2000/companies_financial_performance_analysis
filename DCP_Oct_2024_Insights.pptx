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56" r:id="rId4"/>
    <p:sldId id="268" r:id="rId5"/>
    <p:sldId id="267" r:id="rId6"/>
    <p:sldId id="258" r:id="rId7"/>
    <p:sldId id="260" r:id="rId8"/>
    <p:sldId id="262" r:id="rId9"/>
    <p:sldId id="261" r:id="rId10"/>
    <p:sldId id="263" r:id="rId11"/>
    <p:sldId id="264" r:id="rId12"/>
    <p:sldId id="278" r:id="rId14"/>
    <p:sldId id="279" r:id="rId15"/>
    <p:sldId id="280" r:id="rId16"/>
    <p:sldId id="281" r:id="rId17"/>
    <p:sldId id="282" r:id="rId18"/>
    <p:sldId id="283" r:id="rId19"/>
    <p:sldId id="265" r:id="rId20"/>
    <p:sldId id="266" r:id="rId21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\Desktop\Debug\Analysis\DCP\DCP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User\Desktop\Debug\Vihantha\DCP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Debug\Analysis\DCP\DCP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User\Desktop\Debug\Analysis\DCP\DCP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User\Desktop\Debug\Analysis\DCP\DCP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User\Desktop\Debug\Analysis\DCP\DCP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User\Desktop\Debug\Analysis\DCP\DCP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User\Desktop\Debug\Analysis\DCP\DCP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User\Desktop\Debug\Analysis\DCP\DC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80772550712128"/>
          <c:y val="0.0697782963827305"/>
          <c:w val="0.894712990936556"/>
          <c:h val="0.780068746408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'[DCP.xlsx]Overall P&amp;L Analysis'!$C$3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'[DCP.xlsx]Overall P&amp;L Analysis'!$B$4:$B$16</c:f>
              <c:strCache>
                <c:ptCount val="13"/>
                <c:pt idx="0">
                  <c:v>Revenue</c:v>
                </c:pt>
                <c:pt idx="1">
                  <c:v>Cost of sale</c:v>
                </c:pt>
                <c:pt idx="2">
                  <c:v>Gross Profit</c:v>
                </c:pt>
                <c:pt idx="3">
                  <c:v>Other income</c:v>
                </c:pt>
                <c:pt idx="4">
                  <c:v>Administration Expenses</c:v>
                </c:pt>
                <c:pt idx="5">
                  <c:v>Employee Cost</c:v>
                </c:pt>
                <c:pt idx="6">
                  <c:v>Rent Expenses</c:v>
                </c:pt>
                <c:pt idx="7">
                  <c:v>Other Admin Expenses</c:v>
                </c:pt>
                <c:pt idx="8">
                  <c:v>Selling &amp; Distribution Expenses</c:v>
                </c:pt>
                <c:pt idx="9">
                  <c:v>Finance Cost</c:v>
                </c:pt>
                <c:pt idx="10">
                  <c:v>Profit Before Tax Expenses</c:v>
                </c:pt>
                <c:pt idx="11">
                  <c:v>SSCL TAX</c:v>
                </c:pt>
                <c:pt idx="12">
                  <c:v>Profit After Tax Expenses</c:v>
                </c:pt>
              </c:strCache>
            </c:strRef>
          </c:cat>
          <c:val>
            <c:numRef>
              <c:f>'[DCP.xlsx]Overall P&amp;L Analysis'!$C$4:$C$16</c:f>
              <c:numCache>
                <c:formatCode>_ * #,##0.00_ ;_ * \-#,##0.00_ ;_ * "-"??_ ;_ @_ </c:formatCode>
                <c:ptCount val="13"/>
                <c:pt idx="0">
                  <c:v>163837154.5385</c:v>
                </c:pt>
                <c:pt idx="1">
                  <c:v>121567806.239475</c:v>
                </c:pt>
                <c:pt idx="2">
                  <c:v>42269348.299025</c:v>
                </c:pt>
                <c:pt idx="3">
                  <c:v>3355280.832325</c:v>
                </c:pt>
                <c:pt idx="4">
                  <c:v>29653754.8221</c:v>
                </c:pt>
                <c:pt idx="5">
                  <c:v>14238120.4325</c:v>
                </c:pt>
                <c:pt idx="6">
                  <c:v>387000</c:v>
                </c:pt>
                <c:pt idx="7">
                  <c:v>15028634.3896</c:v>
                </c:pt>
                <c:pt idx="8">
                  <c:v>7453881.590625</c:v>
                </c:pt>
                <c:pt idx="9">
                  <c:v>11956323.1133</c:v>
                </c:pt>
                <c:pt idx="10">
                  <c:v>-3439330.394675</c:v>
                </c:pt>
                <c:pt idx="11">
                  <c:v>1794662.9275</c:v>
                </c:pt>
                <c:pt idx="12">
                  <c:v>-5233993.322175</c:v>
                </c:pt>
              </c:numCache>
            </c:numRef>
          </c:val>
        </c:ser>
        <c:ser>
          <c:idx val="1"/>
          <c:order val="1"/>
          <c:tx>
            <c:strRef>
              <c:f>'[DCP.xlsx]Overall P&amp;L Analysis'!$D$3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'[DCP.xlsx]Overall P&amp;L Analysis'!$B$4:$B$16</c:f>
              <c:strCache>
                <c:ptCount val="13"/>
                <c:pt idx="0">
                  <c:v>Revenue</c:v>
                </c:pt>
                <c:pt idx="1">
                  <c:v>Cost of sale</c:v>
                </c:pt>
                <c:pt idx="2">
                  <c:v>Gross Profit</c:v>
                </c:pt>
                <c:pt idx="3">
                  <c:v>Other income</c:v>
                </c:pt>
                <c:pt idx="4">
                  <c:v>Administration Expenses</c:v>
                </c:pt>
                <c:pt idx="5">
                  <c:v>Employee Cost</c:v>
                </c:pt>
                <c:pt idx="6">
                  <c:v>Rent Expenses</c:v>
                </c:pt>
                <c:pt idx="7">
                  <c:v>Other Admin Expenses</c:v>
                </c:pt>
                <c:pt idx="8">
                  <c:v>Selling &amp; Distribution Expenses</c:v>
                </c:pt>
                <c:pt idx="9">
                  <c:v>Finance Cost</c:v>
                </c:pt>
                <c:pt idx="10">
                  <c:v>Profit Before Tax Expenses</c:v>
                </c:pt>
                <c:pt idx="11">
                  <c:v>SSCL TAX</c:v>
                </c:pt>
                <c:pt idx="12">
                  <c:v>Profit After Tax Expenses</c:v>
                </c:pt>
              </c:strCache>
            </c:strRef>
          </c:cat>
          <c:val>
            <c:numRef>
              <c:f>'[DCP.xlsx]Overall P&amp;L Analysis'!$D$4:$D$16</c:f>
              <c:numCache>
                <c:formatCode>General</c:formatCode>
                <c:ptCount val="13"/>
                <c:pt idx="0">
                  <c:v>134527538.9001</c:v>
                </c:pt>
                <c:pt idx="1">
                  <c:v>96483665.1446</c:v>
                </c:pt>
                <c:pt idx="2">
                  <c:v>38043873.7555</c:v>
                </c:pt>
                <c:pt idx="3">
                  <c:v>392391.7934</c:v>
                </c:pt>
                <c:pt idx="4">
                  <c:v>23170384.695</c:v>
                </c:pt>
                <c:pt idx="5">
                  <c:v>11198848.53</c:v>
                </c:pt>
                <c:pt idx="6">
                  <c:v>345200</c:v>
                </c:pt>
                <c:pt idx="7">
                  <c:v>11626336.165</c:v>
                </c:pt>
                <c:pt idx="8">
                  <c:v>5576496.8543</c:v>
                </c:pt>
                <c:pt idx="9">
                  <c:v>8843585.0114</c:v>
                </c:pt>
                <c:pt idx="10">
                  <c:v>845798.98819999</c:v>
                </c:pt>
                <c:pt idx="11">
                  <c:v>1499499.86</c:v>
                </c:pt>
                <c:pt idx="12">
                  <c:v>-653700.871800011</c:v>
                </c:pt>
              </c:numCache>
            </c:numRef>
          </c:val>
        </c:ser>
        <c:ser>
          <c:idx val="2"/>
          <c:order val="2"/>
          <c:tx>
            <c:strRef>
              <c:f>'[DCP.xlsx]Overall P&amp;L Analysis'!$E$3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'[DCP.xlsx]Overall P&amp;L Analysis'!$B$4:$B$16</c:f>
              <c:strCache>
                <c:ptCount val="13"/>
                <c:pt idx="0">
                  <c:v>Revenue</c:v>
                </c:pt>
                <c:pt idx="1">
                  <c:v>Cost of sale</c:v>
                </c:pt>
                <c:pt idx="2">
                  <c:v>Gross Profit</c:v>
                </c:pt>
                <c:pt idx="3">
                  <c:v>Other income</c:v>
                </c:pt>
                <c:pt idx="4">
                  <c:v>Administration Expenses</c:v>
                </c:pt>
                <c:pt idx="5">
                  <c:v>Employee Cost</c:v>
                </c:pt>
                <c:pt idx="6">
                  <c:v>Rent Expenses</c:v>
                </c:pt>
                <c:pt idx="7">
                  <c:v>Other Admin Expenses</c:v>
                </c:pt>
                <c:pt idx="8">
                  <c:v>Selling &amp; Distribution Expenses</c:v>
                </c:pt>
                <c:pt idx="9">
                  <c:v>Finance Cost</c:v>
                </c:pt>
                <c:pt idx="10">
                  <c:v>Profit Before Tax Expenses</c:v>
                </c:pt>
                <c:pt idx="11">
                  <c:v>SSCL TAX</c:v>
                </c:pt>
                <c:pt idx="12">
                  <c:v>Profit After Tax Expenses</c:v>
                </c:pt>
              </c:strCache>
            </c:strRef>
          </c:cat>
          <c:val>
            <c:numRef>
              <c:f>'[DCP.xlsx]Overall P&amp;L Analysis'!$E$4:$E$16</c:f>
              <c:numCache>
                <c:formatCode>General</c:formatCode>
                <c:ptCount val="13"/>
                <c:pt idx="0">
                  <c:v>184530172.1419</c:v>
                </c:pt>
                <c:pt idx="1">
                  <c:v>151616362.6286</c:v>
                </c:pt>
                <c:pt idx="2">
                  <c:v>32913809.5133</c:v>
                </c:pt>
                <c:pt idx="3">
                  <c:v>5561849.8802</c:v>
                </c:pt>
                <c:pt idx="4">
                  <c:v>23602208.6878</c:v>
                </c:pt>
                <c:pt idx="5">
                  <c:v>11565654.95</c:v>
                </c:pt>
                <c:pt idx="6">
                  <c:v>314935</c:v>
                </c:pt>
                <c:pt idx="7">
                  <c:v>11721618.7378</c:v>
                </c:pt>
                <c:pt idx="8">
                  <c:v>6563599.1365</c:v>
                </c:pt>
                <c:pt idx="9">
                  <c:v>11087362.2052</c:v>
                </c:pt>
                <c:pt idx="10">
                  <c:v>-2777510.636</c:v>
                </c:pt>
                <c:pt idx="11">
                  <c:v>2083342.49</c:v>
                </c:pt>
                <c:pt idx="12">
                  <c:v>-4860853.126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86906560207164"/>
          <c:y val="0.019603267211201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6963003831299"/>
          <c:y val="0.104150042959"/>
          <c:w val="0.887246431254696"/>
          <c:h val="0.810940170940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'[DCP.xlsx]2.Revenue and Profit'!$C$2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'[DCP.xlsx]2.Revenue and Profit'!$B$3:$B$6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  <c:pt idx="3">
                  <c:v>Profit After Tax Expenses</c:v>
                </c:pt>
              </c:strCache>
            </c:strRef>
          </c:cat>
          <c:val>
            <c:numRef>
              <c:f>'[DCP.xlsx]2.Revenue and Profit'!$C$3:$C$6</c:f>
              <c:numCache>
                <c:formatCode>General</c:formatCode>
                <c:ptCount val="4"/>
                <c:pt idx="0">
                  <c:v>163837154.5385</c:v>
                </c:pt>
                <c:pt idx="1">
                  <c:v>42269348.299025</c:v>
                </c:pt>
                <c:pt idx="2">
                  <c:v>-3439330.394675</c:v>
                </c:pt>
                <c:pt idx="3">
                  <c:v>-5233993.322175</c:v>
                </c:pt>
              </c:numCache>
            </c:numRef>
          </c:val>
        </c:ser>
        <c:ser>
          <c:idx val="1"/>
          <c:order val="1"/>
          <c:tx>
            <c:strRef>
              <c:f>'[DCP.xlsx]2.Revenue and Profit'!$D$2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'[DCP.xlsx]2.Revenue and Profit'!$B$3:$B$6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  <c:pt idx="3">
                  <c:v>Profit After Tax Expenses</c:v>
                </c:pt>
              </c:strCache>
            </c:strRef>
          </c:cat>
          <c:val>
            <c:numRef>
              <c:f>'[DCP.xlsx]2.Revenue and Profit'!$D$3:$D$6</c:f>
              <c:numCache>
                <c:formatCode>General</c:formatCode>
                <c:ptCount val="4"/>
                <c:pt idx="0">
                  <c:v>134527538.9001</c:v>
                </c:pt>
                <c:pt idx="1">
                  <c:v>38043873.7555</c:v>
                </c:pt>
                <c:pt idx="2">
                  <c:v>845798.98819999</c:v>
                </c:pt>
                <c:pt idx="3">
                  <c:v>-653700.871800011</c:v>
                </c:pt>
              </c:numCache>
            </c:numRef>
          </c:val>
        </c:ser>
        <c:ser>
          <c:idx val="2"/>
          <c:order val="2"/>
          <c:tx>
            <c:strRef>
              <c:f>'[DCP.xlsx]2.Revenue and Profit'!$E$2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'[DCP.xlsx]2.Revenue and Profit'!$B$3:$B$6</c:f>
              <c:strCache>
                <c:ptCount val="4"/>
                <c:pt idx="0">
                  <c:v>Revenue</c:v>
                </c:pt>
                <c:pt idx="1">
                  <c:v>Gross Profit</c:v>
                </c:pt>
                <c:pt idx="2">
                  <c:v>Profit Before Tax</c:v>
                </c:pt>
                <c:pt idx="3">
                  <c:v>Profit After Tax Expenses</c:v>
                </c:pt>
              </c:strCache>
            </c:strRef>
          </c:cat>
          <c:val>
            <c:numRef>
              <c:f>'[DCP.xlsx]2.Revenue and Profit'!$E$3:$E$6</c:f>
              <c:numCache>
                <c:formatCode>General</c:formatCode>
                <c:ptCount val="4"/>
                <c:pt idx="0">
                  <c:v>184530172.1419</c:v>
                </c:pt>
                <c:pt idx="1">
                  <c:v>32913809.5133</c:v>
                </c:pt>
                <c:pt idx="2">
                  <c:v>-2777510.636</c:v>
                </c:pt>
                <c:pt idx="3">
                  <c:v>-4860853.126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9990097"/>
        <c:axId val="688236780"/>
      </c:barChart>
      <c:catAx>
        <c:axId val="80999009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88236780"/>
        <c:crosses val="autoZero"/>
        <c:auto val="1"/>
        <c:lblAlgn val="ctr"/>
        <c:lblOffset val="100"/>
        <c:noMultiLvlLbl val="0"/>
      </c:catAx>
      <c:valAx>
        <c:axId val="688236780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09990097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0.0282382480497067"/>
                <c:y val="0.099564526046184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634281265616453"/>
          <c:y val="0.033023775696920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73271257125263"/>
          <c:y val="0.011119936457506"/>
        </c:manualLayout>
      </c:layout>
      <c:overlay val="0"/>
      <c:spPr>
        <a:noFill/>
        <a:ln>
          <a:noFill/>
        </a:ln>
        <a:effectLst/>
      </c:spPr>
      <c:tx>
        <c:rich>
          <a:bodyPr/>
          <a:lstStyle/>
          <a:p>
            <a:pPr>
              <a:defRPr/>
            </a:pPr>
          </a:p>
        </c:rich>
      </c:tx>
    </c:title>
    <c:autoTitleDeleted val="0"/>
    <c:plotArea>
      <c:layout>
        <c:manualLayout>
          <c:layoutTarget val="inner"/>
          <c:xMode val="edge"/>
          <c:yMode val="edge"/>
          <c:x val="0.071962463855093"/>
          <c:y val="0.0265734265734266"/>
          <c:w val="0.925036826886355"/>
          <c:h val="0.903503903295715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'[DCP.xlsx]Revenue Analysis'!$D$2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'[DCP.xlsx]Revenue Analysis'!$A$3:$A$14</c:f>
              <c:strCache>
                <c:ptCount val="12"/>
                <c:pt idx="0" c:formatCode="_ * #,##0.000_ ;_ * \-#,##0.000_ ;_ * &quot;-&quot;??.0_ ;_ @_ ">
                  <c:v>Total Revenue</c:v>
                </c:pt>
                <c:pt idx="1" c:formatCode="_ * #,##0.000_ ;_ * \-#,##0.000_ ;_ * &quot;-&quot;??.0_ ;_ @_ ">
                  <c:v>Trade Sales - General</c:v>
                </c:pt>
                <c:pt idx="2" c:formatCode="_ * #,##0.000_ ;_ * \-#,##0.000_ ;_ * &quot;-&quot;??.0_ ;_ @_ ">
                  <c:v>Eng - Service Income</c:v>
                </c:pt>
                <c:pt idx="3" c:formatCode="_ * #,##0.000_ ;_ * \-#,##0.000_ ;_ * &quot;-&quot;??.0_ ;_ @_ ">
                  <c:v>Inter SBU Sales</c:v>
                </c:pt>
                <c:pt idx="4" c:formatCode="_ * #,##0.000_ ;_ * \-#,##0.000_ ;_ * &quot;-&quot;??.0_ ;_ @_ ">
                  <c:v>Service Contract Income</c:v>
                </c:pt>
                <c:pt idx="5" c:formatCode="_ * #,##0.000_ ;_ * \-#,##0.000_ ;_ * &quot;-&quot;??.0_ ;_ @_ ">
                  <c:v>Deferred Project Income</c:v>
                </c:pt>
                <c:pt idx="6" c:formatCode="_ * #,##0.000_ ;_ * \-#,##0.000_ ;_ * &quot;-&quot;??.0_ ;_ @_ ">
                  <c:v>Service Income</c:v>
                </c:pt>
                <c:pt idx="7" c:formatCode="_ * #,##0.000_ ;_ * \-#,##0.000_ ;_ * &quot;-&quot;??.0_ ;_ @_ ">
                  <c:v>Project Income</c:v>
                </c:pt>
                <c:pt idx="8" c:formatCode="_ * #,##0.000_ ;_ * \-#,##0.000_ ;_ * &quot;-&quot;??.0_ ;_ @_ ">
                  <c:v>MIS Service Revenue</c:v>
                </c:pt>
                <c:pt idx="9" c:formatCode="_ * #,##0.000_ ;_ * \-#,##0.000_ ;_ * &quot;-&quot;??.0_ ;_ @_ ">
                  <c:v>Discount</c:v>
                </c:pt>
                <c:pt idx="10" c:formatCode="_ * #,##0.000_ ;_ * \-#,##0.000_ ;_ * &quot;-&quot;??.0_ ;_ @_ ">
                  <c:v>Service Return</c:v>
                </c:pt>
                <c:pt idx="11" c:formatCode="_ * #,##0.000_ ;_ * \-#,##0.000_ ;_ * &quot;-&quot;??.0_ ;_ @_ ">
                  <c:v>Defered Service Income</c:v>
                </c:pt>
              </c:strCache>
            </c:strRef>
          </c:cat>
          <c:val>
            <c:numRef>
              <c:f>'[DCP.xlsx]Revenue Analysis'!$D$3:$D$14</c:f>
              <c:numCache>
                <c:formatCode>_ * #,##0.000_ ;_ * \-#,##0.000_ ;_ * "-"??.0_ ;_ @_ </c:formatCode>
                <c:ptCount val="12"/>
                <c:pt idx="0">
                  <c:v>163837154.5385</c:v>
                </c:pt>
                <c:pt idx="1">
                  <c:v>112984613.4729</c:v>
                </c:pt>
                <c:pt idx="2">
                  <c:v>13534453.498675</c:v>
                </c:pt>
                <c:pt idx="3">
                  <c:v>21851990.96795</c:v>
                </c:pt>
                <c:pt idx="4">
                  <c:v>8969992.938225</c:v>
                </c:pt>
                <c:pt idx="5">
                  <c:v>6538655.20275</c:v>
                </c:pt>
                <c:pt idx="6">
                  <c:v>149650</c:v>
                </c:pt>
                <c:pt idx="7">
                  <c:v>787669.492275</c:v>
                </c:pt>
                <c:pt idx="8">
                  <c:v>7916.6725</c:v>
                </c:pt>
                <c:pt idx="9">
                  <c:v>-5496.5</c:v>
                </c:pt>
                <c:pt idx="10">
                  <c:v>-561386.1665</c:v>
                </c:pt>
                <c:pt idx="11">
                  <c:v>-420905.040275</c:v>
                </c:pt>
              </c:numCache>
            </c:numRef>
          </c:val>
        </c:ser>
        <c:ser>
          <c:idx val="0"/>
          <c:order val="1"/>
          <c:tx>
            <c:strRef>
              <c:f>'[DCP.xlsx]Revenue Analysis'!$B$2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'[DCP.xlsx]Revenue Analysis'!$A$3:$A$14</c:f>
              <c:strCache>
                <c:ptCount val="12"/>
                <c:pt idx="0" c:formatCode="_ * #,##0.000_ ;_ * \-#,##0.000_ ;_ * &quot;-&quot;??.0_ ;_ @_ ">
                  <c:v>Total Revenue</c:v>
                </c:pt>
                <c:pt idx="1" c:formatCode="_ * #,##0.000_ ;_ * \-#,##0.000_ ;_ * &quot;-&quot;??.0_ ;_ @_ ">
                  <c:v>Trade Sales - General</c:v>
                </c:pt>
                <c:pt idx="2" c:formatCode="_ * #,##0.000_ ;_ * \-#,##0.000_ ;_ * &quot;-&quot;??.0_ ;_ @_ ">
                  <c:v>Eng - Service Income</c:v>
                </c:pt>
                <c:pt idx="3" c:formatCode="_ * #,##0.000_ ;_ * \-#,##0.000_ ;_ * &quot;-&quot;??.0_ ;_ @_ ">
                  <c:v>Inter SBU Sales</c:v>
                </c:pt>
                <c:pt idx="4" c:formatCode="_ * #,##0.000_ ;_ * \-#,##0.000_ ;_ * &quot;-&quot;??.0_ ;_ @_ ">
                  <c:v>Service Contract Income</c:v>
                </c:pt>
                <c:pt idx="5" c:formatCode="_ * #,##0.000_ ;_ * \-#,##0.000_ ;_ * &quot;-&quot;??.0_ ;_ @_ ">
                  <c:v>Deferred Project Income</c:v>
                </c:pt>
                <c:pt idx="6" c:formatCode="_ * #,##0.000_ ;_ * \-#,##0.000_ ;_ * &quot;-&quot;??.0_ ;_ @_ ">
                  <c:v>Service Income</c:v>
                </c:pt>
                <c:pt idx="7" c:formatCode="_ * #,##0.000_ ;_ * \-#,##0.000_ ;_ * &quot;-&quot;??.0_ ;_ @_ ">
                  <c:v>Project Income</c:v>
                </c:pt>
                <c:pt idx="8" c:formatCode="_ * #,##0.000_ ;_ * \-#,##0.000_ ;_ * &quot;-&quot;??.0_ ;_ @_ ">
                  <c:v>MIS Service Revenue</c:v>
                </c:pt>
                <c:pt idx="9" c:formatCode="_ * #,##0.000_ ;_ * \-#,##0.000_ ;_ * &quot;-&quot;??.0_ ;_ @_ ">
                  <c:v>Discount</c:v>
                </c:pt>
                <c:pt idx="10" c:formatCode="_ * #,##0.000_ ;_ * \-#,##0.000_ ;_ * &quot;-&quot;??.0_ ;_ @_ ">
                  <c:v>Service Return</c:v>
                </c:pt>
                <c:pt idx="11" c:formatCode="_ * #,##0.000_ ;_ * \-#,##0.000_ ;_ * &quot;-&quot;??.0_ ;_ @_ ">
                  <c:v>Defered Service Income</c:v>
                </c:pt>
              </c:strCache>
            </c:strRef>
          </c:cat>
          <c:val>
            <c:numRef>
              <c:f>'[DCP.xlsx]Revenue Analysis'!$B$3:$B$14</c:f>
              <c:numCache>
                <c:formatCode>_ * #,##0.000_ ;_ * \-#,##0.000_ ;_ * "-"??.0_ ;_ @_ </c:formatCode>
                <c:ptCount val="12"/>
                <c:pt idx="0">
                  <c:v>134527538.9001</c:v>
                </c:pt>
                <c:pt idx="1">
                  <c:v>99041838.0908</c:v>
                </c:pt>
                <c:pt idx="2">
                  <c:v>14556277.1773</c:v>
                </c:pt>
                <c:pt idx="3">
                  <c:v>13866461</c:v>
                </c:pt>
                <c:pt idx="4">
                  <c:v>10677410.622</c:v>
                </c:pt>
                <c:pt idx="5">
                  <c:v>2538056</c:v>
                </c:pt>
                <c:pt idx="6">
                  <c:v>342777.95</c:v>
                </c:pt>
                <c:pt idx="7">
                  <c:v>35000</c:v>
                </c:pt>
                <c:pt idx="8">
                  <c:v>8915</c:v>
                </c:pt>
                <c:pt idx="9" c:formatCode="_ * #,##0.0_ ;_ * \-#,##0.0_ ;_ * &quot;-&quot;??_ ;_ @_ ">
                  <c:v>0</c:v>
                </c:pt>
                <c:pt idx="10">
                  <c:v>-130732</c:v>
                </c:pt>
                <c:pt idx="11">
                  <c:v>-6408464.94</c:v>
                </c:pt>
              </c:numCache>
            </c:numRef>
          </c:val>
        </c:ser>
        <c:ser>
          <c:idx val="1"/>
          <c:order val="2"/>
          <c:tx>
            <c:strRef>
              <c:f>'[DCP.xlsx]Revenue Analysis'!$C$2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'[DCP.xlsx]Revenue Analysis'!$A$3:$A$14</c:f>
              <c:strCache>
                <c:ptCount val="12"/>
                <c:pt idx="0" c:formatCode="_ * #,##0.000_ ;_ * \-#,##0.000_ ;_ * &quot;-&quot;??.0_ ;_ @_ ">
                  <c:v>Total Revenue</c:v>
                </c:pt>
                <c:pt idx="1" c:formatCode="_ * #,##0.000_ ;_ * \-#,##0.000_ ;_ * &quot;-&quot;??.0_ ;_ @_ ">
                  <c:v>Trade Sales - General</c:v>
                </c:pt>
                <c:pt idx="2" c:formatCode="_ * #,##0.000_ ;_ * \-#,##0.000_ ;_ * &quot;-&quot;??.0_ ;_ @_ ">
                  <c:v>Eng - Service Income</c:v>
                </c:pt>
                <c:pt idx="3" c:formatCode="_ * #,##0.000_ ;_ * \-#,##0.000_ ;_ * &quot;-&quot;??.0_ ;_ @_ ">
                  <c:v>Inter SBU Sales</c:v>
                </c:pt>
                <c:pt idx="4" c:formatCode="_ * #,##0.000_ ;_ * \-#,##0.000_ ;_ * &quot;-&quot;??.0_ ;_ @_ ">
                  <c:v>Service Contract Income</c:v>
                </c:pt>
                <c:pt idx="5" c:formatCode="_ * #,##0.000_ ;_ * \-#,##0.000_ ;_ * &quot;-&quot;??.0_ ;_ @_ ">
                  <c:v>Deferred Project Income</c:v>
                </c:pt>
                <c:pt idx="6" c:formatCode="_ * #,##0.000_ ;_ * \-#,##0.000_ ;_ * &quot;-&quot;??.0_ ;_ @_ ">
                  <c:v>Service Income</c:v>
                </c:pt>
                <c:pt idx="7" c:formatCode="_ * #,##0.000_ ;_ * \-#,##0.000_ ;_ * &quot;-&quot;??.0_ ;_ @_ ">
                  <c:v>Project Income</c:v>
                </c:pt>
                <c:pt idx="8" c:formatCode="_ * #,##0.000_ ;_ * \-#,##0.000_ ;_ * &quot;-&quot;??.0_ ;_ @_ ">
                  <c:v>MIS Service Revenue</c:v>
                </c:pt>
                <c:pt idx="9" c:formatCode="_ * #,##0.000_ ;_ * \-#,##0.000_ ;_ * &quot;-&quot;??.0_ ;_ @_ ">
                  <c:v>Discount</c:v>
                </c:pt>
                <c:pt idx="10" c:formatCode="_ * #,##0.000_ ;_ * \-#,##0.000_ ;_ * &quot;-&quot;??.0_ ;_ @_ ">
                  <c:v>Service Return</c:v>
                </c:pt>
                <c:pt idx="11" c:formatCode="_ * #,##0.000_ ;_ * \-#,##0.000_ ;_ * &quot;-&quot;??.0_ ;_ @_ ">
                  <c:v>Defered Service Income</c:v>
                </c:pt>
              </c:strCache>
            </c:strRef>
          </c:cat>
          <c:val>
            <c:numRef>
              <c:f>'[DCP.xlsx]Revenue Analysis'!$C$3:$C$14</c:f>
              <c:numCache>
                <c:formatCode>_ * #,##0.000_ ;_ * \-#,##0.000_ ;_ * "-"??.0_ ;_ @_ </c:formatCode>
                <c:ptCount val="12"/>
                <c:pt idx="0">
                  <c:v>184530172.1419</c:v>
                </c:pt>
                <c:pt idx="1">
                  <c:v>147506955.4546</c:v>
                </c:pt>
                <c:pt idx="2">
                  <c:v>7538108.4285</c:v>
                </c:pt>
                <c:pt idx="3">
                  <c:v>13274047.76</c:v>
                </c:pt>
                <c:pt idx="4">
                  <c:v>11360632.3788</c:v>
                </c:pt>
                <c:pt idx="5">
                  <c:v>2223000</c:v>
                </c:pt>
                <c:pt idx="6" c:formatCode="_ * #,##0.00_ ;_ * \-#,##0.00_ ;_ * &quot;-&quot;??_ ;_ @_ ">
                  <c:v>0</c:v>
                </c:pt>
                <c:pt idx="7">
                  <c:v>425000</c:v>
                </c:pt>
                <c:pt idx="8" c:formatCode="_ * #,##0.00_ ;_ * \-#,##0.00_ ;_ * &quot;-&quot;??_ ;_ @_ ">
                  <c:v>0</c:v>
                </c:pt>
                <c:pt idx="9" c:formatCode="_ * #,##0.00_ ;_ * \-#,##0.00_ ;_ * &quot;-&quot;??_ ;_ @_ ">
                  <c:v>0</c:v>
                </c:pt>
                <c:pt idx="10">
                  <c:v>-136031.26</c:v>
                </c:pt>
                <c:pt idx="11">
                  <c:v>2338459.38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2365614"/>
        <c:axId val="408478573"/>
      </c:barChart>
      <c:catAx>
        <c:axId val="38236561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408478573"/>
        <c:crosses val="autoZero"/>
        <c:auto val="1"/>
        <c:lblAlgn val="ctr"/>
        <c:lblOffset val="100"/>
        <c:noMultiLvlLbl val="0"/>
      </c:catAx>
      <c:valAx>
        <c:axId val="408478573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pPr>
          </a:p>
        </c:txPr>
        <c:crossAx val="382365614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17906050521032"/>
          <c:y val="0.010044500953591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 rot="0" vert="horz" anchor="ctr" anchorCtr="1"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62023217247098"/>
          <c:y val="0.102915951972556"/>
          <c:w val="0.920751796572692"/>
          <c:h val="0.588853247865548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'[DCP.xlsx]Cost Of Sales'!$G$2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'[DCP.xlsx]Cost Of Sales'!$F$3:$F$11</c:f>
              <c:strCache>
                <c:ptCount val="9"/>
                <c:pt idx="0">
                  <c:v>Cost of Sale</c:v>
                </c:pt>
                <c:pt idx="1">
                  <c:v>Cost of Sales - General</c:v>
                </c:pt>
                <c:pt idx="2">
                  <c:v>Cost of Service Income</c:v>
                </c:pt>
                <c:pt idx="3">
                  <c:v>Cost of Project Income</c:v>
                </c:pt>
                <c:pt idx="4">
                  <c:v>Inventory Consumption - General</c:v>
                </c:pt>
                <c:pt idx="5">
                  <c:v>Import &amp; Other Charges (Not added with Costing)</c:v>
                </c:pt>
                <c:pt idx="6">
                  <c:v>Cost of Warranty Replacement</c:v>
                </c:pt>
                <c:pt idx="7">
                  <c:v>Local Handling Charges</c:v>
                </c:pt>
                <c:pt idx="8">
                  <c:v>OB Stock Adjustment</c:v>
                </c:pt>
              </c:strCache>
            </c:strRef>
          </c:cat>
          <c:val>
            <c:numRef>
              <c:f>'[DCP.xlsx]Cost Of Sales'!$G$3:$G$11</c:f>
              <c:numCache>
                <c:formatCode>_ * #,##0.00_ ;_ * \-#,##0.00_ ;_ * "-"??_ ;_ @_ </c:formatCode>
                <c:ptCount val="9"/>
                <c:pt idx="0">
                  <c:v>121567806.239475</c:v>
                </c:pt>
                <c:pt idx="1">
                  <c:v>113152921.692925</c:v>
                </c:pt>
                <c:pt idx="2">
                  <c:v>7249841.536175</c:v>
                </c:pt>
                <c:pt idx="3">
                  <c:v>531016.7504</c:v>
                </c:pt>
                <c:pt idx="4">
                  <c:v>244080.5847</c:v>
                </c:pt>
                <c:pt idx="5">
                  <c:v>-15065.9525</c:v>
                </c:pt>
                <c:pt idx="6">
                  <c:v>292425.7275</c:v>
                </c:pt>
                <c:pt idx="7">
                  <c:v>2302.5</c:v>
                </c:pt>
                <c:pt idx="8">
                  <c:v>110283.400275</c:v>
                </c:pt>
              </c:numCache>
            </c:numRef>
          </c:val>
        </c:ser>
        <c:ser>
          <c:idx val="0"/>
          <c:order val="1"/>
          <c:tx>
            <c:strRef>
              <c:f>'[DCP.xlsx]Cost Of Sales'!$H$2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'[DCP.xlsx]Cost Of Sales'!$F$3:$F$11</c:f>
              <c:strCache>
                <c:ptCount val="9"/>
                <c:pt idx="0">
                  <c:v>Cost of Sale</c:v>
                </c:pt>
                <c:pt idx="1">
                  <c:v>Cost of Sales - General</c:v>
                </c:pt>
                <c:pt idx="2">
                  <c:v>Cost of Service Income</c:v>
                </c:pt>
                <c:pt idx="3">
                  <c:v>Cost of Project Income</c:v>
                </c:pt>
                <c:pt idx="4">
                  <c:v>Inventory Consumption - General</c:v>
                </c:pt>
                <c:pt idx="5">
                  <c:v>Import &amp; Other Charges (Not added with Costing)</c:v>
                </c:pt>
                <c:pt idx="6">
                  <c:v>Cost of Warranty Replacement</c:v>
                </c:pt>
                <c:pt idx="7">
                  <c:v>Local Handling Charges</c:v>
                </c:pt>
                <c:pt idx="8">
                  <c:v>OB Stock Adjustment</c:v>
                </c:pt>
              </c:strCache>
            </c:strRef>
          </c:cat>
          <c:val>
            <c:numRef>
              <c:f>'[DCP.xlsx]Cost Of Sales'!$H$3:$H$11</c:f>
              <c:numCache>
                <c:formatCode>_ * #,##0.00_ ;_ * \-#,##0.00_ ;_ * "-"??_ ;_ @_ </c:formatCode>
                <c:ptCount val="9"/>
                <c:pt idx="0">
                  <c:v>96483665.1446</c:v>
                </c:pt>
                <c:pt idx="1">
                  <c:v>88093428.327</c:v>
                </c:pt>
                <c:pt idx="2">
                  <c:v>8314284.6113</c:v>
                </c:pt>
                <c:pt idx="3">
                  <c:v>56580.1626</c:v>
                </c:pt>
                <c:pt idx="4">
                  <c:v>158039.9688</c:v>
                </c:pt>
                <c:pt idx="6">
                  <c:v>63187.8616</c:v>
                </c:pt>
                <c:pt idx="7" c:formatCode="0.00_);[Red]\(0.00\)">
                  <c:v>0</c:v>
                </c:pt>
                <c:pt idx="8">
                  <c:v>-201855.7867</c:v>
                </c:pt>
              </c:numCache>
            </c:numRef>
          </c:val>
        </c:ser>
        <c:ser>
          <c:idx val="1"/>
          <c:order val="2"/>
          <c:tx>
            <c:strRef>
              <c:f>'[DCP.xlsx]Cost Of Sales'!$I$2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'[DCP.xlsx]Cost Of Sales'!$F$3:$F$11</c:f>
              <c:strCache>
                <c:ptCount val="9"/>
                <c:pt idx="0">
                  <c:v>Cost of Sale</c:v>
                </c:pt>
                <c:pt idx="1">
                  <c:v>Cost of Sales - General</c:v>
                </c:pt>
                <c:pt idx="2">
                  <c:v>Cost of Service Income</c:v>
                </c:pt>
                <c:pt idx="3">
                  <c:v>Cost of Project Income</c:v>
                </c:pt>
                <c:pt idx="4">
                  <c:v>Inventory Consumption - General</c:v>
                </c:pt>
                <c:pt idx="5">
                  <c:v>Import &amp; Other Charges (Not added with Costing)</c:v>
                </c:pt>
                <c:pt idx="6">
                  <c:v>Cost of Warranty Replacement</c:v>
                </c:pt>
                <c:pt idx="7">
                  <c:v>Local Handling Charges</c:v>
                </c:pt>
                <c:pt idx="8">
                  <c:v>OB Stock Adjustment</c:v>
                </c:pt>
              </c:strCache>
            </c:strRef>
          </c:cat>
          <c:val>
            <c:numRef>
              <c:f>'[DCP.xlsx]Cost Of Sales'!$I$3:$I$11</c:f>
              <c:numCache>
                <c:formatCode>_ * #,##0.00_ ;_ * \-#,##0.00_ ;_ * "-"??_ ;_ @_ </c:formatCode>
                <c:ptCount val="9"/>
                <c:pt idx="0">
                  <c:v>151616362.6286</c:v>
                </c:pt>
                <c:pt idx="1">
                  <c:v>145744553.6394</c:v>
                </c:pt>
                <c:pt idx="2">
                  <c:v>5720422.4281</c:v>
                </c:pt>
                <c:pt idx="3">
                  <c:v>1373832.1145</c:v>
                </c:pt>
                <c:pt idx="4">
                  <c:v>472953.4061</c:v>
                </c:pt>
                <c:pt idx="5">
                  <c:v>195358.86</c:v>
                </c:pt>
                <c:pt idx="6">
                  <c:v>5128.1754</c:v>
                </c:pt>
                <c:pt idx="7" c:formatCode="0.00_);[Red]\(0.00\)">
                  <c:v>0</c:v>
                </c:pt>
                <c:pt idx="8">
                  <c:v>-1895885.9949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9689788"/>
        <c:axId val="982846578"/>
      </c:barChart>
      <c:catAx>
        <c:axId val="5796897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Calibri" panose="020F0502020204030204" charset="0"/>
              </a:defRPr>
            </a:pPr>
          </a:p>
        </c:txPr>
        <c:crossAx val="982846578"/>
        <c:crosses val="autoZero"/>
        <c:auto val="1"/>
        <c:lblAlgn val="ctr"/>
        <c:lblOffset val="100"/>
        <c:noMultiLvlLbl val="0"/>
      </c:catAx>
      <c:valAx>
        <c:axId val="982846578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79689788"/>
        <c:crosses val="autoZero"/>
        <c:crossBetween val="between"/>
        <c:dispUnits>
          <c:builtInUnit val="million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755329803977679"/>
          <c:y val="0.035014005602240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217832148565"/>
          <c:y val="0.0722229406439933"/>
          <c:w val="0.878448228357304"/>
          <c:h val="0.586279581016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'[DCP.xlsx]Opex sub part analysis'!$G$3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analysis'!$F$4:$F$18</c:f>
              <c:strCache>
                <c:ptCount val="15"/>
                <c:pt idx="0" c:formatCode="###,##0.00;\(###,##0.00\)">
                  <c:v>STAFF SALARIES</c:v>
                </c:pt>
                <c:pt idx="1" c:formatCode="###,##0.00;\(###,##0.00\)">
                  <c:v>FIXED ALLOWANCE</c:v>
                </c:pt>
                <c:pt idx="2" c:formatCode="###,##0.00;\(###,##0.00\)">
                  <c:v>EXGRATIA</c:v>
                </c:pt>
                <c:pt idx="3" c:formatCode="###,##0.00;\(###,##0.00\)">
                  <c:v>Staff Meal Expenses</c:v>
                </c:pt>
                <c:pt idx="4" c:formatCode="###,##0.00;\(###,##0.00\)">
                  <c:v>ALLOWANCES</c:v>
                </c:pt>
                <c:pt idx="5" c:formatCode="###,##0.00;\(###,##0.00\)">
                  <c:v>STAFF WELFARE</c:v>
                </c:pt>
                <c:pt idx="6" c:formatCode="###,##0.00;\(###,##0.00\)">
                  <c:v>TRANSPORT INCENTIVE</c:v>
                </c:pt>
                <c:pt idx="7" c:formatCode="###,##0.00;\(###,##0.00\)">
                  <c:v>Staff Welfare-Internal Consumption</c:v>
                </c:pt>
                <c:pt idx="8" c:formatCode="###,##0.00;\(###,##0.00\)">
                  <c:v>TELEPHONE INCENTIVE</c:v>
                </c:pt>
                <c:pt idx="9" c:formatCode="###,##0.00;\(###,##0.00\)">
                  <c:v>OT MEAL ALLOWANCE</c:v>
                </c:pt>
                <c:pt idx="10" c:formatCode="###,##0.00;\(###,##0.00\)">
                  <c:v>OVERTIME EXPENSES</c:v>
                </c:pt>
                <c:pt idx="11" c:formatCode="###,##0.00;\(###,##0.00\)">
                  <c:v>FUEL INCENTIVE</c:v>
                </c:pt>
                <c:pt idx="12" c:formatCode="###,##0.00;\(###,##0.00\)">
                  <c:v>INCENTIVE - IMPORT</c:v>
                </c:pt>
                <c:pt idx="13" c:formatCode="###,##0.00;\(###,##0.00\)">
                  <c:v>Profitability allowance</c:v>
                </c:pt>
                <c:pt idx="14" c:formatCode="###,##0.00;\(###,##0.00\)">
                  <c:v>FUEL INCENTIVE</c:v>
                </c:pt>
              </c:strCache>
            </c:strRef>
          </c:cat>
          <c:val>
            <c:numRef>
              <c:f>'[DCP.xlsx]Opex sub part analysis'!$G$4:$G$18</c:f>
              <c:numCache>
                <c:formatCode>_ * #,##0.00_ ;_ * \-#,##0.00_ ;_ * "-"??_ ;_ @_ </c:formatCode>
                <c:ptCount val="15"/>
                <c:pt idx="0">
                  <c:v>9082693.56</c:v>
                </c:pt>
                <c:pt idx="1">
                  <c:v>3311951.665</c:v>
                </c:pt>
                <c:pt idx="2">
                  <c:v>622500</c:v>
                </c:pt>
                <c:pt idx="3">
                  <c:v>248012</c:v>
                </c:pt>
                <c:pt idx="4">
                  <c:v>224464.5825</c:v>
                </c:pt>
                <c:pt idx="5">
                  <c:v>169825.15</c:v>
                </c:pt>
                <c:pt idx="6">
                  <c:v>164375</c:v>
                </c:pt>
                <c:pt idx="7">
                  <c:v>155762.5</c:v>
                </c:pt>
                <c:pt idx="8">
                  <c:v>120075</c:v>
                </c:pt>
                <c:pt idx="9">
                  <c:v>83114.78</c:v>
                </c:pt>
                <c:pt idx="10">
                  <c:v>36071.195</c:v>
                </c:pt>
                <c:pt idx="11">
                  <c:v>10500</c:v>
                </c:pt>
                <c:pt idx="12">
                  <c:v>3150</c:v>
                </c:pt>
                <c:pt idx="13">
                  <c:v>3000</c:v>
                </c:pt>
                <c:pt idx="14">
                  <c:v>2625</c:v>
                </c:pt>
              </c:numCache>
            </c:numRef>
          </c:val>
        </c:ser>
        <c:ser>
          <c:idx val="1"/>
          <c:order val="1"/>
          <c:tx>
            <c:strRef>
              <c:f>'[DCP.xlsx]Opex sub part analysis'!$H$3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analysis'!$F$4:$F$18</c:f>
              <c:strCache>
                <c:ptCount val="15"/>
                <c:pt idx="0" c:formatCode="###,##0.00;\(###,##0.00\)">
                  <c:v>STAFF SALARIES</c:v>
                </c:pt>
                <c:pt idx="1" c:formatCode="###,##0.00;\(###,##0.00\)">
                  <c:v>FIXED ALLOWANCE</c:v>
                </c:pt>
                <c:pt idx="2" c:formatCode="###,##0.00;\(###,##0.00\)">
                  <c:v>EXGRATIA</c:v>
                </c:pt>
                <c:pt idx="3" c:formatCode="###,##0.00;\(###,##0.00\)">
                  <c:v>Staff Meal Expenses</c:v>
                </c:pt>
                <c:pt idx="4" c:formatCode="###,##0.00;\(###,##0.00\)">
                  <c:v>ALLOWANCES</c:v>
                </c:pt>
                <c:pt idx="5" c:formatCode="###,##0.00;\(###,##0.00\)">
                  <c:v>STAFF WELFARE</c:v>
                </c:pt>
                <c:pt idx="6" c:formatCode="###,##0.00;\(###,##0.00\)">
                  <c:v>TRANSPORT INCENTIVE</c:v>
                </c:pt>
                <c:pt idx="7" c:formatCode="###,##0.00;\(###,##0.00\)">
                  <c:v>Staff Welfare-Internal Consumption</c:v>
                </c:pt>
                <c:pt idx="8" c:formatCode="###,##0.00;\(###,##0.00\)">
                  <c:v>TELEPHONE INCENTIVE</c:v>
                </c:pt>
                <c:pt idx="9" c:formatCode="###,##0.00;\(###,##0.00\)">
                  <c:v>OT MEAL ALLOWANCE</c:v>
                </c:pt>
                <c:pt idx="10" c:formatCode="###,##0.00;\(###,##0.00\)">
                  <c:v>OVERTIME EXPENSES</c:v>
                </c:pt>
                <c:pt idx="11" c:formatCode="###,##0.00;\(###,##0.00\)">
                  <c:v>FUEL INCENTIVE</c:v>
                </c:pt>
                <c:pt idx="12" c:formatCode="###,##0.00;\(###,##0.00\)">
                  <c:v>INCENTIVE - IMPORT</c:v>
                </c:pt>
                <c:pt idx="13" c:formatCode="###,##0.00;\(###,##0.00\)">
                  <c:v>Profitability allowance</c:v>
                </c:pt>
                <c:pt idx="14" c:formatCode="###,##0.00;\(###,##0.00\)">
                  <c:v>FUEL INCENTIVE</c:v>
                </c:pt>
              </c:strCache>
            </c:strRef>
          </c:cat>
          <c:val>
            <c:numRef>
              <c:f>'[DCP.xlsx]Opex sub part analysis'!$H$4:$H$18</c:f>
              <c:numCache>
                <c:formatCode>_ * #,##0.00_ ;_ * \-#,##0.00_ ;_ * "-"??_ ;_ @_ </c:formatCode>
                <c:ptCount val="15"/>
                <c:pt idx="0">
                  <c:v>7305785.13</c:v>
                </c:pt>
                <c:pt idx="1">
                  <c:v>3025423.34</c:v>
                </c:pt>
                <c:pt idx="2" c:formatCode="General">
                  <c:v>0</c:v>
                </c:pt>
                <c:pt idx="3">
                  <c:v>180039</c:v>
                </c:pt>
                <c:pt idx="4">
                  <c:v>191033.33</c:v>
                </c:pt>
                <c:pt idx="5">
                  <c:v>110966</c:v>
                </c:pt>
                <c:pt idx="6">
                  <c:v>135000</c:v>
                </c:pt>
                <c:pt idx="7" c:formatCode="General">
                  <c:v>0</c:v>
                </c:pt>
                <c:pt idx="8">
                  <c:v>95350</c:v>
                </c:pt>
                <c:pt idx="9">
                  <c:v>82718.27</c:v>
                </c:pt>
                <c:pt idx="10">
                  <c:v>41301.46</c:v>
                </c:pt>
                <c:pt idx="11">
                  <c:v>31232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</c:numCache>
            </c:numRef>
          </c:val>
        </c:ser>
        <c:ser>
          <c:idx val="2"/>
          <c:order val="2"/>
          <c:tx>
            <c:strRef>
              <c:f>'[DCP.xlsx]Opex sub part analysis'!$I$3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analysis'!$F$4:$F$18</c:f>
              <c:strCache>
                <c:ptCount val="15"/>
                <c:pt idx="0" c:formatCode="###,##0.00;\(###,##0.00\)">
                  <c:v>STAFF SALARIES</c:v>
                </c:pt>
                <c:pt idx="1" c:formatCode="###,##0.00;\(###,##0.00\)">
                  <c:v>FIXED ALLOWANCE</c:v>
                </c:pt>
                <c:pt idx="2" c:formatCode="###,##0.00;\(###,##0.00\)">
                  <c:v>EXGRATIA</c:v>
                </c:pt>
                <c:pt idx="3" c:formatCode="###,##0.00;\(###,##0.00\)">
                  <c:v>Staff Meal Expenses</c:v>
                </c:pt>
                <c:pt idx="4" c:formatCode="###,##0.00;\(###,##0.00\)">
                  <c:v>ALLOWANCES</c:v>
                </c:pt>
                <c:pt idx="5" c:formatCode="###,##0.00;\(###,##0.00\)">
                  <c:v>STAFF WELFARE</c:v>
                </c:pt>
                <c:pt idx="6" c:formatCode="###,##0.00;\(###,##0.00\)">
                  <c:v>TRANSPORT INCENTIVE</c:v>
                </c:pt>
                <c:pt idx="7" c:formatCode="###,##0.00;\(###,##0.00\)">
                  <c:v>Staff Welfare-Internal Consumption</c:v>
                </c:pt>
                <c:pt idx="8" c:formatCode="###,##0.00;\(###,##0.00\)">
                  <c:v>TELEPHONE INCENTIVE</c:v>
                </c:pt>
                <c:pt idx="9" c:formatCode="###,##0.00;\(###,##0.00\)">
                  <c:v>OT MEAL ALLOWANCE</c:v>
                </c:pt>
                <c:pt idx="10" c:formatCode="###,##0.00;\(###,##0.00\)">
                  <c:v>OVERTIME EXPENSES</c:v>
                </c:pt>
                <c:pt idx="11" c:formatCode="###,##0.00;\(###,##0.00\)">
                  <c:v>FUEL INCENTIVE</c:v>
                </c:pt>
                <c:pt idx="12" c:formatCode="###,##0.00;\(###,##0.00\)">
                  <c:v>INCENTIVE - IMPORT</c:v>
                </c:pt>
                <c:pt idx="13" c:formatCode="###,##0.00;\(###,##0.00\)">
                  <c:v>Profitability allowance</c:v>
                </c:pt>
                <c:pt idx="14" c:formatCode="###,##0.00;\(###,##0.00\)">
                  <c:v>FUEL INCENTIVE</c:v>
                </c:pt>
              </c:strCache>
            </c:strRef>
          </c:cat>
          <c:val>
            <c:numRef>
              <c:f>'[DCP.xlsx]Opex sub part analysis'!$I$4:$I$18</c:f>
              <c:numCache>
                <c:formatCode>_ * #,##0.00_ ;_ * \-#,##0.00_ ;_ * "-"??_ ;_ @_ </c:formatCode>
                <c:ptCount val="15"/>
                <c:pt idx="0">
                  <c:v>7458106.75</c:v>
                </c:pt>
                <c:pt idx="1">
                  <c:v>3091403.23</c:v>
                </c:pt>
                <c:pt idx="2" c:formatCode="General">
                  <c:v>0</c:v>
                </c:pt>
                <c:pt idx="3">
                  <c:v>126371</c:v>
                </c:pt>
                <c:pt idx="4">
                  <c:v>170250</c:v>
                </c:pt>
                <c:pt idx="5">
                  <c:v>67765</c:v>
                </c:pt>
                <c:pt idx="6">
                  <c:v>135000</c:v>
                </c:pt>
                <c:pt idx="7">
                  <c:v>315184</c:v>
                </c:pt>
                <c:pt idx="8">
                  <c:v>94200</c:v>
                </c:pt>
                <c:pt idx="9">
                  <c:v>75833.16</c:v>
                </c:pt>
                <c:pt idx="10">
                  <c:v>21041.81</c:v>
                </c:pt>
                <c:pt idx="11">
                  <c:v>10500</c:v>
                </c:pt>
                <c:pt idx="12" c:formatCode="General">
                  <c:v>0</c:v>
                </c:pt>
                <c:pt idx="13" c:formatCode="General">
                  <c:v>0</c:v>
                </c:pt>
                <c:pt idx="14" c:formatCode="General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47693083277631"/>
          <c:y val="0.055088581404370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8048459598728"/>
          <c:y val="0.074655537890832"/>
          <c:w val="0.894704528012279"/>
          <c:h val="0.618243243243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'[DCP.xlsx]Opex sub part analysis'!$G$22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analysis'!$F$23:$F$32</c:f>
              <c:strCache>
                <c:ptCount val="10"/>
                <c:pt idx="0" c:formatCode="###,##0.00;\(###,##0.00\)">
                  <c:v>RENT - KANDY</c:v>
                </c:pt>
                <c:pt idx="1" c:formatCode="###,##0.00;\(###,##0.00\)">
                  <c:v>RENT - KURUNEGALA</c:v>
                </c:pt>
                <c:pt idx="2" c:formatCode="###,##0.00;\(###,##0.00\)">
                  <c:v>RENT - BANDARAWELA</c:v>
                </c:pt>
                <c:pt idx="3" c:formatCode="###,##0.00;\(###,##0.00\)">
                  <c:v>RENT - ANURADHAPURA</c:v>
                </c:pt>
                <c:pt idx="4" c:formatCode="###,##0.00;\(###,##0.00\)">
                  <c:v>RENT - MATARA</c:v>
                </c:pt>
                <c:pt idx="5" c:formatCode="###,##0.00;\(###,##0.00\)">
                  <c:v>RENT - RATHNAPURA</c:v>
                </c:pt>
                <c:pt idx="6" c:formatCode="###,##0.00;\(###,##0.00\)">
                  <c:v>RENT - KALUTARA</c:v>
                </c:pt>
                <c:pt idx="7" c:formatCode="###,##0.00;\(###,##0.00\)">
                  <c:v>RENT - NEGOMBO</c:v>
                </c:pt>
                <c:pt idx="8" c:formatCode="###,##0.00;\(###,##0.00\)">
                  <c:v>RENT - JAFFNA A/C</c:v>
                </c:pt>
                <c:pt idx="9" c:formatCode="###,##0.00;\(###,##0.00\)">
                  <c:v>RENT - BATTICOLO</c:v>
                </c:pt>
              </c:strCache>
            </c:strRef>
          </c:cat>
          <c:val>
            <c:numRef>
              <c:f>'[DCP.xlsx]Opex sub part analysis'!$G$23:$G$32</c:f>
              <c:numCache>
                <c:formatCode>_ * #,##0.00_ ;_ * \-#,##0.00_ ;_ * "-"??_ ;_ @_ </c:formatCode>
                <c:ptCount val="10"/>
                <c:pt idx="0">
                  <c:v>56250</c:v>
                </c:pt>
                <c:pt idx="1">
                  <c:v>55875</c:v>
                </c:pt>
                <c:pt idx="2">
                  <c:v>46875</c:v>
                </c:pt>
                <c:pt idx="3">
                  <c:v>42500</c:v>
                </c:pt>
                <c:pt idx="4">
                  <c:v>37500</c:v>
                </c:pt>
                <c:pt idx="5">
                  <c:v>37500</c:v>
                </c:pt>
                <c:pt idx="6">
                  <c:v>35500</c:v>
                </c:pt>
                <c:pt idx="7">
                  <c:v>31250</c:v>
                </c:pt>
                <c:pt idx="8">
                  <c:v>25000</c:v>
                </c:pt>
                <c:pt idx="9">
                  <c:v>18750</c:v>
                </c:pt>
              </c:numCache>
            </c:numRef>
          </c:val>
        </c:ser>
        <c:ser>
          <c:idx val="1"/>
          <c:order val="1"/>
          <c:tx>
            <c:strRef>
              <c:f>'[DCP.xlsx]Opex sub part analysis'!$H$22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analysis'!$F$23:$F$32</c:f>
              <c:strCache>
                <c:ptCount val="10"/>
                <c:pt idx="0" c:formatCode="###,##0.00;\(###,##0.00\)">
                  <c:v>RENT - KANDY</c:v>
                </c:pt>
                <c:pt idx="1" c:formatCode="###,##0.00;\(###,##0.00\)">
                  <c:v>RENT - KURUNEGALA</c:v>
                </c:pt>
                <c:pt idx="2" c:formatCode="###,##0.00;\(###,##0.00\)">
                  <c:v>RENT - BANDARAWELA</c:v>
                </c:pt>
                <c:pt idx="3" c:formatCode="###,##0.00;\(###,##0.00\)">
                  <c:v>RENT - ANURADHAPURA</c:v>
                </c:pt>
                <c:pt idx="4" c:formatCode="###,##0.00;\(###,##0.00\)">
                  <c:v>RENT - MATARA</c:v>
                </c:pt>
                <c:pt idx="5" c:formatCode="###,##0.00;\(###,##0.00\)">
                  <c:v>RENT - RATHNAPURA</c:v>
                </c:pt>
                <c:pt idx="6" c:formatCode="###,##0.00;\(###,##0.00\)">
                  <c:v>RENT - KALUTARA</c:v>
                </c:pt>
                <c:pt idx="7" c:formatCode="###,##0.00;\(###,##0.00\)">
                  <c:v>RENT - NEGOMBO</c:v>
                </c:pt>
                <c:pt idx="8" c:formatCode="###,##0.00;\(###,##0.00\)">
                  <c:v>RENT - JAFFNA A/C</c:v>
                </c:pt>
                <c:pt idx="9" c:formatCode="###,##0.00;\(###,##0.00\)">
                  <c:v>RENT - BATTICOLO</c:v>
                </c:pt>
              </c:strCache>
            </c:strRef>
          </c:cat>
          <c:val>
            <c:numRef>
              <c:f>'[DCP.xlsx]Opex sub part analysis'!$H$23:$H$32</c:f>
              <c:numCache>
                <c:formatCode>_ * #,##0.00_ ;_ * \-#,##0.00_ ;_ * "-"??_ ;_ @_ </c:formatCode>
                <c:ptCount val="10"/>
                <c:pt idx="0">
                  <c:v>45000</c:v>
                </c:pt>
                <c:pt idx="1">
                  <c:v>44700</c:v>
                </c:pt>
                <c:pt idx="2">
                  <c:v>37500</c:v>
                </c:pt>
                <c:pt idx="3">
                  <c:v>35000</c:v>
                </c:pt>
                <c:pt idx="4">
                  <c:v>30000</c:v>
                </c:pt>
                <c:pt idx="5">
                  <c:v>30000</c:v>
                </c:pt>
                <c:pt idx="6">
                  <c:v>23000</c:v>
                </c:pt>
                <c:pt idx="7">
                  <c:v>25000</c:v>
                </c:pt>
                <c:pt idx="8">
                  <c:v>60000</c:v>
                </c:pt>
                <c:pt idx="9">
                  <c:v>15000</c:v>
                </c:pt>
              </c:numCache>
            </c:numRef>
          </c:val>
        </c:ser>
        <c:ser>
          <c:idx val="2"/>
          <c:order val="2"/>
          <c:tx>
            <c:strRef>
              <c:f>'[DCP.xlsx]Opex sub part analysis'!$I$22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analysis'!$F$23:$F$32</c:f>
              <c:strCache>
                <c:ptCount val="10"/>
                <c:pt idx="0" c:formatCode="###,##0.00;\(###,##0.00\)">
                  <c:v>RENT - KANDY</c:v>
                </c:pt>
                <c:pt idx="1" c:formatCode="###,##0.00;\(###,##0.00\)">
                  <c:v>RENT - KURUNEGALA</c:v>
                </c:pt>
                <c:pt idx="2" c:formatCode="###,##0.00;\(###,##0.00\)">
                  <c:v>RENT - BANDARAWELA</c:v>
                </c:pt>
                <c:pt idx="3" c:formatCode="###,##0.00;\(###,##0.00\)">
                  <c:v>RENT - ANURADHAPURA</c:v>
                </c:pt>
                <c:pt idx="4" c:formatCode="###,##0.00;\(###,##0.00\)">
                  <c:v>RENT - MATARA</c:v>
                </c:pt>
                <c:pt idx="5" c:formatCode="###,##0.00;\(###,##0.00\)">
                  <c:v>RENT - RATHNAPURA</c:v>
                </c:pt>
                <c:pt idx="6" c:formatCode="###,##0.00;\(###,##0.00\)">
                  <c:v>RENT - KALUTARA</c:v>
                </c:pt>
                <c:pt idx="7" c:formatCode="###,##0.00;\(###,##0.00\)">
                  <c:v>RENT - NEGOMBO</c:v>
                </c:pt>
                <c:pt idx="8" c:formatCode="###,##0.00;\(###,##0.00\)">
                  <c:v>RENT - JAFFNA A/C</c:v>
                </c:pt>
                <c:pt idx="9" c:formatCode="###,##0.00;\(###,##0.00\)">
                  <c:v>RENT - BATTICOLO</c:v>
                </c:pt>
              </c:strCache>
            </c:strRef>
          </c:cat>
          <c:val>
            <c:numRef>
              <c:f>'[DCP.xlsx]Opex sub part analysis'!$I$23:$I$32</c:f>
              <c:numCache>
                <c:formatCode>_ * #,##0.00_ ;_ * \-#,##0.00_ ;_ * "-"??_ ;_ @_ </c:formatCode>
                <c:ptCount val="10"/>
                <c:pt idx="0">
                  <c:v>45000</c:v>
                </c:pt>
                <c:pt idx="1">
                  <c:v>46935</c:v>
                </c:pt>
                <c:pt idx="2">
                  <c:v>37500</c:v>
                </c:pt>
                <c:pt idx="3">
                  <c:v>35000</c:v>
                </c:pt>
                <c:pt idx="4">
                  <c:v>30000</c:v>
                </c:pt>
                <c:pt idx="5">
                  <c:v>30000</c:v>
                </c:pt>
                <c:pt idx="6">
                  <c:v>23000</c:v>
                </c:pt>
                <c:pt idx="7">
                  <c:v>25000</c:v>
                </c:pt>
                <c:pt idx="8">
                  <c:v>25000</c:v>
                </c:pt>
                <c:pt idx="9">
                  <c:v>17500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.0241640171033878"/>
                <c:y val="0.103418124006359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039907904835"/>
          <c:y val="0.038553259141494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>
          <a:solidFill>
            <a:schemeClr val="tx1"/>
          </a:solidFill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2900085175284"/>
          <c:y val="0.0505480335267569"/>
          <c:w val="0.919098214767272"/>
          <c:h val="0.5221147646679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'[DCP.xlsx]Opex sub part analysis'!$G$36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analysis'!$F$37:$F$75</c:f>
              <c:strCache>
                <c:ptCount val="39"/>
                <c:pt idx="0" c:formatCode="###,##0.00;\(###,##0.00\)">
                  <c:v>Shared Service Cost</c:v>
                </c:pt>
                <c:pt idx="1" c:formatCode="###,##0.00;\(###,##0.00\)">
                  <c:v>CONSULTANT FEES</c:v>
                </c:pt>
                <c:pt idx="2" c:formatCode="###,##0.00;\(###,##0.00\)">
                  <c:v>EPF</c:v>
                </c:pt>
                <c:pt idx="3" c:formatCode="###,##0.00;\(###,##0.00\)">
                  <c:v>Motor Vehicle allowances</c:v>
                </c:pt>
                <c:pt idx="4" c:formatCode="###,##0.00;\(###,##0.00\)">
                  <c:v>BID BOND CHARGES</c:v>
                </c:pt>
                <c:pt idx="5" c:formatCode="###,##0.00;\(###,##0.00\)">
                  <c:v>COURIER CHARGES</c:v>
                </c:pt>
                <c:pt idx="6" c:formatCode="###,##0.00;\(###,##0.00\)">
                  <c:v>ETF</c:v>
                </c:pt>
                <c:pt idx="7" c:formatCode="###,##0.00;\(###,##0.00\)">
                  <c:v>OFFICE MAINTANANCE</c:v>
                </c:pt>
                <c:pt idx="8" c:formatCode="###,##0.00;\(###,##0.00\)">
                  <c:v>TELEPHONE and FAX</c:v>
                </c:pt>
                <c:pt idx="9" c:formatCode="###,##0.00;\(###,##0.00\)">
                  <c:v>FIRE INSUARANCE</c:v>
                </c:pt>
                <c:pt idx="10" c:formatCode="###,##0.00;\(###,##0.00\)">
                  <c:v>EMAIL &amp; INTERNET</c:v>
                </c:pt>
                <c:pt idx="11" c:formatCode="###,##0.00;\(###,##0.00\)">
                  <c:v>ELECTRICITY</c:v>
                </c:pt>
                <c:pt idx="12" c:formatCode="###,##0.00;\(###,##0.00\)">
                  <c:v>CASUAL WAGES</c:v>
                </c:pt>
                <c:pt idx="13" c:formatCode="###,##0.00;\(###,##0.00\)">
                  <c:v>Rent on Touch card system</c:v>
                </c:pt>
                <c:pt idx="14" c:formatCode="###,##0.00;\(###,##0.00\)">
                  <c:v>Office Maintenance -Internal Consumption</c:v>
                </c:pt>
                <c:pt idx="15" c:formatCode="###,##0.00;\(###,##0.00\)">
                  <c:v>Printing and stationeries - Internal Consumption</c:v>
                </c:pt>
                <c:pt idx="16" c:formatCode="###,##0.00;\(###,##0.00\)">
                  <c:v>PROFFESIONAL CHARGES</c:v>
                </c:pt>
                <c:pt idx="17" c:formatCode="###,##0.00;\(###,##0.00\)">
                  <c:v>PENALTY FOR STATUTORY PAYMENT</c:v>
                </c:pt>
                <c:pt idx="18" c:formatCode="###,##0.00;\(###,##0.00\)">
                  <c:v>Membership Fee</c:v>
                </c:pt>
                <c:pt idx="19" c:formatCode="###,##0.00;\(###,##0.00\)">
                  <c:v>CUSTOMER SUPPORT - LABOUR CHARGES</c:v>
                </c:pt>
                <c:pt idx="20" c:formatCode="###,##0.00;\(###,##0.00\)">
                  <c:v>INSUARANCE - GENERAL</c:v>
                </c:pt>
                <c:pt idx="21" c:formatCode="###,##0.00;\(###,##0.00\)">
                  <c:v>SUBSCRIPTION</c:v>
                </c:pt>
                <c:pt idx="22" c:formatCode="###,##0.00;\(###,##0.00\)">
                  <c:v>WATER CHARGES</c:v>
                </c:pt>
                <c:pt idx="23" c:formatCode="###,##0.00;\(###,##0.00\)">
                  <c:v>MEDICAL INSURANCE</c:v>
                </c:pt>
                <c:pt idx="24" c:formatCode="###,##0.00;\(###,##0.00\)">
                  <c:v>PRINTING and STATIONARY</c:v>
                </c:pt>
                <c:pt idx="25" c:formatCode="###,##0.00;\(###,##0.00\)">
                  <c:v>Charity &amp; Donation Expenses</c:v>
                </c:pt>
                <c:pt idx="26" c:formatCode="###,##0.00;\(###,##0.00\)">
                  <c:v>TELEPHONE - STAFF</c:v>
                </c:pt>
                <c:pt idx="27" c:formatCode="###,##0.00;\(###,##0.00\)">
                  <c:v>Engineering Expenses On Call</c:v>
                </c:pt>
                <c:pt idx="28" c:formatCode="###,##0.00;\(###,##0.00\)">
                  <c:v>NEWS PAPERS and PERIODICALS</c:v>
                </c:pt>
                <c:pt idx="29" c:formatCode="###,##0.00;\(###,##0.00\)">
                  <c:v>STAMP DUTY A/C</c:v>
                </c:pt>
                <c:pt idx="30" c:formatCode="###,##0.00;\(###,##0.00\)">
                  <c:v>POSTAGE and STAMP</c:v>
                </c:pt>
                <c:pt idx="31" c:formatCode="###,##0.00;\(###,##0.00\)">
                  <c:v>Miscellaneous IT accessories exp</c:v>
                </c:pt>
                <c:pt idx="32" c:formatCode="###,##0.00;\(###,##0.00\)">
                  <c:v>Computer repairs &amp; Maintenance</c:v>
                </c:pt>
                <c:pt idx="33" c:formatCode="###,##0.00;\(###,##0.00\)">
                  <c:v>Domain renewal charges</c:v>
                </c:pt>
                <c:pt idx="34" c:formatCode="###,##0.00;\(###,##0.00\)">
                  <c:v>Store maintenance</c:v>
                </c:pt>
                <c:pt idx="35" c:formatCode="###,##0.00;\(###,##0.00\)">
                  <c:v>TRADE TAX</c:v>
                </c:pt>
                <c:pt idx="36" c:formatCode="###,##0.00;\(###,##0.00\)">
                  <c:v>TRADE LICENSE FEES</c:v>
                </c:pt>
                <c:pt idx="37" c:formatCode="###,##0.00;\(###,##0.00\)">
                  <c:v>WELLAWATTA LAND EXP. A/C</c:v>
                </c:pt>
                <c:pt idx="38" c:formatCode="###,##0.00;\(###,##0.00\)">
                  <c:v>Payroll System Charges</c:v>
                </c:pt>
              </c:strCache>
            </c:strRef>
          </c:cat>
          <c:val>
            <c:numRef>
              <c:f>'[DCP.xlsx]Opex sub part analysis'!$G$37:$G$75</c:f>
              <c:numCache>
                <c:formatCode>_ * #,##0.00_ ;_ * \-#,##0.00_ ;_ * "-"??_ ;_ @_ </c:formatCode>
                <c:ptCount val="39"/>
                <c:pt idx="0">
                  <c:v>7748556.25</c:v>
                </c:pt>
                <c:pt idx="1">
                  <c:v>2299994.085</c:v>
                </c:pt>
                <c:pt idx="2">
                  <c:v>1089923.225</c:v>
                </c:pt>
                <c:pt idx="3">
                  <c:v>987500</c:v>
                </c:pt>
                <c:pt idx="4">
                  <c:v>530376.5575</c:v>
                </c:pt>
                <c:pt idx="5">
                  <c:v>457228.395</c:v>
                </c:pt>
                <c:pt idx="6">
                  <c:v>272480.805</c:v>
                </c:pt>
                <c:pt idx="7">
                  <c:v>237927.25</c:v>
                </c:pt>
                <c:pt idx="8">
                  <c:v>191624.355</c:v>
                </c:pt>
                <c:pt idx="9">
                  <c:v>164501.755</c:v>
                </c:pt>
                <c:pt idx="10">
                  <c:v>140059.9485</c:v>
                </c:pt>
                <c:pt idx="11">
                  <c:v>137787</c:v>
                </c:pt>
                <c:pt idx="12">
                  <c:v>131975</c:v>
                </c:pt>
                <c:pt idx="13">
                  <c:v>98484.8475</c:v>
                </c:pt>
                <c:pt idx="14">
                  <c:v>88032.853625</c:v>
                </c:pt>
                <c:pt idx="15">
                  <c:v>87853.806325</c:v>
                </c:pt>
                <c:pt idx="16">
                  <c:v>82230.2</c:v>
                </c:pt>
                <c:pt idx="17">
                  <c:v>61086.365</c:v>
                </c:pt>
                <c:pt idx="18">
                  <c:v>41666.75</c:v>
                </c:pt>
                <c:pt idx="19">
                  <c:v>40000</c:v>
                </c:pt>
                <c:pt idx="20">
                  <c:v>37350.3775</c:v>
                </c:pt>
                <c:pt idx="21">
                  <c:v>25375</c:v>
                </c:pt>
                <c:pt idx="22">
                  <c:v>12357.42</c:v>
                </c:pt>
                <c:pt idx="23">
                  <c:v>11843</c:v>
                </c:pt>
                <c:pt idx="24">
                  <c:v>8143.75</c:v>
                </c:pt>
                <c:pt idx="25">
                  <c:v>7500</c:v>
                </c:pt>
                <c:pt idx="26">
                  <c:v>6250</c:v>
                </c:pt>
                <c:pt idx="27">
                  <c:v>6131.25</c:v>
                </c:pt>
                <c:pt idx="28">
                  <c:v>5777.5</c:v>
                </c:pt>
                <c:pt idx="29">
                  <c:v>5056.2666</c:v>
                </c:pt>
                <c:pt idx="30">
                  <c:v>4801.25</c:v>
                </c:pt>
                <c:pt idx="31">
                  <c:v>4352.23455</c:v>
                </c:pt>
                <c:pt idx="32">
                  <c:v>1750</c:v>
                </c:pt>
                <c:pt idx="33">
                  <c:v>1026.8925</c:v>
                </c:pt>
                <c:pt idx="34">
                  <c:v>880</c:v>
                </c:pt>
                <c:pt idx="35">
                  <c:v>750</c:v>
                </c:pt>
                <c:pt idx="36" c:formatCode="General">
                  <c:v>0</c:v>
                </c:pt>
                <c:pt idx="37" c:formatCode="General">
                  <c:v>0</c:v>
                </c:pt>
                <c:pt idx="38" c:formatCode="General">
                  <c:v>0</c:v>
                </c:pt>
              </c:numCache>
            </c:numRef>
          </c:val>
        </c:ser>
        <c:ser>
          <c:idx val="1"/>
          <c:order val="1"/>
          <c:tx>
            <c:strRef>
              <c:f>'[DCP.xlsx]Opex sub part analysis'!$H$36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analysis'!$F$37:$F$75</c:f>
              <c:strCache>
                <c:ptCount val="39"/>
                <c:pt idx="0" c:formatCode="###,##0.00;\(###,##0.00\)">
                  <c:v>Shared Service Cost</c:v>
                </c:pt>
                <c:pt idx="1" c:formatCode="###,##0.00;\(###,##0.00\)">
                  <c:v>CONSULTANT FEES</c:v>
                </c:pt>
                <c:pt idx="2" c:formatCode="###,##0.00;\(###,##0.00\)">
                  <c:v>EPF</c:v>
                </c:pt>
                <c:pt idx="3" c:formatCode="###,##0.00;\(###,##0.00\)">
                  <c:v>Motor Vehicle allowances</c:v>
                </c:pt>
                <c:pt idx="4" c:formatCode="###,##0.00;\(###,##0.00\)">
                  <c:v>BID BOND CHARGES</c:v>
                </c:pt>
                <c:pt idx="5" c:formatCode="###,##0.00;\(###,##0.00\)">
                  <c:v>COURIER CHARGES</c:v>
                </c:pt>
                <c:pt idx="6" c:formatCode="###,##0.00;\(###,##0.00\)">
                  <c:v>ETF</c:v>
                </c:pt>
                <c:pt idx="7" c:formatCode="###,##0.00;\(###,##0.00\)">
                  <c:v>OFFICE MAINTANANCE</c:v>
                </c:pt>
                <c:pt idx="8" c:formatCode="###,##0.00;\(###,##0.00\)">
                  <c:v>TELEPHONE and FAX</c:v>
                </c:pt>
                <c:pt idx="9" c:formatCode="###,##0.00;\(###,##0.00\)">
                  <c:v>FIRE INSUARANCE</c:v>
                </c:pt>
                <c:pt idx="10" c:formatCode="###,##0.00;\(###,##0.00\)">
                  <c:v>EMAIL &amp; INTERNET</c:v>
                </c:pt>
                <c:pt idx="11" c:formatCode="###,##0.00;\(###,##0.00\)">
                  <c:v>ELECTRICITY</c:v>
                </c:pt>
                <c:pt idx="12" c:formatCode="###,##0.00;\(###,##0.00\)">
                  <c:v>CASUAL WAGES</c:v>
                </c:pt>
                <c:pt idx="13" c:formatCode="###,##0.00;\(###,##0.00\)">
                  <c:v>Rent on Touch card system</c:v>
                </c:pt>
                <c:pt idx="14" c:formatCode="###,##0.00;\(###,##0.00\)">
                  <c:v>Office Maintenance -Internal Consumption</c:v>
                </c:pt>
                <c:pt idx="15" c:formatCode="###,##0.00;\(###,##0.00\)">
                  <c:v>Printing and stationeries - Internal Consumption</c:v>
                </c:pt>
                <c:pt idx="16" c:formatCode="###,##0.00;\(###,##0.00\)">
                  <c:v>PROFFESIONAL CHARGES</c:v>
                </c:pt>
                <c:pt idx="17" c:formatCode="###,##0.00;\(###,##0.00\)">
                  <c:v>PENALTY FOR STATUTORY PAYMENT</c:v>
                </c:pt>
                <c:pt idx="18" c:formatCode="###,##0.00;\(###,##0.00\)">
                  <c:v>Membership Fee</c:v>
                </c:pt>
                <c:pt idx="19" c:formatCode="###,##0.00;\(###,##0.00\)">
                  <c:v>CUSTOMER SUPPORT - LABOUR CHARGES</c:v>
                </c:pt>
                <c:pt idx="20" c:formatCode="###,##0.00;\(###,##0.00\)">
                  <c:v>INSUARANCE - GENERAL</c:v>
                </c:pt>
                <c:pt idx="21" c:formatCode="###,##0.00;\(###,##0.00\)">
                  <c:v>SUBSCRIPTION</c:v>
                </c:pt>
                <c:pt idx="22" c:formatCode="###,##0.00;\(###,##0.00\)">
                  <c:v>WATER CHARGES</c:v>
                </c:pt>
                <c:pt idx="23" c:formatCode="###,##0.00;\(###,##0.00\)">
                  <c:v>MEDICAL INSURANCE</c:v>
                </c:pt>
                <c:pt idx="24" c:formatCode="###,##0.00;\(###,##0.00\)">
                  <c:v>PRINTING and STATIONARY</c:v>
                </c:pt>
                <c:pt idx="25" c:formatCode="###,##0.00;\(###,##0.00\)">
                  <c:v>Charity &amp; Donation Expenses</c:v>
                </c:pt>
                <c:pt idx="26" c:formatCode="###,##0.00;\(###,##0.00\)">
                  <c:v>TELEPHONE - STAFF</c:v>
                </c:pt>
                <c:pt idx="27" c:formatCode="###,##0.00;\(###,##0.00\)">
                  <c:v>Engineering Expenses On Call</c:v>
                </c:pt>
                <c:pt idx="28" c:formatCode="###,##0.00;\(###,##0.00\)">
                  <c:v>NEWS PAPERS and PERIODICALS</c:v>
                </c:pt>
                <c:pt idx="29" c:formatCode="###,##0.00;\(###,##0.00\)">
                  <c:v>STAMP DUTY A/C</c:v>
                </c:pt>
                <c:pt idx="30" c:formatCode="###,##0.00;\(###,##0.00\)">
                  <c:v>POSTAGE and STAMP</c:v>
                </c:pt>
                <c:pt idx="31" c:formatCode="###,##0.00;\(###,##0.00\)">
                  <c:v>Miscellaneous IT accessories exp</c:v>
                </c:pt>
                <c:pt idx="32" c:formatCode="###,##0.00;\(###,##0.00\)">
                  <c:v>Computer repairs &amp; Maintenance</c:v>
                </c:pt>
                <c:pt idx="33" c:formatCode="###,##0.00;\(###,##0.00\)">
                  <c:v>Domain renewal charges</c:v>
                </c:pt>
                <c:pt idx="34" c:formatCode="###,##0.00;\(###,##0.00\)">
                  <c:v>Store maintenance</c:v>
                </c:pt>
                <c:pt idx="35" c:formatCode="###,##0.00;\(###,##0.00\)">
                  <c:v>TRADE TAX</c:v>
                </c:pt>
                <c:pt idx="36" c:formatCode="###,##0.00;\(###,##0.00\)">
                  <c:v>TRADE LICENSE FEES</c:v>
                </c:pt>
                <c:pt idx="37" c:formatCode="###,##0.00;\(###,##0.00\)">
                  <c:v>WELLAWATTA LAND EXP. A/C</c:v>
                </c:pt>
                <c:pt idx="38" c:formatCode="###,##0.00;\(###,##0.00\)">
                  <c:v>Payroll System Charges</c:v>
                </c:pt>
              </c:strCache>
            </c:strRef>
          </c:cat>
          <c:val>
            <c:numRef>
              <c:f>'[DCP.xlsx]Opex sub part analysis'!$H$37:$H$75</c:f>
              <c:numCache>
                <c:formatCode>_ * #,##0.00_ ;_ * \-#,##0.00_ ;_ * "-"??_ ;_ @_ </c:formatCode>
                <c:ptCount val="39"/>
                <c:pt idx="0">
                  <c:v>6198845</c:v>
                </c:pt>
                <c:pt idx="1">
                  <c:v>1647820.46</c:v>
                </c:pt>
                <c:pt idx="2">
                  <c:v>876694.22</c:v>
                </c:pt>
                <c:pt idx="3">
                  <c:v>780000</c:v>
                </c:pt>
                <c:pt idx="4">
                  <c:v>254859.68</c:v>
                </c:pt>
                <c:pt idx="5">
                  <c:v>288960.03</c:v>
                </c:pt>
                <c:pt idx="6">
                  <c:v>219173.55</c:v>
                </c:pt>
                <c:pt idx="7">
                  <c:v>61101.75</c:v>
                </c:pt>
                <c:pt idx="8">
                  <c:v>184038.33</c:v>
                </c:pt>
                <c:pt idx="9" c:formatCode="General">
                  <c:v>0</c:v>
                </c:pt>
                <c:pt idx="10">
                  <c:v>110073.565</c:v>
                </c:pt>
                <c:pt idx="11">
                  <c:v>138587.01</c:v>
                </c:pt>
                <c:pt idx="12">
                  <c:v>157000</c:v>
                </c:pt>
                <c:pt idx="13" c:formatCode="General">
                  <c:v>0</c:v>
                </c:pt>
                <c:pt idx="14">
                  <c:v>70406.5</c:v>
                </c:pt>
                <c:pt idx="15">
                  <c:v>132533.5</c:v>
                </c:pt>
                <c:pt idx="16">
                  <c:v>40307.16</c:v>
                </c:pt>
                <c:pt idx="17">
                  <c:v>223248.36</c:v>
                </c:pt>
                <c:pt idx="18" c:formatCode="General">
                  <c:v>0</c:v>
                </c:pt>
                <c:pt idx="19" c:formatCode="General">
                  <c:v>0</c:v>
                </c:pt>
                <c:pt idx="20" c:formatCode="General">
                  <c:v>0</c:v>
                </c:pt>
                <c:pt idx="21">
                  <c:v>44218.23</c:v>
                </c:pt>
                <c:pt idx="22">
                  <c:v>8785</c:v>
                </c:pt>
                <c:pt idx="23" c:formatCode="General">
                  <c:v>0</c:v>
                </c:pt>
                <c:pt idx="24">
                  <c:v>10023</c:v>
                </c:pt>
                <c:pt idx="25" c:formatCode="General">
                  <c:v>0</c:v>
                </c:pt>
                <c:pt idx="26">
                  <c:v>7500</c:v>
                </c:pt>
                <c:pt idx="27">
                  <c:v>7700</c:v>
                </c:pt>
                <c:pt idx="28">
                  <c:v>5270</c:v>
                </c:pt>
                <c:pt idx="29">
                  <c:v>10150</c:v>
                </c:pt>
                <c:pt idx="30">
                  <c:v>1015</c:v>
                </c:pt>
                <c:pt idx="31" c:formatCode="General">
                  <c:v>0</c:v>
                </c:pt>
                <c:pt idx="32" c:formatCode="General">
                  <c:v>0</c:v>
                </c:pt>
                <c:pt idx="33" c:formatCode="General">
                  <c:v>0</c:v>
                </c:pt>
                <c:pt idx="34">
                  <c:v>28146</c:v>
                </c:pt>
                <c:pt idx="35" c:formatCode="General">
                  <c:v>0</c:v>
                </c:pt>
                <c:pt idx="36" c:formatCode="General">
                  <c:v>0</c:v>
                </c:pt>
                <c:pt idx="37">
                  <c:v>3650</c:v>
                </c:pt>
                <c:pt idx="38">
                  <c:v>116229.82</c:v>
                </c:pt>
              </c:numCache>
            </c:numRef>
          </c:val>
        </c:ser>
        <c:ser>
          <c:idx val="2"/>
          <c:order val="2"/>
          <c:tx>
            <c:strRef>
              <c:f>'[DCP.xlsx]Opex sub part analysis'!$I$36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analysis'!$F$37:$F$75</c:f>
              <c:strCache>
                <c:ptCount val="39"/>
                <c:pt idx="0" c:formatCode="###,##0.00;\(###,##0.00\)">
                  <c:v>Shared Service Cost</c:v>
                </c:pt>
                <c:pt idx="1" c:formatCode="###,##0.00;\(###,##0.00\)">
                  <c:v>CONSULTANT FEES</c:v>
                </c:pt>
                <c:pt idx="2" c:formatCode="###,##0.00;\(###,##0.00\)">
                  <c:v>EPF</c:v>
                </c:pt>
                <c:pt idx="3" c:formatCode="###,##0.00;\(###,##0.00\)">
                  <c:v>Motor Vehicle allowances</c:v>
                </c:pt>
                <c:pt idx="4" c:formatCode="###,##0.00;\(###,##0.00\)">
                  <c:v>BID BOND CHARGES</c:v>
                </c:pt>
                <c:pt idx="5" c:formatCode="###,##0.00;\(###,##0.00\)">
                  <c:v>COURIER CHARGES</c:v>
                </c:pt>
                <c:pt idx="6" c:formatCode="###,##0.00;\(###,##0.00\)">
                  <c:v>ETF</c:v>
                </c:pt>
                <c:pt idx="7" c:formatCode="###,##0.00;\(###,##0.00\)">
                  <c:v>OFFICE MAINTANANCE</c:v>
                </c:pt>
                <c:pt idx="8" c:formatCode="###,##0.00;\(###,##0.00\)">
                  <c:v>TELEPHONE and FAX</c:v>
                </c:pt>
                <c:pt idx="9" c:formatCode="###,##0.00;\(###,##0.00\)">
                  <c:v>FIRE INSUARANCE</c:v>
                </c:pt>
                <c:pt idx="10" c:formatCode="###,##0.00;\(###,##0.00\)">
                  <c:v>EMAIL &amp; INTERNET</c:v>
                </c:pt>
                <c:pt idx="11" c:formatCode="###,##0.00;\(###,##0.00\)">
                  <c:v>ELECTRICITY</c:v>
                </c:pt>
                <c:pt idx="12" c:formatCode="###,##0.00;\(###,##0.00\)">
                  <c:v>CASUAL WAGES</c:v>
                </c:pt>
                <c:pt idx="13" c:formatCode="###,##0.00;\(###,##0.00\)">
                  <c:v>Rent on Touch card system</c:v>
                </c:pt>
                <c:pt idx="14" c:formatCode="###,##0.00;\(###,##0.00\)">
                  <c:v>Office Maintenance -Internal Consumption</c:v>
                </c:pt>
                <c:pt idx="15" c:formatCode="###,##0.00;\(###,##0.00\)">
                  <c:v>Printing and stationeries - Internal Consumption</c:v>
                </c:pt>
                <c:pt idx="16" c:formatCode="###,##0.00;\(###,##0.00\)">
                  <c:v>PROFFESIONAL CHARGES</c:v>
                </c:pt>
                <c:pt idx="17" c:formatCode="###,##0.00;\(###,##0.00\)">
                  <c:v>PENALTY FOR STATUTORY PAYMENT</c:v>
                </c:pt>
                <c:pt idx="18" c:formatCode="###,##0.00;\(###,##0.00\)">
                  <c:v>Membership Fee</c:v>
                </c:pt>
                <c:pt idx="19" c:formatCode="###,##0.00;\(###,##0.00\)">
                  <c:v>CUSTOMER SUPPORT - LABOUR CHARGES</c:v>
                </c:pt>
                <c:pt idx="20" c:formatCode="###,##0.00;\(###,##0.00\)">
                  <c:v>INSUARANCE - GENERAL</c:v>
                </c:pt>
                <c:pt idx="21" c:formatCode="###,##0.00;\(###,##0.00\)">
                  <c:v>SUBSCRIPTION</c:v>
                </c:pt>
                <c:pt idx="22" c:formatCode="###,##0.00;\(###,##0.00\)">
                  <c:v>WATER CHARGES</c:v>
                </c:pt>
                <c:pt idx="23" c:formatCode="###,##0.00;\(###,##0.00\)">
                  <c:v>MEDICAL INSURANCE</c:v>
                </c:pt>
                <c:pt idx="24" c:formatCode="###,##0.00;\(###,##0.00\)">
                  <c:v>PRINTING and STATIONARY</c:v>
                </c:pt>
                <c:pt idx="25" c:formatCode="###,##0.00;\(###,##0.00\)">
                  <c:v>Charity &amp; Donation Expenses</c:v>
                </c:pt>
                <c:pt idx="26" c:formatCode="###,##0.00;\(###,##0.00\)">
                  <c:v>TELEPHONE - STAFF</c:v>
                </c:pt>
                <c:pt idx="27" c:formatCode="###,##0.00;\(###,##0.00\)">
                  <c:v>Engineering Expenses On Call</c:v>
                </c:pt>
                <c:pt idx="28" c:formatCode="###,##0.00;\(###,##0.00\)">
                  <c:v>NEWS PAPERS and PERIODICALS</c:v>
                </c:pt>
                <c:pt idx="29" c:formatCode="###,##0.00;\(###,##0.00\)">
                  <c:v>STAMP DUTY A/C</c:v>
                </c:pt>
                <c:pt idx="30" c:formatCode="###,##0.00;\(###,##0.00\)">
                  <c:v>POSTAGE and STAMP</c:v>
                </c:pt>
                <c:pt idx="31" c:formatCode="###,##0.00;\(###,##0.00\)">
                  <c:v>Miscellaneous IT accessories exp</c:v>
                </c:pt>
                <c:pt idx="32" c:formatCode="###,##0.00;\(###,##0.00\)">
                  <c:v>Computer repairs &amp; Maintenance</c:v>
                </c:pt>
                <c:pt idx="33" c:formatCode="###,##0.00;\(###,##0.00\)">
                  <c:v>Domain renewal charges</c:v>
                </c:pt>
                <c:pt idx="34" c:formatCode="###,##0.00;\(###,##0.00\)">
                  <c:v>Store maintenance</c:v>
                </c:pt>
                <c:pt idx="35" c:formatCode="###,##0.00;\(###,##0.00\)">
                  <c:v>TRADE TAX</c:v>
                </c:pt>
                <c:pt idx="36" c:formatCode="###,##0.00;\(###,##0.00\)">
                  <c:v>TRADE LICENSE FEES</c:v>
                </c:pt>
                <c:pt idx="37" c:formatCode="###,##0.00;\(###,##0.00\)">
                  <c:v>WELLAWATTA LAND EXP. A/C</c:v>
                </c:pt>
                <c:pt idx="38" c:formatCode="###,##0.00;\(###,##0.00\)">
                  <c:v>Payroll System Charges</c:v>
                </c:pt>
              </c:strCache>
            </c:strRef>
          </c:cat>
          <c:val>
            <c:numRef>
              <c:f>'[DCP.xlsx]Opex sub part analysis'!$I$37:$I$75</c:f>
              <c:numCache>
                <c:formatCode>_ * #,##0.00_ ;_ * \-#,##0.00_ ;_ * "-"??_ ;_ @_ </c:formatCode>
                <c:ptCount val="39"/>
                <c:pt idx="0">
                  <c:v>6198845</c:v>
                </c:pt>
                <c:pt idx="1">
                  <c:v>1489921.73</c:v>
                </c:pt>
                <c:pt idx="2">
                  <c:v>894972.81</c:v>
                </c:pt>
                <c:pt idx="3">
                  <c:v>814500</c:v>
                </c:pt>
                <c:pt idx="4">
                  <c:v>138783.16</c:v>
                </c:pt>
                <c:pt idx="5">
                  <c:v>467655.43</c:v>
                </c:pt>
                <c:pt idx="6">
                  <c:v>223743.2</c:v>
                </c:pt>
                <c:pt idx="7">
                  <c:v>141238</c:v>
                </c:pt>
                <c:pt idx="8">
                  <c:v>123458.16</c:v>
                </c:pt>
                <c:pt idx="9" c:formatCode="General">
                  <c:v>0</c:v>
                </c:pt>
                <c:pt idx="10">
                  <c:v>93299.59</c:v>
                </c:pt>
                <c:pt idx="11">
                  <c:v>108832</c:v>
                </c:pt>
                <c:pt idx="12">
                  <c:v>319100</c:v>
                </c:pt>
                <c:pt idx="13">
                  <c:v>500</c:v>
                </c:pt>
                <c:pt idx="14">
                  <c:v>34532.6694</c:v>
                </c:pt>
                <c:pt idx="15">
                  <c:v>280461.5384</c:v>
                </c:pt>
                <c:pt idx="16">
                  <c:v>52807.16</c:v>
                </c:pt>
                <c:pt idx="17" c:formatCode="General">
                  <c:v>0</c:v>
                </c:pt>
                <c:pt idx="18" c:formatCode="General">
                  <c:v>0</c:v>
                </c:pt>
                <c:pt idx="19">
                  <c:v>35000</c:v>
                </c:pt>
                <c:pt idx="20" c:formatCode="General">
                  <c:v>0</c:v>
                </c:pt>
                <c:pt idx="21">
                  <c:v>4165.38</c:v>
                </c:pt>
                <c:pt idx="22">
                  <c:v>11132</c:v>
                </c:pt>
                <c:pt idx="23">
                  <c:v>2209</c:v>
                </c:pt>
                <c:pt idx="24">
                  <c:v>1750</c:v>
                </c:pt>
                <c:pt idx="25" c:formatCode="General">
                  <c:v>0</c:v>
                </c:pt>
                <c:pt idx="26">
                  <c:v>17500</c:v>
                </c:pt>
                <c:pt idx="27">
                  <c:v>6300</c:v>
                </c:pt>
                <c:pt idx="28">
                  <c:v>5150</c:v>
                </c:pt>
                <c:pt idx="29">
                  <c:v>85569.15</c:v>
                </c:pt>
                <c:pt idx="30">
                  <c:v>13180</c:v>
                </c:pt>
                <c:pt idx="31" c:formatCode="General">
                  <c:v>0</c:v>
                </c:pt>
                <c:pt idx="32" c:formatCode="General">
                  <c:v>0</c:v>
                </c:pt>
                <c:pt idx="33" c:formatCode="General">
                  <c:v>0</c:v>
                </c:pt>
                <c:pt idx="34" c:formatCode="General">
                  <c:v>0</c:v>
                </c:pt>
                <c:pt idx="35" c:formatCode="General">
                  <c:v>0</c:v>
                </c:pt>
                <c:pt idx="36">
                  <c:v>9420</c:v>
                </c:pt>
                <c:pt idx="37" c:formatCode="General">
                  <c:v>0</c:v>
                </c:pt>
                <c:pt idx="38">
                  <c:v>147592.76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798167343199399"/>
          <c:y val="0.0038684719535783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55070092183494"/>
          <c:y val="0.113264535615404"/>
          <c:w val="0.894747177221404"/>
          <c:h val="0.622436979312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'[DCP.xlsx]Opex sub part analysis'!$G$125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analysis'!$F$126:$F$148</c:f>
              <c:strCache>
                <c:ptCount val="23"/>
                <c:pt idx="0" c:formatCode="###,##0.00;\(###,##0.00\)">
                  <c:v>DIESAL   PETROL and GAS A/C</c:v>
                </c:pt>
                <c:pt idx="1" c:formatCode="###,##0.00;\(###,##0.00\)">
                  <c:v>COMMISSION - ENG_SERVICES</c:v>
                </c:pt>
                <c:pt idx="2" c:formatCode="###,##0.00;\(###,##0.00\)">
                  <c:v>Dealer's Expenses</c:v>
                </c:pt>
                <c:pt idx="3" c:formatCode="###,##0.00;\(###,##0.00\)">
                  <c:v>MOTOR VEHICLE MAINTANANCE</c:v>
                </c:pt>
                <c:pt idx="4" c:formatCode="###,##0.00;\(###,##0.00\)">
                  <c:v>COMMISSION - DISTRIBUTION</c:v>
                </c:pt>
                <c:pt idx="5" c:formatCode="###,##0.00;\(###,##0.00\)">
                  <c:v>TRAVELLING EXPENCES</c:v>
                </c:pt>
                <c:pt idx="6" c:formatCode="###,##0.00;\(###,##0.00\)">
                  <c:v>Bad Debtors</c:v>
                </c:pt>
                <c:pt idx="7" c:formatCode="###,##0.00;\(###,##0.00\)">
                  <c:v>PROJECT EXPENSES A/C</c:v>
                </c:pt>
                <c:pt idx="8" c:formatCode="###,##0.00;\(###,##0.00\)">
                  <c:v>Service - Expense</c:v>
                </c:pt>
                <c:pt idx="9" c:formatCode="###,##0.00;\(###,##0.00\)">
                  <c:v>FOREIGN TRAVELLING EXPENSES A/C</c:v>
                </c:pt>
                <c:pt idx="10" c:formatCode="###,##0.00;\(###,##0.00\)">
                  <c:v>SALES PROMOTION</c:v>
                </c:pt>
                <c:pt idx="11" c:formatCode="###,##0.00;\(###,##0.00\)">
                  <c:v>COMMISSION - CORPORATE</c:v>
                </c:pt>
                <c:pt idx="12" c:formatCode="###,##0.00;\(###,##0.00\)">
                  <c:v>STAFF SEMINAR and TRAINING</c:v>
                </c:pt>
                <c:pt idx="13" c:formatCode="###,##0.00;\(###,##0.00\)">
                  <c:v>TENDER CHARGES</c:v>
                </c:pt>
                <c:pt idx="14" c:formatCode="###,##0.00;\(###,##0.00\)">
                  <c:v>ANNUAL MAINTENANCE CONTRACT CHARGES</c:v>
                </c:pt>
                <c:pt idx="15" c:formatCode="###,##0.00;\(###,##0.00\)">
                  <c:v>COMMISSION - DEBT COLLECTION</c:v>
                </c:pt>
                <c:pt idx="16" c:formatCode="###,##0.00;\(###,##0.00\)">
                  <c:v>BOLGODA MAINTENANCE</c:v>
                </c:pt>
                <c:pt idx="17" c:formatCode="###,##0.00;\(###,##0.00\)">
                  <c:v>Motor vehicle maintenance - Internal Consumption</c:v>
                </c:pt>
                <c:pt idx="18" c:formatCode="###,##0.00;\(###,##0.00\)">
                  <c:v>REGISTRATION OF SUPLLIERS</c:v>
                </c:pt>
                <c:pt idx="19" c:formatCode="###,##0.00;\(###,##0.00\)">
                  <c:v>Registration Expenses</c:v>
                </c:pt>
                <c:pt idx="20" c:formatCode="###,##0.00;\(###,##0.00\)">
                  <c:v>ADVERTISEMENTS</c:v>
                </c:pt>
                <c:pt idx="21" c:formatCode="###,##0.00;\(###,##0.00\)">
                  <c:v>COMMISSION - ENG_PROJECT</c:v>
                </c:pt>
                <c:pt idx="22" c:formatCode="###,##0.00;\(###,##0.00\)">
                  <c:v>TRANSPORT A/C</c:v>
                </c:pt>
              </c:strCache>
            </c:strRef>
          </c:cat>
          <c:val>
            <c:numRef>
              <c:f>'[DCP.xlsx]Opex sub part analysis'!$G$126:$G$148</c:f>
              <c:numCache>
                <c:formatCode>_ * #,##0.00_ ;_ * \-#,##0.00_ ;_ * "-"??_ ;_ @_ </c:formatCode>
                <c:ptCount val="23"/>
                <c:pt idx="0">
                  <c:v>1620308.245</c:v>
                </c:pt>
                <c:pt idx="1">
                  <c:v>1156654.855</c:v>
                </c:pt>
                <c:pt idx="2">
                  <c:v>1091752.5</c:v>
                </c:pt>
                <c:pt idx="3">
                  <c:v>854016.7</c:v>
                </c:pt>
                <c:pt idx="4">
                  <c:v>706884.5375</c:v>
                </c:pt>
                <c:pt idx="5">
                  <c:v>486952.2075</c:v>
                </c:pt>
                <c:pt idx="6">
                  <c:v>372656.342925</c:v>
                </c:pt>
                <c:pt idx="7">
                  <c:v>237937.4775</c:v>
                </c:pt>
                <c:pt idx="8">
                  <c:v>154375</c:v>
                </c:pt>
                <c:pt idx="9">
                  <c:v>144879.75</c:v>
                </c:pt>
                <c:pt idx="10">
                  <c:v>127463.9802</c:v>
                </c:pt>
                <c:pt idx="11">
                  <c:v>122577.825</c:v>
                </c:pt>
                <c:pt idx="12">
                  <c:v>111821.5</c:v>
                </c:pt>
                <c:pt idx="13">
                  <c:v>69051.0125</c:v>
                </c:pt>
                <c:pt idx="14">
                  <c:v>52270</c:v>
                </c:pt>
                <c:pt idx="15">
                  <c:v>44682.055</c:v>
                </c:pt>
                <c:pt idx="16">
                  <c:v>32972.45</c:v>
                </c:pt>
                <c:pt idx="17">
                  <c:v>25329.675</c:v>
                </c:pt>
                <c:pt idx="18">
                  <c:v>10954.2275</c:v>
                </c:pt>
                <c:pt idx="19">
                  <c:v>9000</c:v>
                </c:pt>
                <c:pt idx="20">
                  <c:v>8065</c:v>
                </c:pt>
                <c:pt idx="21">
                  <c:v>7468.75</c:v>
                </c:pt>
                <c:pt idx="22">
                  <c:v>5807.5</c:v>
                </c:pt>
              </c:numCache>
            </c:numRef>
          </c:val>
        </c:ser>
        <c:ser>
          <c:idx val="1"/>
          <c:order val="1"/>
          <c:tx>
            <c:strRef>
              <c:f>'[DCP.xlsx]Opex sub part analysis'!$H$125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analysis'!$F$126:$F$148</c:f>
              <c:strCache>
                <c:ptCount val="23"/>
                <c:pt idx="0" c:formatCode="###,##0.00;\(###,##0.00\)">
                  <c:v>DIESAL   PETROL and GAS A/C</c:v>
                </c:pt>
                <c:pt idx="1" c:formatCode="###,##0.00;\(###,##0.00\)">
                  <c:v>COMMISSION - ENG_SERVICES</c:v>
                </c:pt>
                <c:pt idx="2" c:formatCode="###,##0.00;\(###,##0.00\)">
                  <c:v>Dealer's Expenses</c:v>
                </c:pt>
                <c:pt idx="3" c:formatCode="###,##0.00;\(###,##0.00\)">
                  <c:v>MOTOR VEHICLE MAINTANANCE</c:v>
                </c:pt>
                <c:pt idx="4" c:formatCode="###,##0.00;\(###,##0.00\)">
                  <c:v>COMMISSION - DISTRIBUTION</c:v>
                </c:pt>
                <c:pt idx="5" c:formatCode="###,##0.00;\(###,##0.00\)">
                  <c:v>TRAVELLING EXPENCES</c:v>
                </c:pt>
                <c:pt idx="6" c:formatCode="###,##0.00;\(###,##0.00\)">
                  <c:v>Bad Debtors</c:v>
                </c:pt>
                <c:pt idx="7" c:formatCode="###,##0.00;\(###,##0.00\)">
                  <c:v>PROJECT EXPENSES A/C</c:v>
                </c:pt>
                <c:pt idx="8" c:formatCode="###,##0.00;\(###,##0.00\)">
                  <c:v>Service - Expense</c:v>
                </c:pt>
                <c:pt idx="9" c:formatCode="###,##0.00;\(###,##0.00\)">
                  <c:v>FOREIGN TRAVELLING EXPENSES A/C</c:v>
                </c:pt>
                <c:pt idx="10" c:formatCode="###,##0.00;\(###,##0.00\)">
                  <c:v>SALES PROMOTION</c:v>
                </c:pt>
                <c:pt idx="11" c:formatCode="###,##0.00;\(###,##0.00\)">
                  <c:v>COMMISSION - CORPORATE</c:v>
                </c:pt>
                <c:pt idx="12" c:formatCode="###,##0.00;\(###,##0.00\)">
                  <c:v>STAFF SEMINAR and TRAINING</c:v>
                </c:pt>
                <c:pt idx="13" c:formatCode="###,##0.00;\(###,##0.00\)">
                  <c:v>TENDER CHARGES</c:v>
                </c:pt>
                <c:pt idx="14" c:formatCode="###,##0.00;\(###,##0.00\)">
                  <c:v>ANNUAL MAINTENANCE CONTRACT CHARGES</c:v>
                </c:pt>
                <c:pt idx="15" c:formatCode="###,##0.00;\(###,##0.00\)">
                  <c:v>COMMISSION - DEBT COLLECTION</c:v>
                </c:pt>
                <c:pt idx="16" c:formatCode="###,##0.00;\(###,##0.00\)">
                  <c:v>BOLGODA MAINTENANCE</c:v>
                </c:pt>
                <c:pt idx="17" c:formatCode="###,##0.00;\(###,##0.00\)">
                  <c:v>Motor vehicle maintenance - Internal Consumption</c:v>
                </c:pt>
                <c:pt idx="18" c:formatCode="###,##0.00;\(###,##0.00\)">
                  <c:v>REGISTRATION OF SUPLLIERS</c:v>
                </c:pt>
                <c:pt idx="19" c:formatCode="###,##0.00;\(###,##0.00\)">
                  <c:v>Registration Expenses</c:v>
                </c:pt>
                <c:pt idx="20" c:formatCode="###,##0.00;\(###,##0.00\)">
                  <c:v>ADVERTISEMENTS</c:v>
                </c:pt>
                <c:pt idx="21" c:formatCode="###,##0.00;\(###,##0.00\)">
                  <c:v>COMMISSION - ENG_PROJECT</c:v>
                </c:pt>
                <c:pt idx="22" c:formatCode="###,##0.00;\(###,##0.00\)">
                  <c:v>TRANSPORT A/C</c:v>
                </c:pt>
              </c:strCache>
            </c:strRef>
          </c:cat>
          <c:val>
            <c:numRef>
              <c:f>'[DCP.xlsx]Opex sub part analysis'!$H$126:$H$148</c:f>
              <c:numCache>
                <c:formatCode>_ * #,##0.00_ ;_ * \-#,##0.00_ ;_ * "-"??_ ;_ @_ </c:formatCode>
                <c:ptCount val="23"/>
                <c:pt idx="0">
                  <c:v>1339500.02</c:v>
                </c:pt>
                <c:pt idx="1">
                  <c:v>1386177.25</c:v>
                </c:pt>
                <c:pt idx="2">
                  <c:v>6800</c:v>
                </c:pt>
                <c:pt idx="3">
                  <c:v>734840</c:v>
                </c:pt>
                <c:pt idx="4" c:formatCode="General">
                  <c:v>0</c:v>
                </c:pt>
                <c:pt idx="5">
                  <c:v>395525.03</c:v>
                </c:pt>
                <c:pt idx="6">
                  <c:v>238445.7008</c:v>
                </c:pt>
                <c:pt idx="7">
                  <c:v>37975.25</c:v>
                </c:pt>
                <c:pt idx="8">
                  <c:v>48000</c:v>
                </c:pt>
                <c:pt idx="9" c:formatCode="General">
                  <c:v>0</c:v>
                </c:pt>
                <c:pt idx="10">
                  <c:v>849396.6935</c:v>
                </c:pt>
                <c:pt idx="11">
                  <c:v>340369.88</c:v>
                </c:pt>
                <c:pt idx="12" c:formatCode="General">
                  <c:v>0</c:v>
                </c:pt>
                <c:pt idx="13">
                  <c:v>58000</c:v>
                </c:pt>
                <c:pt idx="14" c:formatCode="General">
                  <c:v>0</c:v>
                </c:pt>
                <c:pt idx="15">
                  <c:v>43746.75</c:v>
                </c:pt>
                <c:pt idx="16">
                  <c:v>55400</c:v>
                </c:pt>
                <c:pt idx="17" c:formatCode="General">
                  <c:v>0</c:v>
                </c:pt>
                <c:pt idx="18">
                  <c:v>1702</c:v>
                </c:pt>
                <c:pt idx="19" c:formatCode="General">
                  <c:v>0</c:v>
                </c:pt>
                <c:pt idx="20" c:formatCode="General">
                  <c:v>0</c:v>
                </c:pt>
                <c:pt idx="21">
                  <c:v>28720.43</c:v>
                </c:pt>
                <c:pt idx="22">
                  <c:v>11897.85</c:v>
                </c:pt>
              </c:numCache>
            </c:numRef>
          </c:val>
        </c:ser>
        <c:ser>
          <c:idx val="2"/>
          <c:order val="2"/>
          <c:tx>
            <c:strRef>
              <c:f>'[DCP.xlsx]Opex sub part analysis'!$I$125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analysis'!$F$126:$F$148</c:f>
              <c:strCache>
                <c:ptCount val="23"/>
                <c:pt idx="0" c:formatCode="###,##0.00;\(###,##0.00\)">
                  <c:v>DIESAL   PETROL and GAS A/C</c:v>
                </c:pt>
                <c:pt idx="1" c:formatCode="###,##0.00;\(###,##0.00\)">
                  <c:v>COMMISSION - ENG_SERVICES</c:v>
                </c:pt>
                <c:pt idx="2" c:formatCode="###,##0.00;\(###,##0.00\)">
                  <c:v>Dealer's Expenses</c:v>
                </c:pt>
                <c:pt idx="3" c:formatCode="###,##0.00;\(###,##0.00\)">
                  <c:v>MOTOR VEHICLE MAINTANANCE</c:v>
                </c:pt>
                <c:pt idx="4" c:formatCode="###,##0.00;\(###,##0.00\)">
                  <c:v>COMMISSION - DISTRIBUTION</c:v>
                </c:pt>
                <c:pt idx="5" c:formatCode="###,##0.00;\(###,##0.00\)">
                  <c:v>TRAVELLING EXPENCES</c:v>
                </c:pt>
                <c:pt idx="6" c:formatCode="###,##0.00;\(###,##0.00\)">
                  <c:v>Bad Debtors</c:v>
                </c:pt>
                <c:pt idx="7" c:formatCode="###,##0.00;\(###,##0.00\)">
                  <c:v>PROJECT EXPENSES A/C</c:v>
                </c:pt>
                <c:pt idx="8" c:formatCode="###,##0.00;\(###,##0.00\)">
                  <c:v>Service - Expense</c:v>
                </c:pt>
                <c:pt idx="9" c:formatCode="###,##0.00;\(###,##0.00\)">
                  <c:v>FOREIGN TRAVELLING EXPENSES A/C</c:v>
                </c:pt>
                <c:pt idx="10" c:formatCode="###,##0.00;\(###,##0.00\)">
                  <c:v>SALES PROMOTION</c:v>
                </c:pt>
                <c:pt idx="11" c:formatCode="###,##0.00;\(###,##0.00\)">
                  <c:v>COMMISSION - CORPORATE</c:v>
                </c:pt>
                <c:pt idx="12" c:formatCode="###,##0.00;\(###,##0.00\)">
                  <c:v>STAFF SEMINAR and TRAINING</c:v>
                </c:pt>
                <c:pt idx="13" c:formatCode="###,##0.00;\(###,##0.00\)">
                  <c:v>TENDER CHARGES</c:v>
                </c:pt>
                <c:pt idx="14" c:formatCode="###,##0.00;\(###,##0.00\)">
                  <c:v>ANNUAL MAINTENANCE CONTRACT CHARGES</c:v>
                </c:pt>
                <c:pt idx="15" c:formatCode="###,##0.00;\(###,##0.00\)">
                  <c:v>COMMISSION - DEBT COLLECTION</c:v>
                </c:pt>
                <c:pt idx="16" c:formatCode="###,##0.00;\(###,##0.00\)">
                  <c:v>BOLGODA MAINTENANCE</c:v>
                </c:pt>
                <c:pt idx="17" c:formatCode="###,##0.00;\(###,##0.00\)">
                  <c:v>Motor vehicle maintenance - Internal Consumption</c:v>
                </c:pt>
                <c:pt idx="18" c:formatCode="###,##0.00;\(###,##0.00\)">
                  <c:v>REGISTRATION OF SUPLLIERS</c:v>
                </c:pt>
                <c:pt idx="19" c:formatCode="###,##0.00;\(###,##0.00\)">
                  <c:v>Registration Expenses</c:v>
                </c:pt>
                <c:pt idx="20" c:formatCode="###,##0.00;\(###,##0.00\)">
                  <c:v>ADVERTISEMENTS</c:v>
                </c:pt>
                <c:pt idx="21" c:formatCode="###,##0.00;\(###,##0.00\)">
                  <c:v>COMMISSION - ENG_PROJECT</c:v>
                </c:pt>
                <c:pt idx="22" c:formatCode="###,##0.00;\(###,##0.00\)">
                  <c:v>TRANSPORT A/C</c:v>
                </c:pt>
              </c:strCache>
            </c:strRef>
          </c:cat>
          <c:val>
            <c:numRef>
              <c:f>'[DCP.xlsx]Opex sub part analysis'!$I$126:$I$148</c:f>
              <c:numCache>
                <c:formatCode>_ * #,##0.00_ ;_ * \-#,##0.00_ ;_ * "-"??_ ;_ @_ </c:formatCode>
                <c:ptCount val="23"/>
                <c:pt idx="0">
                  <c:v>1335620.22</c:v>
                </c:pt>
                <c:pt idx="1">
                  <c:v>1018317.69</c:v>
                </c:pt>
                <c:pt idx="2">
                  <c:v>5900</c:v>
                </c:pt>
                <c:pt idx="3">
                  <c:v>511179.12</c:v>
                </c:pt>
                <c:pt idx="4">
                  <c:v>337898.64</c:v>
                </c:pt>
                <c:pt idx="5">
                  <c:v>308903.22</c:v>
                </c:pt>
                <c:pt idx="6">
                  <c:v>782626.969</c:v>
                </c:pt>
                <c:pt idx="7">
                  <c:v>-231120</c:v>
                </c:pt>
                <c:pt idx="8">
                  <c:v>608400</c:v>
                </c:pt>
                <c:pt idx="9">
                  <c:v>350000</c:v>
                </c:pt>
                <c:pt idx="10">
                  <c:v>92948.3675</c:v>
                </c:pt>
                <c:pt idx="11" c:formatCode="General">
                  <c:v>0</c:v>
                </c:pt>
                <c:pt idx="12">
                  <c:v>65000</c:v>
                </c:pt>
                <c:pt idx="13">
                  <c:v>47000</c:v>
                </c:pt>
                <c:pt idx="14">
                  <c:v>6456</c:v>
                </c:pt>
                <c:pt idx="15" c:formatCode="General">
                  <c:v>0</c:v>
                </c:pt>
                <c:pt idx="16">
                  <c:v>123230</c:v>
                </c:pt>
                <c:pt idx="17">
                  <c:v>7194.91</c:v>
                </c:pt>
                <c:pt idx="18">
                  <c:v>53300</c:v>
                </c:pt>
                <c:pt idx="19" c:formatCode="General">
                  <c:v>0</c:v>
                </c:pt>
                <c:pt idx="20">
                  <c:v>4000</c:v>
                </c:pt>
                <c:pt idx="21">
                  <c:v>1128444</c:v>
                </c:pt>
                <c:pt idx="22">
                  <c:v>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0502918234877"/>
          <c:y val="0.032469166876415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42116784326602"/>
          <c:y val="0.0815976631953264"/>
          <c:w val="0.894718984293767"/>
          <c:h val="0.4667132334264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'[DCP.xlsx]Opex sub part analysis'!$G$150</c:f>
              <c:strCache>
                <c:ptCount val="1"/>
                <c:pt idx="0">
                  <c:v>Aprl-Aug(4 months) AVg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analysis'!$F$151:$F$159</c:f>
              <c:strCache>
                <c:ptCount val="9"/>
                <c:pt idx="0" c:formatCode="###,##0.00;\(###,##0.00\)">
                  <c:v>INTEREST ON IMPORT LOAN - AMANA BANK</c:v>
                </c:pt>
                <c:pt idx="1" c:formatCode="###,##0.00;\(###,##0.00\)">
                  <c:v>IMPORT LOAN INTEREST - HNB</c:v>
                </c:pt>
                <c:pt idx="2" c:formatCode="###,##0.00;\(###,##0.00\)">
                  <c:v>IMPORT LOAN INTEREST - SEYLAN</c:v>
                </c:pt>
                <c:pt idx="3" c:formatCode="###,##0.00;\(###,##0.00\)">
                  <c:v>OVER DRAFT INTEREST</c:v>
                </c:pt>
                <c:pt idx="4" c:formatCode="###,##0.00;\(###,##0.00\)">
                  <c:v>Currency Exchange Realized -Loss</c:v>
                </c:pt>
                <c:pt idx="5" c:formatCode="###,##0.00;\(###,##0.00\)">
                  <c:v>IMPORT LOAN INTEREST - DFCC</c:v>
                </c:pt>
                <c:pt idx="6" c:formatCode="###,##0.00;\(###,##0.00\)">
                  <c:v>BANK CHARGES</c:v>
                </c:pt>
                <c:pt idx="7" c:formatCode="###,##0.00;\(###,##0.00\)">
                  <c:v>VISA CARDS COMMISIONS</c:v>
                </c:pt>
                <c:pt idx="8" c:formatCode="###,##0.00;\(###,##0.00\)">
                  <c:v>IMPORT LOAN INTEREST - SAMPATH</c:v>
                </c:pt>
              </c:strCache>
            </c:strRef>
          </c:cat>
          <c:val>
            <c:numRef>
              <c:f>'[DCP.xlsx]Opex sub part analysis'!$G$151:$G$159</c:f>
              <c:numCache>
                <c:formatCode>_ * #,##0.00_ ;_ * \-#,##0.00_ ;_ * "-"??_ ;_ @_ </c:formatCode>
                <c:ptCount val="9"/>
                <c:pt idx="0">
                  <c:v>6470435.02</c:v>
                </c:pt>
                <c:pt idx="1">
                  <c:v>2711276.31</c:v>
                </c:pt>
                <c:pt idx="2">
                  <c:v>1590976.32</c:v>
                </c:pt>
                <c:pt idx="3">
                  <c:v>562404.1725</c:v>
                </c:pt>
                <c:pt idx="4">
                  <c:v>270170.9848</c:v>
                </c:pt>
                <c:pt idx="5">
                  <c:v>212701.3625</c:v>
                </c:pt>
                <c:pt idx="6">
                  <c:v>108458.43965</c:v>
                </c:pt>
                <c:pt idx="7">
                  <c:v>17526.121325</c:v>
                </c:pt>
                <c:pt idx="8">
                  <c:v>12374.3825</c:v>
                </c:pt>
              </c:numCache>
            </c:numRef>
          </c:val>
        </c:ser>
        <c:ser>
          <c:idx val="1"/>
          <c:order val="1"/>
          <c:tx>
            <c:strRef>
              <c:f>'[DCP.xlsx]Opex sub part analysis'!$H$150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analysis'!$F$151:$F$159</c:f>
              <c:strCache>
                <c:ptCount val="9"/>
                <c:pt idx="0" c:formatCode="###,##0.00;\(###,##0.00\)">
                  <c:v>INTEREST ON IMPORT LOAN - AMANA BANK</c:v>
                </c:pt>
                <c:pt idx="1" c:formatCode="###,##0.00;\(###,##0.00\)">
                  <c:v>IMPORT LOAN INTEREST - HNB</c:v>
                </c:pt>
                <c:pt idx="2" c:formatCode="###,##0.00;\(###,##0.00\)">
                  <c:v>IMPORT LOAN INTEREST - SEYLAN</c:v>
                </c:pt>
                <c:pt idx="3" c:formatCode="###,##0.00;\(###,##0.00\)">
                  <c:v>OVER DRAFT INTEREST</c:v>
                </c:pt>
                <c:pt idx="4" c:formatCode="###,##0.00;\(###,##0.00\)">
                  <c:v>Currency Exchange Realized -Loss</c:v>
                </c:pt>
                <c:pt idx="5" c:formatCode="###,##0.00;\(###,##0.00\)">
                  <c:v>IMPORT LOAN INTEREST - DFCC</c:v>
                </c:pt>
                <c:pt idx="6" c:formatCode="###,##0.00;\(###,##0.00\)">
                  <c:v>BANK CHARGES</c:v>
                </c:pt>
                <c:pt idx="7" c:formatCode="###,##0.00;\(###,##0.00\)">
                  <c:v>VISA CARDS COMMISIONS</c:v>
                </c:pt>
                <c:pt idx="8" c:formatCode="###,##0.00;\(###,##0.00\)">
                  <c:v>IMPORT LOAN INTEREST - SAMPATH</c:v>
                </c:pt>
              </c:strCache>
            </c:strRef>
          </c:cat>
          <c:val>
            <c:numRef>
              <c:f>'[DCP.xlsx]Opex sub part analysis'!$H$151:$H$159</c:f>
              <c:numCache>
                <c:formatCode>_ * #,##0.00_ ;_ * \-#,##0.00_ ;_ * "-"??_ ;_ @_ </c:formatCode>
                <c:ptCount val="9"/>
                <c:pt idx="0">
                  <c:v>4680239.53</c:v>
                </c:pt>
                <c:pt idx="1">
                  <c:v>1106396.23</c:v>
                </c:pt>
                <c:pt idx="2">
                  <c:v>1424157.11</c:v>
                </c:pt>
                <c:pt idx="3">
                  <c:v>768344.24</c:v>
                </c:pt>
                <c:pt idx="4">
                  <c:v>712205</c:v>
                </c:pt>
                <c:pt idx="5">
                  <c:v>88028.41</c:v>
                </c:pt>
                <c:pt idx="6">
                  <c:v>49506.6944</c:v>
                </c:pt>
                <c:pt idx="7">
                  <c:v>14707.797</c:v>
                </c:pt>
                <c:pt idx="8" c:formatCode="General">
                  <c:v>0</c:v>
                </c:pt>
              </c:numCache>
            </c:numRef>
          </c:val>
        </c:ser>
        <c:ser>
          <c:idx val="2"/>
          <c:order val="2"/>
          <c:tx>
            <c:strRef>
              <c:f>'[DCP.xlsx]Opex sub part analysis'!$I$150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'[DCP.xlsx]Opex sub part analysis'!$F$151:$F$159</c:f>
              <c:strCache>
                <c:ptCount val="9"/>
                <c:pt idx="0" c:formatCode="###,##0.00;\(###,##0.00\)">
                  <c:v>INTEREST ON IMPORT LOAN - AMANA BANK</c:v>
                </c:pt>
                <c:pt idx="1" c:formatCode="###,##0.00;\(###,##0.00\)">
                  <c:v>IMPORT LOAN INTEREST - HNB</c:v>
                </c:pt>
                <c:pt idx="2" c:formatCode="###,##0.00;\(###,##0.00\)">
                  <c:v>IMPORT LOAN INTEREST - SEYLAN</c:v>
                </c:pt>
                <c:pt idx="3" c:formatCode="###,##0.00;\(###,##0.00\)">
                  <c:v>OVER DRAFT INTEREST</c:v>
                </c:pt>
                <c:pt idx="4" c:formatCode="###,##0.00;\(###,##0.00\)">
                  <c:v>Currency Exchange Realized -Loss</c:v>
                </c:pt>
                <c:pt idx="5" c:formatCode="###,##0.00;\(###,##0.00\)">
                  <c:v>IMPORT LOAN INTEREST - DFCC</c:v>
                </c:pt>
                <c:pt idx="6" c:formatCode="###,##0.00;\(###,##0.00\)">
                  <c:v>BANK CHARGES</c:v>
                </c:pt>
                <c:pt idx="7" c:formatCode="###,##0.00;\(###,##0.00\)">
                  <c:v>VISA CARDS COMMISIONS</c:v>
                </c:pt>
                <c:pt idx="8" c:formatCode="###,##0.00;\(###,##0.00\)">
                  <c:v>IMPORT LOAN INTEREST - SAMPATH</c:v>
                </c:pt>
              </c:strCache>
            </c:strRef>
          </c:cat>
          <c:val>
            <c:numRef>
              <c:f>'[DCP.xlsx]Opex sub part analysis'!$I$151:$I$159</c:f>
              <c:numCache>
                <c:formatCode>_ * #,##0.00_ ;_ * \-#,##0.00_ ;_ * "-"??_ ;_ @_ </c:formatCode>
                <c:ptCount val="9"/>
                <c:pt idx="0">
                  <c:v>6131673.32</c:v>
                </c:pt>
                <c:pt idx="1">
                  <c:v>1341193.94</c:v>
                </c:pt>
                <c:pt idx="2">
                  <c:v>1052673.83</c:v>
                </c:pt>
                <c:pt idx="3">
                  <c:v>1722848.28</c:v>
                </c:pt>
                <c:pt idx="4">
                  <c:v>691631.7208</c:v>
                </c:pt>
                <c:pt idx="5">
                  <c:v>65028.35</c:v>
                </c:pt>
                <c:pt idx="6">
                  <c:v>67863.1506</c:v>
                </c:pt>
                <c:pt idx="7">
                  <c:v>14449.6138</c:v>
                </c:pt>
                <c:pt idx="8" c:formatCode="General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25170"/>
        <c:axId val="643388856"/>
      </c:barChart>
      <c:catAx>
        <c:axId val="1552517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643388856"/>
        <c:crosses val="autoZero"/>
        <c:auto val="1"/>
        <c:lblAlgn val="ctr"/>
        <c:lblOffset val="100"/>
        <c:noMultiLvlLbl val="0"/>
      </c:catAx>
      <c:valAx>
        <c:axId val="643388856"/>
        <c:scaling>
          <c:orientation val="minMax"/>
        </c:scaling>
        <c:delete val="0"/>
        <c:axPos val="l"/>
        <c:numFmt formatCode="[$Rs.-849]#,##0_);[Red]\([$Rs.-849]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5525170"/>
        <c:crosses val="autoZero"/>
        <c:crossBetween val="between"/>
        <c:dispUnits>
          <c:builtInUnit val="thousands"/>
          <c:dispUnitsLbl>
            <c:layout/>
            <c:spPr>
              <a:noFill/>
              <a:ln>
                <a:noFill/>
              </a:ln>
              <a:effectLst/>
            </c:spPr>
            <c:txPr>
              <a:bodyPr rot="-5400000" spcFirstLastPara="0" vertOverflow="ellipsis" vert="horz" wrap="square" anchor="ctr" anchorCtr="1">
                <a:spAutoFit/>
              </a:bodyPr>
              <a:lstStyle/>
              <a:p>
                <a:pPr>
                  <a:defRPr lang="en-US"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124527992119521"/>
          <c:y val="0.024563247077367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chart" Target="../charts/char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</a:t>
            </a:r>
            <a:r>
              <a:rPr lang="en-US" sz="5400">
                <a:solidFill>
                  <a:schemeClr val="bg1"/>
                </a:solidFill>
                <a:sym typeface="+mn-ea"/>
              </a:rPr>
              <a:t>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lum bright="-48000"/>
          </a:blip>
          <a:stretch>
            <a:fillRect/>
          </a:stretch>
        </p:blipFill>
        <p:spPr>
          <a:xfrm>
            <a:off x="-5715" y="-31750"/>
            <a:ext cx="12200890" cy="4701540"/>
          </a:xfrm>
          <a:prstGeom prst="rect">
            <a:avLst/>
          </a:prstGeom>
        </p:spPr>
      </p:pic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647555" y="127635"/>
            <a:ext cx="2344420" cy="702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Overall 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3" name="Chart 2"/>
          <p:cNvGraphicFramePr/>
          <p:nvPr/>
        </p:nvGraphicFramePr>
        <p:xfrm>
          <a:off x="221615" y="1122680"/>
          <a:ext cx="11770360" cy="544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Rectangle 3"/>
          <p:cNvSpPr/>
          <p:nvPr/>
        </p:nvSpPr>
        <p:spPr>
          <a:xfrm>
            <a:off x="9364980" y="4795520"/>
            <a:ext cx="2626995" cy="132588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5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420" y="1550670"/>
            <a:ext cx="671131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and Profit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3" name="Chart 2"/>
          <p:cNvGraphicFramePr/>
          <p:nvPr/>
        </p:nvGraphicFramePr>
        <p:xfrm>
          <a:off x="222250" y="1087755"/>
          <a:ext cx="11769725" cy="5331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-19050" y="893445"/>
            <a:ext cx="12229465" cy="17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1615" y="103505"/>
            <a:ext cx="9144000" cy="833120"/>
          </a:xfrm>
        </p:spPr>
        <p:txBody>
          <a:bodyPr>
            <a:normAutofit fontScale="90000"/>
          </a:bodyPr>
          <a:p>
            <a:pPr algn="l"/>
            <a:r>
              <a:rPr lang="en-US" b="1">
                <a:solidFill>
                  <a:schemeClr val="accent2"/>
                </a:solidFill>
                <a:sym typeface="+mn-ea"/>
              </a:rPr>
              <a:t>P&amp;L - Revenue Performance</a:t>
            </a:r>
            <a:endParaRPr lang="en-US" b="1">
              <a:solidFill>
                <a:schemeClr val="accent2"/>
              </a:solidFill>
              <a:sym typeface="+mn-ea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-19050" y="893445"/>
            <a:ext cx="5641975" cy="101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2" name="Chart 1"/>
          <p:cNvGraphicFramePr/>
          <p:nvPr/>
        </p:nvGraphicFramePr>
        <p:xfrm>
          <a:off x="276225" y="1294765"/>
          <a:ext cx="11638915" cy="499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Revenue KPIs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15" name="Table 14"/>
          <p:cNvGraphicFramePr/>
          <p:nvPr/>
        </p:nvGraphicFramePr>
        <p:xfrm>
          <a:off x="255270" y="1097915"/>
          <a:ext cx="11583670" cy="506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3235"/>
                <a:gridCol w="1972945"/>
                <a:gridCol w="1024255"/>
                <a:gridCol w="1677035"/>
                <a:gridCol w="986790"/>
                <a:gridCol w="1629410"/>
              </a:tblGrid>
              <a:tr h="51816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3790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MOM%(Last month AVg)-Sep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MOM%(Sep-Oct)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-17.9%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100%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37.2%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100.0%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100.0%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[4-11003] Project Income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-95.6%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0.03%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1114.3%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0.2%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0.5%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[4-11004] Inter SBU Sales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-36.5%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10.31%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-4.3%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7.2%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13.3%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[4-11101] Trade Sales - General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-12.3%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73.62%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48.9%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79.9%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69.0%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[4-12001] Eng - Service Income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7.5%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10.82%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-48.2%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4.1%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8.3%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[4-12003] Service Contract Income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19.0%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7.94%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6.4%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6.2%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5.5%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[4-12004] Service Return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-76.7%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-0.10%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4.1%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-0.1%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-0.3%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[4-12005] Service Income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129.1%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0.25%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-100.0%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0.1%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[4-12006] MIS Service Revenue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12.6%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0.01%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-100.0%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0.0%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[4-20007] Deferred Project Income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-61.2%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1.89%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-12.4%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1.2%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4.0%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</a:tr>
              <a:tr h="379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[4-20008] Defered Service Income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-1422.5%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-4.76%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-136.5%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6100"/>
                          </a:solidFill>
                          <a:latin typeface="Calibri" panose="020F0502020204030204" charset="0"/>
                        </a:rPr>
                        <a:t>1.3%</a:t>
                      </a:r>
                      <a:endParaRPr lang="en-US" sz="1400" b="0">
                        <a:solidFill>
                          <a:srgbClr val="0061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9C0006"/>
                          </a:solidFill>
                          <a:latin typeface="Calibri" panose="020F0502020204030204" charset="0"/>
                        </a:rPr>
                        <a:t>-0.3%</a:t>
                      </a:r>
                      <a:endParaRPr lang="en-US" sz="1400" b="0">
                        <a:solidFill>
                          <a:srgbClr val="9C0006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8731250" y="4879340"/>
            <a:ext cx="848995" cy="238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bg1"/>
                </a:solidFill>
              </a:rPr>
              <a:t>No Revenue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731250" y="5235575"/>
            <a:ext cx="848995" cy="23812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 b="1">
                <a:solidFill>
                  <a:schemeClr val="bg1"/>
                </a:solidFill>
              </a:rPr>
              <a:t>No Revenue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half" idx="1"/>
          </p:nvPr>
        </p:nvSpPr>
        <p:spPr>
          <a:xfrm rot="10800000" flipV="1">
            <a:off x="255270" y="6423025"/>
            <a:ext cx="11737340" cy="327025"/>
          </a:xfrm>
        </p:spPr>
        <p:txBody>
          <a:bodyPr>
            <a:normAutofit fontScale="55000"/>
          </a:bodyPr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Note: In October , deferred service income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negative growth decreased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due to Increase in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deferred service income.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Revenue (Tabular Form)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/>
          <p:nvPr/>
        </p:nvGraphicFramePr>
        <p:xfrm>
          <a:off x="333375" y="1326515"/>
          <a:ext cx="11532870" cy="485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6860"/>
                <a:gridCol w="1352550"/>
                <a:gridCol w="1352550"/>
                <a:gridCol w="2200910"/>
              </a:tblGrid>
              <a:tr h="3257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29083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134,527,538.90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184,530,172.14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163,837,154.54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3263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Project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35,000.00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425,000.00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787,669.49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Inter SBU Sales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13,866,461.00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13,274,047.76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21,851,990.97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Inter SBU Sales (Service Journey)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Trade Sales - General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99,041,838.09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147,506,955.45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112,984,613.47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Eng - Service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14,556,277.18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7,538,108.43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13,534,453.50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Contract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10,677,410.62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11,360,632.38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8,969,992.94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Return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-130,732.00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-136,031.26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-561,386.17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Service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342,777.95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149,650.00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MIS Service Revenue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8,915.00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7,916.67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Discount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-5,496.50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Deferred Project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2,538,056.00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2,223,000.00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6,538,655.20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Defered Service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-6,408,464.94 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2,338,459.38 </a:t>
                      </a:r>
                      <a:endParaRPr lang="en-US" sz="14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-420,905.04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Defered MIS Service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  </a:t>
                      </a:r>
                      <a:endParaRPr lang="en-US" sz="14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</a:t>
            </a:r>
            <a:r>
              <a:rPr lang="en-US" b="1">
                <a:solidFill>
                  <a:schemeClr val="accent2"/>
                </a:solidFill>
                <a:sym typeface="+mn-ea"/>
              </a:rPr>
              <a:t>Performance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5" name="Chart 4"/>
          <p:cNvGraphicFramePr/>
          <p:nvPr/>
        </p:nvGraphicFramePr>
        <p:xfrm>
          <a:off x="504825" y="1164590"/>
          <a:ext cx="11487150" cy="5182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KPIs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/>
        </p:nvGraphicFramePr>
        <p:xfrm>
          <a:off x="399415" y="1195070"/>
          <a:ext cx="115519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2940"/>
                <a:gridCol w="1703705"/>
                <a:gridCol w="1522095"/>
                <a:gridCol w="2583180"/>
              </a:tblGrid>
              <a:tr h="46164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20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</a:tr>
              <a:tr h="10585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% of Revenue 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4616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Cost of Sale(% of Revenue)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71.72%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82.16%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74.20%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4616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 - General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65.48%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78.98%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69.06%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Project Income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0.04%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0.74%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0.32%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16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Service Income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6.18%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3.10%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4.43%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16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Inventory Consumption - General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0.12%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0.26%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0.15%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16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Warranty Replacement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0.05%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0.18%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Import &amp; Other Charges (Not added with Costing)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0.00%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0.11%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-0.01%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16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OB Stock Adjustment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-0.15%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-1.03%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0.07%</a:t>
                      </a:r>
                      <a:endParaRPr lang="en-US" sz="18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COGS (Tabular Form)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/>
        </p:nvGraphicFramePr>
        <p:xfrm>
          <a:off x="417195" y="1127125"/>
          <a:ext cx="11344275" cy="471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6165"/>
                <a:gridCol w="1627505"/>
                <a:gridCol w="1737995"/>
                <a:gridCol w="1832610"/>
              </a:tblGrid>
              <a:tr h="5226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 panose="020F0502020204030204" charset="0"/>
                          <a:sym typeface="+mn-ea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7270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96,483,665.14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151,616,362.63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121,567,806.24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2889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Sales - General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88,093,428.33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145,744,553.64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113,152,921.69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Project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56,580.16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1,373,832.11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531,016.75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Service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8,314,284.61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5,720,422.43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7,249,841.54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General Expense- Services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General Expense- Projects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Inventory Consumption - General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158,039.97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472,953.41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244,080.58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Sales &amp; Procurement Return Charges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Warranty Replacement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63,187.86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5,128.18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292,425.73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Local Handling Charges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2,302.50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Import &amp; Other Charges (Not added with Costing)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195,358.86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-15,065.95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OB Stock Adjustment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-201,855.79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-1,895,885.99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110,283.40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KPIs (OPEX)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22230" y="103505"/>
            <a:ext cx="1769745" cy="530225"/>
          </a:xfrm>
          <a:prstGeom prst="rect">
            <a:avLst/>
          </a:prstGeom>
        </p:spPr>
      </p:pic>
      <p:graphicFrame>
        <p:nvGraphicFramePr>
          <p:cNvPr id="3" name="Table 2"/>
          <p:cNvGraphicFramePr/>
          <p:nvPr/>
        </p:nvGraphicFramePr>
        <p:xfrm>
          <a:off x="420370" y="1339850"/>
          <a:ext cx="11427460" cy="4283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110"/>
                <a:gridCol w="1569720"/>
                <a:gridCol w="873760"/>
                <a:gridCol w="1501775"/>
                <a:gridCol w="873760"/>
                <a:gridCol w="1502410"/>
                <a:gridCol w="1050925"/>
              </a:tblGrid>
              <a:tr h="525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934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Administrative Expenses (% of Revenue)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23,170,384.70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17.20%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23,602,208.688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12.80%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29,653,754.822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18.10%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678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1.Employee Cost (% of Administrative cost)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11,198,848.53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48.30%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11,565,654.950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49%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14,238,120.433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48%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2.Rent Expenses  (% of Administrative cost)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345,200.00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1.50%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314,935.000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387,000.000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013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3.Other Admin Cost  (% of Administrative cost)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11,626,336.17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50.20%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11,721,618.738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49.70%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15,028,634.390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50.70%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26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Selling &amp; Distribution Cost (% of Revenue)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5,576,496.85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4.10%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6,563,599.137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3.60%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7,453,881.591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4.50%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7308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Finance Cost (% of Revenue)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8,843,585.01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6.60%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11,087,362.205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11,956,323.113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7.30%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553720" y="103759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Employee Cost(% of AC)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48.0%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48.3%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49.0%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5" name="Content Placeholder 24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43515" y="168910"/>
            <a:ext cx="1648460" cy="494030"/>
          </a:xfrm>
          <a:prstGeom prst="rect">
            <a:avLst/>
          </a:prstGeom>
        </p:spPr>
      </p:pic>
      <p:graphicFrame>
        <p:nvGraphicFramePr>
          <p:cNvPr id="27" name="Chart 26"/>
          <p:cNvGraphicFramePr/>
          <p:nvPr/>
        </p:nvGraphicFramePr>
        <p:xfrm>
          <a:off x="335280" y="1433830"/>
          <a:ext cx="11523345" cy="4910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623060"/>
            <a:ext cx="4972050" cy="2708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19075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553720" y="103759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Rent Expenses(% of AC)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1.3%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1.5%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1.3%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5" name="Content Placeholder 24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43515" y="168910"/>
            <a:ext cx="1648460" cy="494030"/>
          </a:xfrm>
          <a:prstGeom prst="rect">
            <a:avLst/>
          </a:prstGeom>
        </p:spPr>
      </p:pic>
      <p:graphicFrame>
        <p:nvGraphicFramePr>
          <p:cNvPr id="8" name="Chart 7"/>
          <p:cNvGraphicFramePr/>
          <p:nvPr/>
        </p:nvGraphicFramePr>
        <p:xfrm>
          <a:off x="408305" y="1583690"/>
          <a:ext cx="11583670" cy="513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69085"/>
            <a:ext cx="4317365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Straight Connector 3"/>
          <p:cNvCxnSpPr/>
          <p:nvPr/>
        </p:nvCxnSpPr>
        <p:spPr>
          <a:xfrm>
            <a:off x="-10160" y="77660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2895" y="-146050"/>
            <a:ext cx="10515600" cy="1325563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(Administration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-34290" y="77660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/>
          <p:nvPr/>
        </p:nvGraphicFramePr>
        <p:xfrm>
          <a:off x="423545" y="876935"/>
          <a:ext cx="1142047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7770"/>
                <a:gridCol w="2468880"/>
                <a:gridCol w="774065"/>
                <a:gridCol w="1251585"/>
                <a:gridCol w="1061720"/>
                <a:gridCol w="1216660"/>
                <a:gridCol w="899795"/>
              </a:tblGrid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/>
                        <a:t>Other Admin Expenses(% of AC)</a:t>
                      </a:r>
                      <a:endParaRPr lang="en-US" sz="20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50.7%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50.2%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 panose="020F0502020204030204" charset="0"/>
                        </a:rPr>
                        <a:t>49.7%</a:t>
                      </a:r>
                      <a:endParaRPr lang="en-US" sz="1800" b="1">
                        <a:solidFill>
                          <a:schemeClr val="bg1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5" name="Content Placeholder 24" descr="debug-logo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225165"/>
            <a:ext cx="5181600" cy="1551940"/>
          </a:xfrm>
          <a:prstGeom prst="rect">
            <a:avLst/>
          </a:prstGeom>
        </p:spPr>
      </p:pic>
      <p:graphicFrame>
        <p:nvGraphicFramePr>
          <p:cNvPr id="12" name="Chart 11"/>
          <p:cNvGraphicFramePr/>
          <p:nvPr/>
        </p:nvGraphicFramePr>
        <p:xfrm>
          <a:off x="219075" y="1722120"/>
          <a:ext cx="11819255" cy="492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640" y="1273175"/>
            <a:ext cx="4250690" cy="17049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455" y="1273175"/>
            <a:ext cx="3902710" cy="17049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415" y="2992755"/>
            <a:ext cx="3558540" cy="1431290"/>
          </a:xfrm>
          <a:prstGeom prst="rect">
            <a:avLst/>
          </a:prstGeom>
        </p:spPr>
      </p:pic>
      <p:pic>
        <p:nvPicPr>
          <p:cNvPr id="22" name="Content Placeholder 21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43515" y="168910"/>
            <a:ext cx="1648460" cy="494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(Selling &amp; Distribution Expenses)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/>
          <p:nvPr/>
        </p:nvGraphicFramePr>
        <p:xfrm>
          <a:off x="553085" y="105410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Selling &amp; Distribution Expenses(% of Revenue)</a:t>
                      </a:r>
                      <a:endParaRPr lang="en-US" sz="14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4.5%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4.1%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3.6%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5" name="Content Placeholder 24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43515" y="168910"/>
            <a:ext cx="1648460" cy="494030"/>
          </a:xfrm>
          <a:prstGeom prst="rect">
            <a:avLst/>
          </a:prstGeom>
        </p:spPr>
      </p:pic>
      <p:graphicFrame>
        <p:nvGraphicFramePr>
          <p:cNvPr id="16" name="Chart 15"/>
          <p:cNvGraphicFramePr/>
          <p:nvPr/>
        </p:nvGraphicFramePr>
        <p:xfrm>
          <a:off x="255270" y="1621790"/>
          <a:ext cx="11641455" cy="5045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50" y="1636395"/>
            <a:ext cx="4443730" cy="2582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OPEX </a:t>
            </a:r>
            <a:r>
              <a:rPr lang="en-US" sz="3600" b="1">
                <a:solidFill>
                  <a:schemeClr val="accent2"/>
                </a:solidFill>
              </a:rPr>
              <a:t>(Finance Cost)</a:t>
            </a:r>
            <a:endParaRPr lang="en-US" sz="3600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/>
          <p:nvPr/>
        </p:nvGraphicFramePr>
        <p:xfrm>
          <a:off x="553085" y="1054100"/>
          <a:ext cx="11085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990"/>
                <a:gridCol w="2543810"/>
                <a:gridCol w="883285"/>
                <a:gridCol w="1391285"/>
                <a:gridCol w="839470"/>
                <a:gridCol w="1092835"/>
                <a:gridCol w="124015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/>
                        <a:t>Finance Cost (% of Revenue)</a:t>
                      </a:r>
                      <a:endParaRPr lang="en-US" sz="180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Aprl-Aug(4 months) AVg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7.3%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September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6.6%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October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6.0%</a:t>
                      </a:r>
                      <a:endParaRPr 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5" name="Content Placeholder 24" descr="debug-logo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43515" y="168910"/>
            <a:ext cx="1648460" cy="494030"/>
          </a:xfrm>
          <a:prstGeom prst="rect">
            <a:avLst/>
          </a:prstGeom>
        </p:spPr>
      </p:pic>
      <p:graphicFrame>
        <p:nvGraphicFramePr>
          <p:cNvPr id="6" name="Chart 5"/>
          <p:cNvGraphicFramePr/>
          <p:nvPr/>
        </p:nvGraphicFramePr>
        <p:xfrm>
          <a:off x="388620" y="1661160"/>
          <a:ext cx="11603355" cy="4999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770" y="1602740"/>
            <a:ext cx="7327900" cy="2174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5651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8575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Overall Variation (Sep-Oct)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238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5" name="Content Placeholder 24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343515" y="168910"/>
            <a:ext cx="1648460" cy="4940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" y="1111250"/>
            <a:ext cx="11434445" cy="52838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Connector 8"/>
          <p:cNvCxnSpPr/>
          <p:nvPr/>
        </p:nvCxnSpPr>
        <p:spPr>
          <a:xfrm>
            <a:off x="26035" y="893445"/>
            <a:ext cx="12183745" cy="17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5270" y="103505"/>
            <a:ext cx="9110345" cy="833120"/>
          </a:xfrm>
        </p:spPr>
        <p:txBody>
          <a:bodyPr>
            <a:normAutofit/>
          </a:bodyPr>
          <a:p>
            <a:pPr algn="l"/>
            <a:r>
              <a:rPr lang="en-US" b="1">
                <a:solidFill>
                  <a:schemeClr val="accent2"/>
                </a:solidFill>
              </a:rPr>
              <a:t>P&amp;L - Summary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" y="893445"/>
            <a:ext cx="5620385" cy="952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222230" y="178435"/>
            <a:ext cx="1769745" cy="530225"/>
          </a:xfrm>
          <a:prstGeom prst="rect">
            <a:avLst/>
          </a:prstGeom>
        </p:spPr>
      </p:pic>
      <p:graphicFrame>
        <p:nvGraphicFramePr>
          <p:cNvPr id="2" name="Table 1"/>
          <p:cNvGraphicFramePr/>
          <p:nvPr/>
        </p:nvGraphicFramePr>
        <p:xfrm>
          <a:off x="272415" y="1023620"/>
          <a:ext cx="11646535" cy="522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990"/>
                <a:gridCol w="1651635"/>
                <a:gridCol w="1371600"/>
                <a:gridCol w="1539240"/>
                <a:gridCol w="1204595"/>
                <a:gridCol w="1539875"/>
                <a:gridCol w="1371600"/>
              </a:tblGrid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Description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Sep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Oct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 Aprl-Aug(4 months) AVg </a:t>
                      </a:r>
                      <a:endParaRPr lang="en-US" sz="16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75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Revenue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134,527,538.90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184,530,172.14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163,837,154.54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6762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Cost of Sale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96,483,665.14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71.7%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151,616,362.63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82.2%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121,567,806.24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74.2%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Gross Profit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38,043,873.76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28.3%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32,913,809.51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17.8%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42,269,348.30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25.8%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Other Income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392,391.79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5,561,849.88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3,355,280.83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0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Administrative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23,170,384.70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17.2%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23,602,208.69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12.8%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29,653,754.82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18.1%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% Of Administrative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Employee Cost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11,198,848.53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48.3%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11,565,654.95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49.0%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14,238,120.43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48.0%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Rent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345,200.00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1.5%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314,935.00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387,000.00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Other Admin Expenses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11,626,336.17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50.2%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11,721,618.74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49.7%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15,028,634.39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50.7%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Selling &amp; Distribution Cost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5,576,496.85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4.1%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6,563,599.14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3.6%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7,453,881.59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4.5%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Finance Cost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8,843,585.01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6.6%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11,087,362.21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6.0%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11,956,323.11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7.3%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Before Tax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845,798.99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0.6%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-2,777,510.64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-1.5%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-3,439,330.39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-2.1%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Tax Expenses(% of PBT)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1,499,499.86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177.3%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2,083,342.49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-75.0%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1,794,662.93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-52.2%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Profit After Tax Expenses</a:t>
                      </a:r>
                      <a:endParaRPr lang="en-US" sz="1600" b="1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b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-653,700.87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-0.5%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-4,860,853.13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-2.6%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 -5,233,993.32 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-3.2%</a:t>
                      </a:r>
                      <a:endParaRPr lang="en-US" sz="1600" b="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1430" y="4669790"/>
            <a:ext cx="12207240" cy="2186305"/>
          </a:xfrm>
          <a:solidFill>
            <a:schemeClr val="accent5">
              <a:lumMod val="50000"/>
            </a:schemeClr>
          </a:solidFill>
        </p:spPr>
        <p:txBody>
          <a:bodyPr>
            <a:normAutofit/>
          </a:bodyPr>
          <a:p>
            <a:pPr marL="0" indent="0" algn="ctr">
              <a:buNone/>
            </a:pPr>
            <a:endParaRPr lang="en-US" sz="54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5400">
                <a:solidFill>
                  <a:schemeClr val="bg1"/>
                </a:solidFill>
              </a:rPr>
              <a:t>Analysis Update -31/10/2024</a:t>
            </a:r>
            <a:endParaRPr lang="en-US" sz="5400">
              <a:solidFill>
                <a:schemeClr val="bg1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-11430" y="4558030"/>
            <a:ext cx="12206605" cy="2159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3" name="Content Placeholder 22" descr="debug-logo 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467610" y="738505"/>
            <a:ext cx="7624445" cy="2284095"/>
          </a:xfrm>
          <a:prstGeom prst="rect">
            <a:avLst/>
          </a:prstGeom>
        </p:spPr>
      </p:pic>
      <p:sp>
        <p:nvSpPr>
          <p:cNvPr id="2" name="Content Placeholder 2"/>
          <p:cNvSpPr>
            <a:spLocks noGrp="1"/>
          </p:cNvSpPr>
          <p:nvPr/>
        </p:nvSpPr>
        <p:spPr>
          <a:xfrm>
            <a:off x="2400300" y="3407410"/>
            <a:ext cx="7383145" cy="83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>
                    <a:lumMod val="50000"/>
                  </a:schemeClr>
                </a:solidFill>
              </a14:hiddenFill>
            </a:ext>
          </a:extLst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>
                <a:solidFill>
                  <a:schemeClr val="accent1">
                    <a:lumMod val="50000"/>
                  </a:schemeClr>
                </a:solidFill>
              </a:rPr>
              <a:t>THANK YOU!</a:t>
            </a:r>
            <a:endParaRPr lang="en-US" sz="540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5395</Words>
  <Application>WPS Presentation</Application>
  <PresentationFormat>Widescreen</PresentationFormat>
  <Paragraphs>862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PowerPoint 演示文稿</vt:lpstr>
      <vt:lpstr>P&amp;L - Overall Performance</vt:lpstr>
      <vt:lpstr>P&amp;L - Revenue and Profit</vt:lpstr>
      <vt:lpstr>P&amp;L - Revenue Performance</vt:lpstr>
      <vt:lpstr>P&amp;L - Revenue KPIs</vt:lpstr>
      <vt:lpstr>P&amp;L - Revenue (Tabular Form)</vt:lpstr>
      <vt:lpstr>P&amp;L - COGS Performance</vt:lpstr>
      <vt:lpstr>P&amp;L - COGS KPIs</vt:lpstr>
      <vt:lpstr>P&amp;L - COGS (Tabular Form)</vt:lpstr>
      <vt:lpstr>P&amp;L - KPIs (OPEX)</vt:lpstr>
      <vt:lpstr>P&amp;L - OPEX (Administration Expenses)</vt:lpstr>
      <vt:lpstr>P&amp;L - OPEX (Administration Expenses)</vt:lpstr>
      <vt:lpstr>P&amp;L - OPEX (Administration Expenses)</vt:lpstr>
      <vt:lpstr>P&amp;L - OPEX (Selling &amp; Distribution Expenses)</vt:lpstr>
      <vt:lpstr>P&amp;L - OPEX (Finance Cost)</vt:lpstr>
      <vt:lpstr>P&amp;L - Overall Variation (Sep-Oct)</vt:lpstr>
      <vt:lpstr>P&amp;L - 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User</dc:creator>
  <cp:lastModifiedBy>User</cp:lastModifiedBy>
  <cp:revision>18</cp:revision>
  <dcterms:created xsi:type="dcterms:W3CDTF">2024-12-09T04:57:00Z</dcterms:created>
  <dcterms:modified xsi:type="dcterms:W3CDTF">2024-12-13T10:28:50Z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1033-10.2.0.7480</vt:lpwstr>
  </property>
</Properties>
</file>