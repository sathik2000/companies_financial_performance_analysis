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6" r:id="rId6"/>
    <p:sldId id="262" r:id="rId7"/>
    <p:sldId id="261" r:id="rId8"/>
    <p:sldId id="263" r:id="rId9"/>
    <p:sldId id="264" r:id="rId10"/>
    <p:sldId id="265" r:id="rId11"/>
    <p:sldId id="268" r:id="rId12"/>
    <p:sldId id="269" r:id="rId13"/>
    <p:sldId id="270" r:id="rId14"/>
    <p:sldId id="260" r:id="rId15"/>
    <p:sldId id="271" r:id="rId16"/>
    <p:sldId id="266" r:id="rId17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ser\Desktop\Debug\Analysis\Sinetcom\Sinetcom\Sinetcom_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User\Desktop\Debug\Analysis\Sinetcom\Sinetcom\Sinetcom_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User\Desktop\Debug\Analysis\Sinetcom\Sinetcom\Sinetcom_Analysi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User\Desktop\Debug\Analysis\Sinetcom\Sinetcom\Sinetcom_Analysi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User\Desktop\Debug\Analysis\Sinetcom\Sinetcom\Sinetcom_Analysi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User\Desktop\Debug\Analysis\Sinetcom\Sinetcom\Sinetcom_Analysi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User\Desktop\Debug\Analysis\Sinetcom\Sinetcom\Sinetcom_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0109501942776"/>
          <c:y val="0.106976744186047"/>
          <c:w val="0.856358177322501"/>
          <c:h val="0.590178294573643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'[Sinetcom_Analysis.xlsx]Summary Visual'!$E$3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'[Sinetcom_Analysis.xlsx]Summary Visual'!$B$4:$B$15</c:f>
              <c:strCache>
                <c:ptCount val="12"/>
                <c:pt idx="0">
                  <c:v>Revenue</c:v>
                </c:pt>
                <c:pt idx="1">
                  <c:v>Cost of Sale</c:v>
                </c:pt>
                <c:pt idx="2">
                  <c:v>Gross Profit</c:v>
                </c:pt>
                <c:pt idx="3">
                  <c:v>Other Income</c:v>
                </c:pt>
                <c:pt idx="4">
                  <c:v>Administrative Expenses</c:v>
                </c:pt>
                <c:pt idx="5">
                  <c:v>Employee Cost</c:v>
                </c:pt>
                <c:pt idx="6">
                  <c:v>Other Admin Expenses</c:v>
                </c:pt>
                <c:pt idx="7">
                  <c:v>Selling &amp; Distribution Cost</c:v>
                </c:pt>
                <c:pt idx="8">
                  <c:v>Finance Cost</c:v>
                </c:pt>
                <c:pt idx="9">
                  <c:v>Profit Before Tax</c:v>
                </c:pt>
                <c:pt idx="10">
                  <c:v>Tax Expenses(% of PBT)</c:v>
                </c:pt>
                <c:pt idx="11">
                  <c:v>Profit After Tax Expenses</c:v>
                </c:pt>
              </c:strCache>
            </c:strRef>
          </c:cat>
          <c:val>
            <c:numRef>
              <c:f>'[Sinetcom_Analysis.xlsx]Summary Visual'!$E$4:$E$15</c:f>
              <c:numCache>
                <c:formatCode>General</c:formatCode>
                <c:ptCount val="12"/>
                <c:pt idx="0">
                  <c:v>44617018.675625</c:v>
                </c:pt>
                <c:pt idx="1">
                  <c:v>33973784.78295</c:v>
                </c:pt>
                <c:pt idx="2">
                  <c:v>10643233.892675</c:v>
                </c:pt>
                <c:pt idx="3">
                  <c:v>516693.988375</c:v>
                </c:pt>
                <c:pt idx="4">
                  <c:v>5318094.799175</c:v>
                </c:pt>
                <c:pt idx="5">
                  <c:v>1597467.8075</c:v>
                </c:pt>
                <c:pt idx="6">
                  <c:v>3720626.991675</c:v>
                </c:pt>
                <c:pt idx="7">
                  <c:v>695634.270475</c:v>
                </c:pt>
                <c:pt idx="8">
                  <c:v>175928.83355</c:v>
                </c:pt>
                <c:pt idx="9">
                  <c:v>4970269.97785</c:v>
                </c:pt>
                <c:pt idx="10">
                  <c:v>550017.735</c:v>
                </c:pt>
                <c:pt idx="11">
                  <c:v>4420252.24285</c:v>
                </c:pt>
              </c:numCache>
            </c:numRef>
          </c:val>
        </c:ser>
        <c:ser>
          <c:idx val="0"/>
          <c:order val="1"/>
          <c:tx>
            <c:strRef>
              <c:f>'[Sinetcom_Analysis.xlsx]Summary Visual'!$C$3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'[Sinetcom_Analysis.xlsx]Summary Visual'!$B$4:$B$15</c:f>
              <c:strCache>
                <c:ptCount val="12"/>
                <c:pt idx="0">
                  <c:v>Revenue</c:v>
                </c:pt>
                <c:pt idx="1">
                  <c:v>Cost of Sale</c:v>
                </c:pt>
                <c:pt idx="2">
                  <c:v>Gross Profit</c:v>
                </c:pt>
                <c:pt idx="3">
                  <c:v>Other Income</c:v>
                </c:pt>
                <c:pt idx="4">
                  <c:v>Administrative Expenses</c:v>
                </c:pt>
                <c:pt idx="5">
                  <c:v>Employee Cost</c:v>
                </c:pt>
                <c:pt idx="6">
                  <c:v>Other Admin Expenses</c:v>
                </c:pt>
                <c:pt idx="7">
                  <c:v>Selling &amp; Distribution Cost</c:v>
                </c:pt>
                <c:pt idx="8">
                  <c:v>Finance Cost</c:v>
                </c:pt>
                <c:pt idx="9">
                  <c:v>Profit Before Tax</c:v>
                </c:pt>
                <c:pt idx="10">
                  <c:v>Tax Expenses(% of PBT)</c:v>
                </c:pt>
                <c:pt idx="11">
                  <c:v>Profit After Tax Expenses</c:v>
                </c:pt>
              </c:strCache>
            </c:strRef>
          </c:cat>
          <c:val>
            <c:numRef>
              <c:f>'[Sinetcom_Analysis.xlsx]Summary Visual'!$C$4:$C$15</c:f>
              <c:numCache>
                <c:formatCode>General</c:formatCode>
                <c:ptCount val="12"/>
                <c:pt idx="0">
                  <c:v>42228750.87</c:v>
                </c:pt>
                <c:pt idx="1">
                  <c:v>34170206.5362</c:v>
                </c:pt>
                <c:pt idx="2">
                  <c:v>8058544.3338</c:v>
                </c:pt>
                <c:pt idx="3">
                  <c:v>2419521.3937</c:v>
                </c:pt>
                <c:pt idx="4">
                  <c:v>3661741.0197</c:v>
                </c:pt>
                <c:pt idx="5">
                  <c:v>1312248.94</c:v>
                </c:pt>
                <c:pt idx="6">
                  <c:v>2349492.0797</c:v>
                </c:pt>
                <c:pt idx="7">
                  <c:v>63095.5771</c:v>
                </c:pt>
                <c:pt idx="8">
                  <c:v>256193.0863</c:v>
                </c:pt>
                <c:pt idx="9">
                  <c:v>6497036.0444</c:v>
                </c:pt>
                <c:pt idx="10">
                  <c:v>480194.79</c:v>
                </c:pt>
                <c:pt idx="11">
                  <c:v>6016841.2544</c:v>
                </c:pt>
              </c:numCache>
            </c:numRef>
          </c:val>
        </c:ser>
        <c:ser>
          <c:idx val="1"/>
          <c:order val="2"/>
          <c:tx>
            <c:strRef>
              <c:f>'[Sinetcom_Analysis.xlsx]Summary Visual'!$D$3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'[Sinetcom_Analysis.xlsx]Summary Visual'!$B$4:$B$15</c:f>
              <c:strCache>
                <c:ptCount val="12"/>
                <c:pt idx="0">
                  <c:v>Revenue</c:v>
                </c:pt>
                <c:pt idx="1">
                  <c:v>Cost of Sale</c:v>
                </c:pt>
                <c:pt idx="2">
                  <c:v>Gross Profit</c:v>
                </c:pt>
                <c:pt idx="3">
                  <c:v>Other Income</c:v>
                </c:pt>
                <c:pt idx="4">
                  <c:v>Administrative Expenses</c:v>
                </c:pt>
                <c:pt idx="5">
                  <c:v>Employee Cost</c:v>
                </c:pt>
                <c:pt idx="6">
                  <c:v>Other Admin Expenses</c:v>
                </c:pt>
                <c:pt idx="7">
                  <c:v>Selling &amp; Distribution Cost</c:v>
                </c:pt>
                <c:pt idx="8">
                  <c:v>Finance Cost</c:v>
                </c:pt>
                <c:pt idx="9">
                  <c:v>Profit Before Tax</c:v>
                </c:pt>
                <c:pt idx="10">
                  <c:v>Tax Expenses(% of PBT)</c:v>
                </c:pt>
                <c:pt idx="11">
                  <c:v>Profit After Tax Expenses</c:v>
                </c:pt>
              </c:strCache>
            </c:strRef>
          </c:cat>
          <c:val>
            <c:numRef>
              <c:f>'[Sinetcom_Analysis.xlsx]Summary Visual'!$D$4:$D$15</c:f>
              <c:numCache>
                <c:formatCode>General</c:formatCode>
                <c:ptCount val="12"/>
                <c:pt idx="0">
                  <c:v>66455440.1981</c:v>
                </c:pt>
                <c:pt idx="1">
                  <c:v>55361289.461</c:v>
                </c:pt>
                <c:pt idx="2">
                  <c:v>11094150.7371</c:v>
                </c:pt>
                <c:pt idx="3">
                  <c:v>1788861.2355</c:v>
                </c:pt>
                <c:pt idx="4">
                  <c:v>3679322.93</c:v>
                </c:pt>
                <c:pt idx="5">
                  <c:v>1323173.28</c:v>
                </c:pt>
                <c:pt idx="6">
                  <c:v>2356149.65</c:v>
                </c:pt>
                <c:pt idx="7">
                  <c:v>1691676.2</c:v>
                </c:pt>
                <c:pt idx="8">
                  <c:v>481574.0634</c:v>
                </c:pt>
                <c:pt idx="9">
                  <c:v>7030438.7792</c:v>
                </c:pt>
                <c:pt idx="10">
                  <c:v>634700.1</c:v>
                </c:pt>
                <c:pt idx="11">
                  <c:v>6395738.6792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9990097"/>
        <c:axId val="688236780"/>
      </c:barChart>
      <c:catAx>
        <c:axId val="80999009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8236780"/>
        <c:crosses val="autoZero"/>
        <c:auto val="1"/>
        <c:lblAlgn val="ctr"/>
        <c:lblOffset val="100"/>
        <c:noMultiLvlLbl val="0"/>
      </c:catAx>
      <c:valAx>
        <c:axId val="688236780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09990097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0055765648219"/>
          <c:y val="0.02703828819778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800" b="1"/>
              <a:t>Revenue &amp; Profit Performance</a:t>
            </a:r>
            <a:endParaRPr sz="1800" b="1"/>
          </a:p>
        </c:rich>
      </c:tx>
      <c:layout>
        <c:manualLayout>
          <c:xMode val="edge"/>
          <c:yMode val="edge"/>
          <c:x val="0.402272357503118"/>
          <c:y val="0.014990630855715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'[Sinetcom_Analysis.xlsx]Revenue and Profit Analysis'!$B$1</c:f>
              <c:strCache>
                <c:ptCount val="1"/>
                <c:pt idx="0">
                  <c:v>(Apr-Aug)_Avg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'[Sinetcom_Analysis.xlsx]Revenue and Profit Analysis'!$A$2:$A$5</c:f>
              <c:strCache>
                <c:ptCount val="4"/>
                <c:pt idx="0" c:formatCode="###,##0.00;\(###,##0.00\)">
                  <c:v>Revenue</c:v>
                </c:pt>
                <c:pt idx="1" c:formatCode="###,##0.00;\(###,##0.00\)">
                  <c:v>Gross Profit</c:v>
                </c:pt>
                <c:pt idx="2" c:formatCode="###,##0.00;\(###,##0.00\)">
                  <c:v>Profit Before Tax Expenses</c:v>
                </c:pt>
                <c:pt idx="3" c:formatCode="###,##0.00;\(###,##0.00\)">
                  <c:v>Profit After Tax Expenses</c:v>
                </c:pt>
              </c:strCache>
            </c:strRef>
          </c:cat>
          <c:val>
            <c:numRef>
              <c:f>'[Sinetcom_Analysis.xlsx]Revenue and Profit Analysis'!$B$2:$B$5</c:f>
              <c:numCache>
                <c:formatCode>###,##0.00;\(###,##0.00\)</c:formatCode>
                <c:ptCount val="4"/>
                <c:pt idx="0">
                  <c:v>44617018.675625</c:v>
                </c:pt>
                <c:pt idx="1">
                  <c:v>10643233.892675</c:v>
                </c:pt>
                <c:pt idx="2">
                  <c:v>4970269.97785</c:v>
                </c:pt>
                <c:pt idx="3">
                  <c:v>4420252.24285</c:v>
                </c:pt>
              </c:numCache>
            </c:numRef>
          </c:val>
        </c:ser>
        <c:ser>
          <c:idx val="1"/>
          <c:order val="1"/>
          <c:tx>
            <c:strRef>
              <c:f>'[Sinetcom_Analysis.xlsx]Revenue and Profit Analysis'!$C$1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'[Sinetcom_Analysis.xlsx]Revenue and Profit Analysis'!$A$2:$A$5</c:f>
              <c:strCache>
                <c:ptCount val="4"/>
                <c:pt idx="0" c:formatCode="###,##0.00;\(###,##0.00\)">
                  <c:v>Revenue</c:v>
                </c:pt>
                <c:pt idx="1" c:formatCode="###,##0.00;\(###,##0.00\)">
                  <c:v>Gross Profit</c:v>
                </c:pt>
                <c:pt idx="2" c:formatCode="###,##0.00;\(###,##0.00\)">
                  <c:v>Profit Before Tax Expenses</c:v>
                </c:pt>
                <c:pt idx="3" c:formatCode="###,##0.00;\(###,##0.00\)">
                  <c:v>Profit After Tax Expenses</c:v>
                </c:pt>
              </c:strCache>
            </c:strRef>
          </c:cat>
          <c:val>
            <c:numRef>
              <c:f>'[Sinetcom_Analysis.xlsx]Revenue and Profit Analysis'!$C$2:$C$5</c:f>
              <c:numCache>
                <c:formatCode>_ * #,##0.00_ ;_ * \-#,##0.00_ ;_ * "-"??_ ;_ @_ </c:formatCode>
                <c:ptCount val="4"/>
                <c:pt idx="0">
                  <c:v>42228750.87</c:v>
                </c:pt>
                <c:pt idx="1">
                  <c:v>8058544.3338</c:v>
                </c:pt>
                <c:pt idx="2">
                  <c:v>6497036.0444</c:v>
                </c:pt>
                <c:pt idx="3">
                  <c:v>6016841.2544</c:v>
                </c:pt>
              </c:numCache>
            </c:numRef>
          </c:val>
        </c:ser>
        <c:ser>
          <c:idx val="2"/>
          <c:order val="2"/>
          <c:tx>
            <c:strRef>
              <c:f>'[Sinetcom_Analysis.xlsx]Revenue and Profit Analysis'!$D$1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'[Sinetcom_Analysis.xlsx]Revenue and Profit Analysis'!$A$2:$A$5</c:f>
              <c:strCache>
                <c:ptCount val="4"/>
                <c:pt idx="0" c:formatCode="###,##0.00;\(###,##0.00\)">
                  <c:v>Revenue</c:v>
                </c:pt>
                <c:pt idx="1" c:formatCode="###,##0.00;\(###,##0.00\)">
                  <c:v>Gross Profit</c:v>
                </c:pt>
                <c:pt idx="2" c:formatCode="###,##0.00;\(###,##0.00\)">
                  <c:v>Profit Before Tax Expenses</c:v>
                </c:pt>
                <c:pt idx="3" c:formatCode="###,##0.00;\(###,##0.00\)">
                  <c:v>Profit After Tax Expenses</c:v>
                </c:pt>
              </c:strCache>
            </c:strRef>
          </c:cat>
          <c:val>
            <c:numRef>
              <c:f>'[Sinetcom_Analysis.xlsx]Revenue and Profit Analysis'!$D$2:$D$5</c:f>
              <c:numCache>
                <c:formatCode>_ * #,##0.00_ ;_ * \-#,##0.00_ ;_ * "-"??_ ;_ @_ </c:formatCode>
                <c:ptCount val="4"/>
                <c:pt idx="0">
                  <c:v>66455440.1981</c:v>
                </c:pt>
                <c:pt idx="1">
                  <c:v>11094150.7371</c:v>
                </c:pt>
                <c:pt idx="2">
                  <c:v>7030438.7792</c:v>
                </c:pt>
                <c:pt idx="3">
                  <c:v>6395738.6792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6785714"/>
        <c:axId val="903036205"/>
      </c:barChart>
      <c:catAx>
        <c:axId val="3267857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3036205"/>
        <c:crossesAt val="0"/>
        <c:auto val="1"/>
        <c:lblAlgn val="ctr"/>
        <c:lblOffset val="100"/>
        <c:noMultiLvlLbl val="0"/>
      </c:catAx>
      <c:valAx>
        <c:axId val="90303620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67857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85913881616448"/>
          <c:y val="0.020202020202020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8713566727504"/>
          <c:y val="0.081214770505004"/>
          <c:w val="0.92580056412809"/>
          <c:h val="0.579707810882319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'[Sinetcom_Analysis.xlsx]Cost of Sales'!$E$2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'[Sinetcom_Analysis.xlsx]Cost of Sales'!$B$3:$B$11</c:f>
              <c:strCache>
                <c:ptCount val="9"/>
                <c:pt idx="0" c:formatCode="_ * #,##0.00_ ;_ * \-#,##0.00_ ;_ * &quot;-&quot;??_ ;_ @_ ">
                  <c:v>Cost of sale</c:v>
                </c:pt>
                <c:pt idx="1" c:formatCode="_ * #,##0.00_ ;_ * \-#,##0.00_ ;_ * &quot;-&quot;??_ ;_ @_ ">
                  <c:v>Cost of Sales General</c:v>
                </c:pt>
                <c:pt idx="2" c:formatCode="_ * #,##0.00_ ;_ * \-#,##0.00_ ;_ * &quot;-&quot;??_ ;_ @_ ">
                  <c:v>Import &amp; Other Charges (Not added with Costing)</c:v>
                </c:pt>
                <c:pt idx="3" c:formatCode="_ * #,##0.00_ ;_ * \-#,##0.00_ ;_ * &quot;-&quot;??_ ;_ @_ ">
                  <c:v>Inventory Consumption - General</c:v>
                </c:pt>
                <c:pt idx="4" c:formatCode="_ * #,##0.00_ ;_ * \-#,##0.00_ ;_ * &quot;-&quot;??_ ;_ @_ ">
                  <c:v>LOCAL PURCHASE</c:v>
                </c:pt>
                <c:pt idx="5" c:formatCode="_ * #,##0.00_ ;_ * \-#,##0.00_ ;_ * &quot;-&quot;??_ ;_ @_ ">
                  <c:v>Standard Cost Variance - Inbound (Temp)</c:v>
                </c:pt>
                <c:pt idx="6" c:formatCode="_ * #,##0.00_ ;_ * \-#,##0.00_ ;_ * &quot;-&quot;??_ ;_ @_ ">
                  <c:v>Sales &amp; Procurement Return Charges</c:v>
                </c:pt>
                <c:pt idx="7" c:formatCode="_ * #,##0.00_ ;_ * \-#,##0.00_ ;_ * &quot;-&quot;??_ ;_ @_ ">
                  <c:v>Service - Expense</c:v>
                </c:pt>
                <c:pt idx="8" c:formatCode="_ * #,##0.00_ ;_ * \-#,##0.00_ ;_ * &quot;-&quot;??_ ;_ @_ ">
                  <c:v>Labour Expense - Service</c:v>
                </c:pt>
              </c:strCache>
            </c:strRef>
          </c:cat>
          <c:val>
            <c:numRef>
              <c:f>'[Sinetcom_Analysis.xlsx]Cost of Sales'!$E$3:$E$11</c:f>
              <c:numCache>
                <c:formatCode>_ * #,##0.00_ ;_ * \-#,##0.00_ ;_ * "-"??_ ;_ @_ </c:formatCode>
                <c:ptCount val="9"/>
                <c:pt idx="0">
                  <c:v>33973784.78295</c:v>
                </c:pt>
                <c:pt idx="1">
                  <c:v>33458702.37545</c:v>
                </c:pt>
                <c:pt idx="2">
                  <c:v>510127.4075</c:v>
                </c:pt>
                <c:pt idx="3">
                  <c:v>4675</c:v>
                </c:pt>
                <c:pt idx="4">
                  <c:v>280</c:v>
                </c:pt>
                <c:pt idx="5" c:formatCode="General">
                  <c:v>0</c:v>
                </c:pt>
                <c:pt idx="6" c:formatCode="General">
                  <c:v>0</c:v>
                </c:pt>
                <c:pt idx="7" c:formatCode="General">
                  <c:v>0</c:v>
                </c:pt>
                <c:pt idx="8" c:formatCode="General">
                  <c:v>0</c:v>
                </c:pt>
              </c:numCache>
            </c:numRef>
          </c:val>
        </c:ser>
        <c:ser>
          <c:idx val="0"/>
          <c:order val="1"/>
          <c:tx>
            <c:strRef>
              <c:f>'[Sinetcom_Analysis.xlsx]Cost of Sales'!$C$2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'[Sinetcom_Analysis.xlsx]Cost of Sales'!$B$3:$B$11</c:f>
              <c:strCache>
                <c:ptCount val="9"/>
                <c:pt idx="0" c:formatCode="_ * #,##0.00_ ;_ * \-#,##0.00_ ;_ * &quot;-&quot;??_ ;_ @_ ">
                  <c:v>Cost of sale</c:v>
                </c:pt>
                <c:pt idx="1" c:formatCode="_ * #,##0.00_ ;_ * \-#,##0.00_ ;_ * &quot;-&quot;??_ ;_ @_ ">
                  <c:v>Cost of Sales General</c:v>
                </c:pt>
                <c:pt idx="2" c:formatCode="_ * #,##0.00_ ;_ * \-#,##0.00_ ;_ * &quot;-&quot;??_ ;_ @_ ">
                  <c:v>Import &amp; Other Charges (Not added with Costing)</c:v>
                </c:pt>
                <c:pt idx="3" c:formatCode="_ * #,##0.00_ ;_ * \-#,##0.00_ ;_ * &quot;-&quot;??_ ;_ @_ ">
                  <c:v>Inventory Consumption - General</c:v>
                </c:pt>
                <c:pt idx="4" c:formatCode="_ * #,##0.00_ ;_ * \-#,##0.00_ ;_ * &quot;-&quot;??_ ;_ @_ ">
                  <c:v>LOCAL PURCHASE</c:v>
                </c:pt>
                <c:pt idx="5" c:formatCode="_ * #,##0.00_ ;_ * \-#,##0.00_ ;_ * &quot;-&quot;??_ ;_ @_ ">
                  <c:v>Standard Cost Variance - Inbound (Temp)</c:v>
                </c:pt>
                <c:pt idx="6" c:formatCode="_ * #,##0.00_ ;_ * \-#,##0.00_ ;_ * &quot;-&quot;??_ ;_ @_ ">
                  <c:v>Sales &amp; Procurement Return Charges</c:v>
                </c:pt>
                <c:pt idx="7" c:formatCode="_ * #,##0.00_ ;_ * \-#,##0.00_ ;_ * &quot;-&quot;??_ ;_ @_ ">
                  <c:v>Service - Expense</c:v>
                </c:pt>
                <c:pt idx="8" c:formatCode="_ * #,##0.00_ ;_ * \-#,##0.00_ ;_ * &quot;-&quot;??_ ;_ @_ ">
                  <c:v>Labour Expense - Service</c:v>
                </c:pt>
              </c:strCache>
            </c:strRef>
          </c:cat>
          <c:val>
            <c:numRef>
              <c:f>'[Sinetcom_Analysis.xlsx]Cost of Sales'!$C$3:$C$11</c:f>
              <c:numCache>
                <c:formatCode>_ * #,##0.00_ ;_ * \-#,##0.00_ ;_ * "-"??_ ;_ @_ </c:formatCode>
                <c:ptCount val="9"/>
                <c:pt idx="0">
                  <c:v>34170206.5362</c:v>
                </c:pt>
                <c:pt idx="1">
                  <c:v>34122751.8062</c:v>
                </c:pt>
                <c:pt idx="2">
                  <c:v>47454.73</c:v>
                </c:pt>
                <c:pt idx="3" c:formatCode="General">
                  <c:v>0</c:v>
                </c:pt>
                <c:pt idx="4" c:formatCode="General">
                  <c:v>0</c:v>
                </c:pt>
                <c:pt idx="5" c:formatCode="General">
                  <c:v>0</c:v>
                </c:pt>
                <c:pt idx="6" c:formatCode="General">
                  <c:v>0</c:v>
                </c:pt>
                <c:pt idx="7" c:formatCode="General">
                  <c:v>0</c:v>
                </c:pt>
                <c:pt idx="8" c:formatCode="General">
                  <c:v>0</c:v>
                </c:pt>
              </c:numCache>
            </c:numRef>
          </c:val>
        </c:ser>
        <c:ser>
          <c:idx val="1"/>
          <c:order val="2"/>
          <c:tx>
            <c:strRef>
              <c:f>'[Sinetcom_Analysis.xlsx]Cost of Sales'!$D$2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'[Sinetcom_Analysis.xlsx]Cost of Sales'!$B$3:$B$11</c:f>
              <c:strCache>
                <c:ptCount val="9"/>
                <c:pt idx="0" c:formatCode="_ * #,##0.00_ ;_ * \-#,##0.00_ ;_ * &quot;-&quot;??_ ;_ @_ ">
                  <c:v>Cost of sale</c:v>
                </c:pt>
                <c:pt idx="1" c:formatCode="_ * #,##0.00_ ;_ * \-#,##0.00_ ;_ * &quot;-&quot;??_ ;_ @_ ">
                  <c:v>Cost of Sales General</c:v>
                </c:pt>
                <c:pt idx="2" c:formatCode="_ * #,##0.00_ ;_ * \-#,##0.00_ ;_ * &quot;-&quot;??_ ;_ @_ ">
                  <c:v>Import &amp; Other Charges (Not added with Costing)</c:v>
                </c:pt>
                <c:pt idx="3" c:formatCode="_ * #,##0.00_ ;_ * \-#,##0.00_ ;_ * &quot;-&quot;??_ ;_ @_ ">
                  <c:v>Inventory Consumption - General</c:v>
                </c:pt>
                <c:pt idx="4" c:formatCode="_ * #,##0.00_ ;_ * \-#,##0.00_ ;_ * &quot;-&quot;??_ ;_ @_ ">
                  <c:v>LOCAL PURCHASE</c:v>
                </c:pt>
                <c:pt idx="5" c:formatCode="_ * #,##0.00_ ;_ * \-#,##0.00_ ;_ * &quot;-&quot;??_ ;_ @_ ">
                  <c:v>Standard Cost Variance - Inbound (Temp)</c:v>
                </c:pt>
                <c:pt idx="6" c:formatCode="_ * #,##0.00_ ;_ * \-#,##0.00_ ;_ * &quot;-&quot;??_ ;_ @_ ">
                  <c:v>Sales &amp; Procurement Return Charges</c:v>
                </c:pt>
                <c:pt idx="7" c:formatCode="_ * #,##0.00_ ;_ * \-#,##0.00_ ;_ * &quot;-&quot;??_ ;_ @_ ">
                  <c:v>Service - Expense</c:v>
                </c:pt>
                <c:pt idx="8" c:formatCode="_ * #,##0.00_ ;_ * \-#,##0.00_ ;_ * &quot;-&quot;??_ ;_ @_ ">
                  <c:v>Labour Expense - Service</c:v>
                </c:pt>
              </c:strCache>
            </c:strRef>
          </c:cat>
          <c:val>
            <c:numRef>
              <c:f>'[Sinetcom_Analysis.xlsx]Cost of Sales'!$D$3:$D$11</c:f>
              <c:numCache>
                <c:formatCode>_ * #,##0.00_ ;_ * \-#,##0.00_ ;_ * "-"??_ ;_ @_ </c:formatCode>
                <c:ptCount val="9"/>
                <c:pt idx="0">
                  <c:v>55361289.461</c:v>
                </c:pt>
                <c:pt idx="1">
                  <c:v>55361289.461</c:v>
                </c:pt>
                <c:pt idx="2" c:formatCode="General">
                  <c:v>0</c:v>
                </c:pt>
                <c:pt idx="3" c:formatCode="General">
                  <c:v>0</c:v>
                </c:pt>
                <c:pt idx="4" c:formatCode="General">
                  <c:v>0</c:v>
                </c:pt>
                <c:pt idx="5" c:formatCode="General">
                  <c:v>0</c:v>
                </c:pt>
                <c:pt idx="6" c:formatCode="General">
                  <c:v>0</c:v>
                </c:pt>
                <c:pt idx="7" c:formatCode="General">
                  <c:v>0</c:v>
                </c:pt>
                <c:pt idx="8" c:formatCode="General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539681"/>
        <c:axId val="189978245"/>
      </c:barChart>
      <c:catAx>
        <c:axId val="13053968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9978245"/>
        <c:crosses val="autoZero"/>
        <c:auto val="1"/>
        <c:lblAlgn val="ctr"/>
        <c:lblOffset val="100"/>
        <c:noMultiLvlLbl val="0"/>
      </c:catAx>
      <c:valAx>
        <c:axId val="189978245"/>
        <c:scaling>
          <c:orientation val="minMax"/>
        </c:scaling>
        <c:delete val="0"/>
        <c:axPos val="l"/>
        <c:numFmt formatCode="_(* #,##0_);_(* \(#,##0\);_(* &quot;-&quot;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539681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0.0148111277031138"/>
                <c:y val="0.0799608880708617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15363330917715"/>
          <c:y val="0.025838716399249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55423663913353"/>
          <c:y val="0.104134063641106"/>
          <c:w val="0.894710355013402"/>
          <c:h val="0.4580985915492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[Sinetcom_Analysis.xlsx]Opex!$H$2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[Sinetcom_Analysis.xlsx]Opex!$G$3:$G$17</c:f>
              <c:strCache>
                <c:ptCount val="15"/>
                <c:pt idx="0" c:formatCode="###,##0.00;\(###,##0.00\)">
                  <c:v>STAFF SALARIES (Basic)</c:v>
                </c:pt>
                <c:pt idx="1" c:formatCode="###,##0.00;\(###,##0.00\)">
                  <c:v>Hard Working/Performance Incentive</c:v>
                </c:pt>
                <c:pt idx="2" c:formatCode="###,##0.00;\(###,##0.00\)">
                  <c:v>Employee Provident Fund-12%</c:v>
                </c:pt>
                <c:pt idx="3" c:formatCode="###,##0.00;\(###,##0.00\)">
                  <c:v>MOTER VEHICAL ALLOWANCE</c:v>
                </c:pt>
                <c:pt idx="4" c:formatCode="###,##0.00;\(###,##0.00\)">
                  <c:v>Staff Bonus( Ex-Gratia)</c:v>
                </c:pt>
                <c:pt idx="5" c:formatCode="###,##0.00;\(###,##0.00\)">
                  <c:v>Casual Allowance</c:v>
                </c:pt>
                <c:pt idx="6" c:formatCode="###,##0.00;\(###,##0.00\)">
                  <c:v>TRANSPORT ALLOWANCE</c:v>
                </c:pt>
                <c:pt idx="7" c:formatCode="###,##0.00;\(###,##0.00\)">
                  <c:v>Employee Trust Fund-3%</c:v>
                </c:pt>
                <c:pt idx="8" c:formatCode="###,##0.00;\(###,##0.00\)">
                  <c:v>Staff Welfare</c:v>
                </c:pt>
                <c:pt idx="9" c:formatCode="###,##0.00;\(###,##0.00\)">
                  <c:v>TELEPHONE ALLOWANCE</c:v>
                </c:pt>
                <c:pt idx="10" c:formatCode="###,##0.00;\(###,##0.00\)">
                  <c:v>SEMINER &amp; TRANING A/C</c:v>
                </c:pt>
                <c:pt idx="11" c:formatCode="###,##0.00;\(###,##0.00\)">
                  <c:v>STAFF INCENTIVES</c:v>
                </c:pt>
                <c:pt idx="12" c:formatCode="###,##0.00;\(###,##0.00\)">
                  <c:v>MEALS ALLOWANCE</c:v>
                </c:pt>
                <c:pt idx="13" c:formatCode="###,##0.00;\(###,##0.00\)">
                  <c:v>MEDICAL INSURANCE</c:v>
                </c:pt>
                <c:pt idx="14" c:formatCode="###,##0.00;\(###,##0.00\)">
                  <c:v>Budgetary allowance (BR II)</c:v>
                </c:pt>
              </c:strCache>
            </c:strRef>
          </c:cat>
          <c:val>
            <c:numRef>
              <c:f>[Sinetcom_Analysis.xlsx]Opex!$H$3:$H$17</c:f>
              <c:numCache>
                <c:formatCode>_ * #,##0.00_ ;_ * \-#,##0.00_ ;_ * "-"??_ ;_ @_ </c:formatCode>
                <c:ptCount val="15"/>
                <c:pt idx="0">
                  <c:v>914944.5</c:v>
                </c:pt>
                <c:pt idx="1">
                  <c:v>299933.3325</c:v>
                </c:pt>
                <c:pt idx="2">
                  <c:v>109793.345</c:v>
                </c:pt>
                <c:pt idx="3">
                  <c:v>100000</c:v>
                </c:pt>
                <c:pt idx="4">
                  <c:v>45000</c:v>
                </c:pt>
                <c:pt idx="5">
                  <c:v>37625</c:v>
                </c:pt>
                <c:pt idx="6">
                  <c:v>31250</c:v>
                </c:pt>
                <c:pt idx="7">
                  <c:v>27448.335</c:v>
                </c:pt>
                <c:pt idx="8">
                  <c:v>13238.5575</c:v>
                </c:pt>
                <c:pt idx="9">
                  <c:v>12312.5</c:v>
                </c:pt>
                <c:pt idx="10">
                  <c:v>2394.7375</c:v>
                </c:pt>
                <c:pt idx="11">
                  <c:v>2100</c:v>
                </c:pt>
                <c:pt idx="12">
                  <c:v>1427.5</c:v>
                </c:pt>
                <c:pt idx="13" c:formatCode="General">
                  <c:v>0</c:v>
                </c:pt>
                <c:pt idx="14" c:formatCode="General">
                  <c:v>0</c:v>
                </c:pt>
              </c:numCache>
            </c:numRef>
          </c:val>
        </c:ser>
        <c:ser>
          <c:idx val="1"/>
          <c:order val="1"/>
          <c:tx>
            <c:strRef>
              <c:f>[Sinetcom_Analysis.xlsx]Opex!$I$2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[Sinetcom_Analysis.xlsx]Opex!$G$3:$G$17</c:f>
              <c:strCache>
                <c:ptCount val="15"/>
                <c:pt idx="0" c:formatCode="###,##0.00;\(###,##0.00\)">
                  <c:v>STAFF SALARIES (Basic)</c:v>
                </c:pt>
                <c:pt idx="1" c:formatCode="###,##0.00;\(###,##0.00\)">
                  <c:v>Hard Working/Performance Incentive</c:v>
                </c:pt>
                <c:pt idx="2" c:formatCode="###,##0.00;\(###,##0.00\)">
                  <c:v>Employee Provident Fund-12%</c:v>
                </c:pt>
                <c:pt idx="3" c:formatCode="###,##0.00;\(###,##0.00\)">
                  <c:v>MOTER VEHICAL ALLOWANCE</c:v>
                </c:pt>
                <c:pt idx="4" c:formatCode="###,##0.00;\(###,##0.00\)">
                  <c:v>Staff Bonus( Ex-Gratia)</c:v>
                </c:pt>
                <c:pt idx="5" c:formatCode="###,##0.00;\(###,##0.00\)">
                  <c:v>Casual Allowance</c:v>
                </c:pt>
                <c:pt idx="6" c:formatCode="###,##0.00;\(###,##0.00\)">
                  <c:v>TRANSPORT ALLOWANCE</c:v>
                </c:pt>
                <c:pt idx="7" c:formatCode="###,##0.00;\(###,##0.00\)">
                  <c:v>Employee Trust Fund-3%</c:v>
                </c:pt>
                <c:pt idx="8" c:formatCode="###,##0.00;\(###,##0.00\)">
                  <c:v>Staff Welfare</c:v>
                </c:pt>
                <c:pt idx="9" c:formatCode="###,##0.00;\(###,##0.00\)">
                  <c:v>TELEPHONE ALLOWANCE</c:v>
                </c:pt>
                <c:pt idx="10" c:formatCode="###,##0.00;\(###,##0.00\)">
                  <c:v>SEMINER &amp; TRANING A/C</c:v>
                </c:pt>
                <c:pt idx="11" c:formatCode="###,##0.00;\(###,##0.00\)">
                  <c:v>STAFF INCENTIVES</c:v>
                </c:pt>
                <c:pt idx="12" c:formatCode="###,##0.00;\(###,##0.00\)">
                  <c:v>MEALS ALLOWANCE</c:v>
                </c:pt>
                <c:pt idx="13" c:formatCode="###,##0.00;\(###,##0.00\)">
                  <c:v>MEDICAL INSURANCE</c:v>
                </c:pt>
                <c:pt idx="14" c:formatCode="###,##0.00;\(###,##0.00\)">
                  <c:v>Budgetary allowance (BR II)</c:v>
                </c:pt>
              </c:strCache>
            </c:strRef>
          </c:cat>
          <c:val>
            <c:numRef>
              <c:f>[Sinetcom_Analysis.xlsx]Opex!$I$3:$I$17</c:f>
              <c:numCache>
                <c:formatCode>_ * #,##0.00_ ;_ * \-#,##0.00_ ;_ * "-"??_ ;_ @_ </c:formatCode>
                <c:ptCount val="15"/>
                <c:pt idx="0">
                  <c:v>801303.43</c:v>
                </c:pt>
                <c:pt idx="1">
                  <c:v>236500</c:v>
                </c:pt>
                <c:pt idx="2">
                  <c:v>96156.41</c:v>
                </c:pt>
                <c:pt idx="3">
                  <c:v>80000</c:v>
                </c:pt>
                <c:pt idx="4" c:formatCode="General">
                  <c:v>0</c:v>
                </c:pt>
                <c:pt idx="5">
                  <c:v>40000</c:v>
                </c:pt>
                <c:pt idx="6">
                  <c:v>25000</c:v>
                </c:pt>
                <c:pt idx="7">
                  <c:v>24039.1</c:v>
                </c:pt>
                <c:pt idx="8" c:formatCode="General">
                  <c:v>0</c:v>
                </c:pt>
                <c:pt idx="9">
                  <c:v>9250</c:v>
                </c:pt>
                <c:pt idx="10" c:formatCode="General">
                  <c:v>0</c:v>
                </c:pt>
                <c:pt idx="11" c:formatCode="General">
                  <c:v>0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</c:numCache>
            </c:numRef>
          </c:val>
        </c:ser>
        <c:ser>
          <c:idx val="2"/>
          <c:order val="2"/>
          <c:tx>
            <c:strRef>
              <c:f>[Sinetcom_Analysis.xlsx]Opex!$J$2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[Sinetcom_Analysis.xlsx]Opex!$G$3:$G$17</c:f>
              <c:strCache>
                <c:ptCount val="15"/>
                <c:pt idx="0" c:formatCode="###,##0.00;\(###,##0.00\)">
                  <c:v>STAFF SALARIES (Basic)</c:v>
                </c:pt>
                <c:pt idx="1" c:formatCode="###,##0.00;\(###,##0.00\)">
                  <c:v>Hard Working/Performance Incentive</c:v>
                </c:pt>
                <c:pt idx="2" c:formatCode="###,##0.00;\(###,##0.00\)">
                  <c:v>Employee Provident Fund-12%</c:v>
                </c:pt>
                <c:pt idx="3" c:formatCode="###,##0.00;\(###,##0.00\)">
                  <c:v>MOTER VEHICAL ALLOWANCE</c:v>
                </c:pt>
                <c:pt idx="4" c:formatCode="###,##0.00;\(###,##0.00\)">
                  <c:v>Staff Bonus( Ex-Gratia)</c:v>
                </c:pt>
                <c:pt idx="5" c:formatCode="###,##0.00;\(###,##0.00\)">
                  <c:v>Casual Allowance</c:v>
                </c:pt>
                <c:pt idx="6" c:formatCode="###,##0.00;\(###,##0.00\)">
                  <c:v>TRANSPORT ALLOWANCE</c:v>
                </c:pt>
                <c:pt idx="7" c:formatCode="###,##0.00;\(###,##0.00\)">
                  <c:v>Employee Trust Fund-3%</c:v>
                </c:pt>
                <c:pt idx="8" c:formatCode="###,##0.00;\(###,##0.00\)">
                  <c:v>Staff Welfare</c:v>
                </c:pt>
                <c:pt idx="9" c:formatCode="###,##0.00;\(###,##0.00\)">
                  <c:v>TELEPHONE ALLOWANCE</c:v>
                </c:pt>
                <c:pt idx="10" c:formatCode="###,##0.00;\(###,##0.00\)">
                  <c:v>SEMINER &amp; TRANING A/C</c:v>
                </c:pt>
                <c:pt idx="11" c:formatCode="###,##0.00;\(###,##0.00\)">
                  <c:v>STAFF INCENTIVES</c:v>
                </c:pt>
                <c:pt idx="12" c:formatCode="###,##0.00;\(###,##0.00\)">
                  <c:v>MEALS ALLOWANCE</c:v>
                </c:pt>
                <c:pt idx="13" c:formatCode="###,##0.00;\(###,##0.00\)">
                  <c:v>MEDICAL INSURANCE</c:v>
                </c:pt>
                <c:pt idx="14" c:formatCode="###,##0.00;\(###,##0.00\)">
                  <c:v>Budgetary allowance (BR II)</c:v>
                </c:pt>
              </c:strCache>
            </c:strRef>
          </c:cat>
          <c:val>
            <c:numRef>
              <c:f>[Sinetcom_Analysis.xlsx]Opex!$J$3:$J$17</c:f>
              <c:numCache>
                <c:formatCode>_ * #,##0.00_ ;_ * \-#,##0.00_ ;_ * "-"??_ ;_ @_ </c:formatCode>
                <c:ptCount val="15"/>
                <c:pt idx="0">
                  <c:v>806295.61</c:v>
                </c:pt>
                <c:pt idx="1">
                  <c:v>236500</c:v>
                </c:pt>
                <c:pt idx="2">
                  <c:v>96755.47</c:v>
                </c:pt>
                <c:pt idx="3">
                  <c:v>80000</c:v>
                </c:pt>
                <c:pt idx="4" c:formatCode="General">
                  <c:v>0</c:v>
                </c:pt>
                <c:pt idx="5">
                  <c:v>40000</c:v>
                </c:pt>
                <c:pt idx="6">
                  <c:v>30333.33</c:v>
                </c:pt>
                <c:pt idx="7">
                  <c:v>24188.87</c:v>
                </c:pt>
                <c:pt idx="8">
                  <c:v>600</c:v>
                </c:pt>
                <c:pt idx="9">
                  <c:v>8500</c:v>
                </c:pt>
                <c:pt idx="10" c:formatCode="General">
                  <c:v>0</c:v>
                </c:pt>
                <c:pt idx="11" c:formatCode="General">
                  <c:v>0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647573094540671"/>
          <c:y val="0.0039123630672926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552798806432"/>
          <c:y val="0.107329176740043"/>
          <c:w val="0.894966016466818"/>
          <c:h val="0.567431934307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[Sinetcom_Analysis.xlsx]Opex!$H$21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[Sinetcom_Analysis.xlsx]Opex!$G$22:$G$38</c:f>
              <c:strCache>
                <c:ptCount val="17"/>
                <c:pt idx="0" c:formatCode="###,##0.00;\(###,##0.00\)">
                  <c:v>Consultancy Fee</c:v>
                </c:pt>
                <c:pt idx="1" c:formatCode="###,##0.00;\(###,##0.00\)">
                  <c:v>Shared Service Cost</c:v>
                </c:pt>
                <c:pt idx="2" c:formatCode="###,##0.00;\(###,##0.00\)">
                  <c:v>OFFICE MAINTENANCE A/C</c:v>
                </c:pt>
                <c:pt idx="3" c:formatCode="###,##0.00;\(###,##0.00\)">
                  <c:v>DIESAL &amp; PETROL A/C</c:v>
                </c:pt>
                <c:pt idx="4" c:formatCode="###,##0.00;\(###,##0.00\)">
                  <c:v>OFFICE EQUIPMENT MAINTENANCE</c:v>
                </c:pt>
                <c:pt idx="5" c:formatCode="###,##0.00;\(###,##0.00\)">
                  <c:v>TELEPHONE CHARGES A/C</c:v>
                </c:pt>
                <c:pt idx="6" c:formatCode="###,##0.00;\(###,##0.00\)">
                  <c:v>Email and Internet</c:v>
                </c:pt>
                <c:pt idx="7" c:formatCode="###,##0.00;\(###,##0.00\)">
                  <c:v>Insurance</c:v>
                </c:pt>
                <c:pt idx="8" c:formatCode="###,##0.00;\(###,##0.00\)">
                  <c:v>PRINTING &amp; STATIONERY</c:v>
                </c:pt>
                <c:pt idx="9" c:formatCode="###,##0.00;\(###,##0.00\)">
                  <c:v>Consultant Fees</c:v>
                </c:pt>
                <c:pt idx="10" c:formatCode="###,##0.00;\(###,##0.00\)">
                  <c:v>Professional charges</c:v>
                </c:pt>
                <c:pt idx="11" c:formatCode="###,##0.00;\(###,##0.00\)">
                  <c:v>Touch Card Rental</c:v>
                </c:pt>
                <c:pt idx="12" c:formatCode="###,##0.00;\(###,##0.00\)">
                  <c:v>Payroll System Charges</c:v>
                </c:pt>
                <c:pt idx="13" c:formatCode="###,##0.00;\(###,##0.00\)">
                  <c:v>SURCHARGE &amp; PENALTY A/C</c:v>
                </c:pt>
                <c:pt idx="14" c:formatCode="###,##0.00;\(###,##0.00\)">
                  <c:v>SECRETARIAL FEES A/C</c:v>
                </c:pt>
                <c:pt idx="15" c:formatCode="###,##0.00;\(###,##0.00\)">
                  <c:v>ERP Maintenance</c:v>
                </c:pt>
                <c:pt idx="16" c:formatCode="###,##0.00;\(###,##0.00\)">
                  <c:v>AUDIT FEE</c:v>
                </c:pt>
              </c:strCache>
            </c:strRef>
          </c:cat>
          <c:val>
            <c:numRef>
              <c:f>[Sinetcom_Analysis.xlsx]Opex!$H$22:$H$38</c:f>
              <c:numCache>
                <c:formatCode>_ * #,##0.00_ ;_ * \-#,##0.00_ ;_ * "-"??_ ;_ @_ </c:formatCode>
                <c:ptCount val="17"/>
                <c:pt idx="0">
                  <c:v>2278450.119175</c:v>
                </c:pt>
                <c:pt idx="1">
                  <c:v>915590</c:v>
                </c:pt>
                <c:pt idx="2">
                  <c:v>251439.0775</c:v>
                </c:pt>
                <c:pt idx="3">
                  <c:v>112039.7575</c:v>
                </c:pt>
                <c:pt idx="4">
                  <c:v>82652.235</c:v>
                </c:pt>
                <c:pt idx="5">
                  <c:v>38792.615</c:v>
                </c:pt>
                <c:pt idx="6">
                  <c:v>25294.7</c:v>
                </c:pt>
                <c:pt idx="7">
                  <c:v>20490.9875</c:v>
                </c:pt>
                <c:pt idx="8">
                  <c:v>1406.25</c:v>
                </c:pt>
                <c:pt idx="9" c:formatCode="General">
                  <c:v>0</c:v>
                </c:pt>
                <c:pt idx="10" c:formatCode="General">
                  <c:v>0</c:v>
                </c:pt>
                <c:pt idx="11" c:formatCode="General">
                  <c:v>0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>
                  <c:v>0</c:v>
                </c:pt>
                <c:pt idx="16">
                  <c:v>-5528.75</c:v>
                </c:pt>
              </c:numCache>
            </c:numRef>
          </c:val>
        </c:ser>
        <c:ser>
          <c:idx val="1"/>
          <c:order val="1"/>
          <c:tx>
            <c:strRef>
              <c:f>[Sinetcom_Analysis.xlsx]Opex!$I$21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[Sinetcom_Analysis.xlsx]Opex!$G$22:$G$38</c:f>
              <c:strCache>
                <c:ptCount val="17"/>
                <c:pt idx="0" c:formatCode="###,##0.00;\(###,##0.00\)">
                  <c:v>Consultancy Fee</c:v>
                </c:pt>
                <c:pt idx="1" c:formatCode="###,##0.00;\(###,##0.00\)">
                  <c:v>Shared Service Cost</c:v>
                </c:pt>
                <c:pt idx="2" c:formatCode="###,##0.00;\(###,##0.00\)">
                  <c:v>OFFICE MAINTENANCE A/C</c:v>
                </c:pt>
                <c:pt idx="3" c:formatCode="###,##0.00;\(###,##0.00\)">
                  <c:v>DIESAL &amp; PETROL A/C</c:v>
                </c:pt>
                <c:pt idx="4" c:formatCode="###,##0.00;\(###,##0.00\)">
                  <c:v>OFFICE EQUIPMENT MAINTENANCE</c:v>
                </c:pt>
                <c:pt idx="5" c:formatCode="###,##0.00;\(###,##0.00\)">
                  <c:v>TELEPHONE CHARGES A/C</c:v>
                </c:pt>
                <c:pt idx="6" c:formatCode="###,##0.00;\(###,##0.00\)">
                  <c:v>Email and Internet</c:v>
                </c:pt>
                <c:pt idx="7" c:formatCode="###,##0.00;\(###,##0.00\)">
                  <c:v>Insurance</c:v>
                </c:pt>
                <c:pt idx="8" c:formatCode="###,##0.00;\(###,##0.00\)">
                  <c:v>PRINTING &amp; STATIONERY</c:v>
                </c:pt>
                <c:pt idx="9" c:formatCode="###,##0.00;\(###,##0.00\)">
                  <c:v>Consultant Fees</c:v>
                </c:pt>
                <c:pt idx="10" c:formatCode="###,##0.00;\(###,##0.00\)">
                  <c:v>Professional charges</c:v>
                </c:pt>
                <c:pt idx="11" c:formatCode="###,##0.00;\(###,##0.00\)">
                  <c:v>Touch Card Rental</c:v>
                </c:pt>
                <c:pt idx="12" c:formatCode="###,##0.00;\(###,##0.00\)">
                  <c:v>Payroll System Charges</c:v>
                </c:pt>
                <c:pt idx="13" c:formatCode="###,##0.00;\(###,##0.00\)">
                  <c:v>SURCHARGE &amp; PENALTY A/C</c:v>
                </c:pt>
                <c:pt idx="14" c:formatCode="###,##0.00;\(###,##0.00\)">
                  <c:v>SECRETARIAL FEES A/C</c:v>
                </c:pt>
                <c:pt idx="15" c:formatCode="###,##0.00;\(###,##0.00\)">
                  <c:v>ERP Maintenance</c:v>
                </c:pt>
                <c:pt idx="16" c:formatCode="###,##0.00;\(###,##0.00\)">
                  <c:v>AUDIT FEE</c:v>
                </c:pt>
              </c:strCache>
            </c:strRef>
          </c:cat>
          <c:val>
            <c:numRef>
              <c:f>[Sinetcom_Analysis.xlsx]Opex!$I$22:$I$38</c:f>
              <c:numCache>
                <c:formatCode>_ * #,##0.00_ ;_ * \-#,##0.00_ ;_ * "-"??_ ;_ @_ </c:formatCode>
                <c:ptCount val="17"/>
                <c:pt idx="0">
                  <c:v>957985.6497</c:v>
                </c:pt>
                <c:pt idx="1">
                  <c:v>732472</c:v>
                </c:pt>
                <c:pt idx="2">
                  <c:v>500000</c:v>
                </c:pt>
                <c:pt idx="3">
                  <c:v>97803.66</c:v>
                </c:pt>
                <c:pt idx="4" c:formatCode="General">
                  <c:v>0</c:v>
                </c:pt>
                <c:pt idx="5">
                  <c:v>25655.81</c:v>
                </c:pt>
                <c:pt idx="6">
                  <c:v>35574.96</c:v>
                </c:pt>
                <c:pt idx="7" c:formatCode="General">
                  <c:v>0</c:v>
                </c:pt>
                <c:pt idx="8" c:formatCode="General">
                  <c:v>0</c:v>
                </c:pt>
                <c:pt idx="9" c:formatCode="General">
                  <c:v>0</c:v>
                </c:pt>
                <c:pt idx="10" c:formatCode="General">
                  <c:v>0</c:v>
                </c:pt>
                <c:pt idx="11" c:formatCode="General">
                  <c:v>0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>
                  <c:v>0</c:v>
                </c:pt>
                <c:pt idx="16" c:formatCode="General">
                  <c:v>0</c:v>
                </c:pt>
              </c:numCache>
            </c:numRef>
          </c:val>
        </c:ser>
        <c:ser>
          <c:idx val="2"/>
          <c:order val="2"/>
          <c:tx>
            <c:strRef>
              <c:f>[Sinetcom_Analysis.xlsx]Opex!$J$21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[Sinetcom_Analysis.xlsx]Opex!$G$22:$G$38</c:f>
              <c:strCache>
                <c:ptCount val="17"/>
                <c:pt idx="0" c:formatCode="###,##0.00;\(###,##0.00\)">
                  <c:v>Consultancy Fee</c:v>
                </c:pt>
                <c:pt idx="1" c:formatCode="###,##0.00;\(###,##0.00\)">
                  <c:v>Shared Service Cost</c:v>
                </c:pt>
                <c:pt idx="2" c:formatCode="###,##0.00;\(###,##0.00\)">
                  <c:v>OFFICE MAINTENANCE A/C</c:v>
                </c:pt>
                <c:pt idx="3" c:formatCode="###,##0.00;\(###,##0.00\)">
                  <c:v>DIESAL &amp; PETROL A/C</c:v>
                </c:pt>
                <c:pt idx="4" c:formatCode="###,##0.00;\(###,##0.00\)">
                  <c:v>OFFICE EQUIPMENT MAINTENANCE</c:v>
                </c:pt>
                <c:pt idx="5" c:formatCode="###,##0.00;\(###,##0.00\)">
                  <c:v>TELEPHONE CHARGES A/C</c:v>
                </c:pt>
                <c:pt idx="6" c:formatCode="###,##0.00;\(###,##0.00\)">
                  <c:v>Email and Internet</c:v>
                </c:pt>
                <c:pt idx="7" c:formatCode="###,##0.00;\(###,##0.00\)">
                  <c:v>Insurance</c:v>
                </c:pt>
                <c:pt idx="8" c:formatCode="###,##0.00;\(###,##0.00\)">
                  <c:v>PRINTING &amp; STATIONERY</c:v>
                </c:pt>
                <c:pt idx="9" c:formatCode="###,##0.00;\(###,##0.00\)">
                  <c:v>Consultant Fees</c:v>
                </c:pt>
                <c:pt idx="10" c:formatCode="###,##0.00;\(###,##0.00\)">
                  <c:v>Professional charges</c:v>
                </c:pt>
                <c:pt idx="11" c:formatCode="###,##0.00;\(###,##0.00\)">
                  <c:v>Touch Card Rental</c:v>
                </c:pt>
                <c:pt idx="12" c:formatCode="###,##0.00;\(###,##0.00\)">
                  <c:v>Payroll System Charges</c:v>
                </c:pt>
                <c:pt idx="13" c:formatCode="###,##0.00;\(###,##0.00\)">
                  <c:v>SURCHARGE &amp; PENALTY A/C</c:v>
                </c:pt>
                <c:pt idx="14" c:formatCode="###,##0.00;\(###,##0.00\)">
                  <c:v>SECRETARIAL FEES A/C</c:v>
                </c:pt>
                <c:pt idx="15" c:formatCode="###,##0.00;\(###,##0.00\)">
                  <c:v>ERP Maintenance</c:v>
                </c:pt>
                <c:pt idx="16" c:formatCode="###,##0.00;\(###,##0.00\)">
                  <c:v>AUDIT FEE</c:v>
                </c:pt>
              </c:strCache>
            </c:strRef>
          </c:cat>
          <c:val>
            <c:numRef>
              <c:f>[Sinetcom_Analysis.xlsx]Opex!$J$22:$J$38</c:f>
              <c:numCache>
                <c:formatCode>_ * #,##0.00_ ;_ * \-#,##0.00_ ;_ * "-"??_ ;_ @_ </c:formatCode>
                <c:ptCount val="17"/>
                <c:pt idx="0">
                  <c:v>992785.56</c:v>
                </c:pt>
                <c:pt idx="1">
                  <c:v>732472</c:v>
                </c:pt>
                <c:pt idx="2">
                  <c:v>500000</c:v>
                </c:pt>
                <c:pt idx="3">
                  <c:v>89185.1</c:v>
                </c:pt>
                <c:pt idx="4" c:formatCode="General">
                  <c:v>0</c:v>
                </c:pt>
                <c:pt idx="5">
                  <c:v>21197.92</c:v>
                </c:pt>
                <c:pt idx="6">
                  <c:v>10958.95</c:v>
                </c:pt>
                <c:pt idx="7" c:formatCode="General">
                  <c:v>0</c:v>
                </c:pt>
                <c:pt idx="8" c:formatCode="General">
                  <c:v>0</c:v>
                </c:pt>
                <c:pt idx="9" c:formatCode="General">
                  <c:v>0</c:v>
                </c:pt>
                <c:pt idx="10" c:formatCode="General">
                  <c:v>0</c:v>
                </c:pt>
                <c:pt idx="11" c:formatCode="General">
                  <c:v>0</c:v>
                </c:pt>
                <c:pt idx="12">
                  <c:v>9550.12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>
                  <c:v>0</c:v>
                </c:pt>
                <c:pt idx="16" c:formatCode="General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.0114975802879523"/>
                <c:y val="0.116216341338532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31430623860308"/>
          <c:y val="0.021758493447003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55134840642877"/>
          <c:y val="0.113279203771608"/>
          <c:w val="0.894709888313811"/>
          <c:h val="0.754801169725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[Sinetcom_Analysis.xlsx]Opex!$H$41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[Sinetcom_Analysis.xlsx]Opex!$G$42:$G$59</c:f>
              <c:strCache>
                <c:ptCount val="18"/>
                <c:pt idx="0" c:formatCode="###,##0.00;\(###,##0.00\)">
                  <c:v>FOREIGN TRAVELLING EXPENSES A/C</c:v>
                </c:pt>
                <c:pt idx="1" c:formatCode="###,##0.00;\(###,##0.00\)">
                  <c:v>Sales commission</c:v>
                </c:pt>
                <c:pt idx="2" c:formatCode="###,##0.00;\(###,##0.00\)">
                  <c:v>WARRANTY CLAIMS RMA  A/C</c:v>
                </c:pt>
                <c:pt idx="3" c:formatCode="###,##0.00;\(###,##0.00\)">
                  <c:v>TRAVELLING EXPENSES A/C</c:v>
                </c:pt>
                <c:pt idx="4" c:formatCode="###,##0.00;\(###,##0.00\)">
                  <c:v>TRANSPORT A/C</c:v>
                </c:pt>
                <c:pt idx="5" c:formatCode="###,##0.00;\(###,##0.00\)">
                  <c:v>BUSINESS PROMOTION A/C</c:v>
                </c:pt>
                <c:pt idx="6" c:formatCode="###,##0.00;\(###,##0.00\)">
                  <c:v>VEHICAL MAINTENANCE A/C</c:v>
                </c:pt>
                <c:pt idx="7" c:formatCode="###,##0.00;\(###,##0.00\)">
                  <c:v>Motor Vehicle Depreciation</c:v>
                </c:pt>
                <c:pt idx="8" c:formatCode="###,##0.00;\(###,##0.00\)">
                  <c:v>ADVERTISMENT</c:v>
                </c:pt>
                <c:pt idx="9" c:formatCode="###,##0.00;\(###,##0.00\)">
                  <c:v>Motor Vehicle Insurance</c:v>
                </c:pt>
                <c:pt idx="10" c:formatCode="###,##0.00;\(###,##0.00\)">
                  <c:v>TENDER CHARGES A/C</c:v>
                </c:pt>
                <c:pt idx="11" c:formatCode="###,##0.00;\(###,##0.00\)">
                  <c:v>BAD DEBTORS</c:v>
                </c:pt>
                <c:pt idx="12" c:formatCode="###,##0.00;\(###,##0.00\)">
                  <c:v>BAD DEBTORS</c:v>
                </c:pt>
                <c:pt idx="13" c:formatCode="###,##0.00;\(###,##0.00\)">
                  <c:v>BAD DEBTS - BELOWRS 10/=</c:v>
                </c:pt>
                <c:pt idx="14" c:formatCode="###,##0.00;\(###,##0.00\)">
                  <c:v>VENDER LICENCE FEE A/C</c:v>
                </c:pt>
                <c:pt idx="15" c:formatCode="###,##0.00;\(###,##0.00\)">
                  <c:v>PROJECT EXPENSES A/C</c:v>
                </c:pt>
                <c:pt idx="16" c:formatCode="###,##0.00;\(###,##0.00\)">
                  <c:v>Dealers expense</c:v>
                </c:pt>
                <c:pt idx="17" c:formatCode="###,##0.00;\(###,##0.00\)">
                  <c:v>Business promotions</c:v>
                </c:pt>
              </c:strCache>
            </c:strRef>
          </c:cat>
          <c:val>
            <c:numRef>
              <c:f>[Sinetcom_Analysis.xlsx]Opex!$H$42:$H$59</c:f>
              <c:numCache>
                <c:formatCode>_ * #,##0.00_ ;_ * \-#,##0.00_ ;_ * "-"??_ ;_ @_ </c:formatCode>
                <c:ptCount val="18"/>
                <c:pt idx="0">
                  <c:v>399316.275</c:v>
                </c:pt>
                <c:pt idx="1">
                  <c:v>268818.3775</c:v>
                </c:pt>
                <c:pt idx="2">
                  <c:v>197401.224975</c:v>
                </c:pt>
                <c:pt idx="3">
                  <c:v>47081.9325</c:v>
                </c:pt>
                <c:pt idx="4">
                  <c:v>35953.2825</c:v>
                </c:pt>
                <c:pt idx="5">
                  <c:v>30724.125</c:v>
                </c:pt>
                <c:pt idx="6">
                  <c:v>7410</c:v>
                </c:pt>
                <c:pt idx="7">
                  <c:v>2110</c:v>
                </c:pt>
                <c:pt idx="8">
                  <c:v>1474.0225</c:v>
                </c:pt>
                <c:pt idx="9">
                  <c:v>1239.905</c:v>
                </c:pt>
                <c:pt idx="10" c:formatCode="General">
                  <c:v>0</c:v>
                </c:pt>
                <c:pt idx="11" c:formatCode="General">
                  <c:v>0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>
                  <c:v>-295894.8745</c:v>
                </c:pt>
              </c:numCache>
            </c:numRef>
          </c:val>
        </c:ser>
        <c:ser>
          <c:idx val="1"/>
          <c:order val="1"/>
          <c:tx>
            <c:strRef>
              <c:f>[Sinetcom_Analysis.xlsx]Opex!$I$41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[Sinetcom_Analysis.xlsx]Opex!$G$42:$G$59</c:f>
              <c:strCache>
                <c:ptCount val="18"/>
                <c:pt idx="0" c:formatCode="###,##0.00;\(###,##0.00\)">
                  <c:v>FOREIGN TRAVELLING EXPENSES A/C</c:v>
                </c:pt>
                <c:pt idx="1" c:formatCode="###,##0.00;\(###,##0.00\)">
                  <c:v>Sales commission</c:v>
                </c:pt>
                <c:pt idx="2" c:formatCode="###,##0.00;\(###,##0.00\)">
                  <c:v>WARRANTY CLAIMS RMA  A/C</c:v>
                </c:pt>
                <c:pt idx="3" c:formatCode="###,##0.00;\(###,##0.00\)">
                  <c:v>TRAVELLING EXPENSES A/C</c:v>
                </c:pt>
                <c:pt idx="4" c:formatCode="###,##0.00;\(###,##0.00\)">
                  <c:v>TRANSPORT A/C</c:v>
                </c:pt>
                <c:pt idx="5" c:formatCode="###,##0.00;\(###,##0.00\)">
                  <c:v>BUSINESS PROMOTION A/C</c:v>
                </c:pt>
                <c:pt idx="6" c:formatCode="###,##0.00;\(###,##0.00\)">
                  <c:v>VEHICAL MAINTENANCE A/C</c:v>
                </c:pt>
                <c:pt idx="7" c:formatCode="###,##0.00;\(###,##0.00\)">
                  <c:v>Motor Vehicle Depreciation</c:v>
                </c:pt>
                <c:pt idx="8" c:formatCode="###,##0.00;\(###,##0.00\)">
                  <c:v>ADVERTISMENT</c:v>
                </c:pt>
                <c:pt idx="9" c:formatCode="###,##0.00;\(###,##0.00\)">
                  <c:v>Motor Vehicle Insurance</c:v>
                </c:pt>
                <c:pt idx="10" c:formatCode="###,##0.00;\(###,##0.00\)">
                  <c:v>TENDER CHARGES A/C</c:v>
                </c:pt>
                <c:pt idx="11" c:formatCode="###,##0.00;\(###,##0.00\)">
                  <c:v>BAD DEBTORS</c:v>
                </c:pt>
                <c:pt idx="12" c:formatCode="###,##0.00;\(###,##0.00\)">
                  <c:v>BAD DEBTORS</c:v>
                </c:pt>
                <c:pt idx="13" c:formatCode="###,##0.00;\(###,##0.00\)">
                  <c:v>BAD DEBTS - BELOWRS 10/=</c:v>
                </c:pt>
                <c:pt idx="14" c:formatCode="###,##0.00;\(###,##0.00\)">
                  <c:v>VENDER LICENCE FEE A/C</c:v>
                </c:pt>
                <c:pt idx="15" c:formatCode="###,##0.00;\(###,##0.00\)">
                  <c:v>PROJECT EXPENSES A/C</c:v>
                </c:pt>
                <c:pt idx="16" c:formatCode="###,##0.00;\(###,##0.00\)">
                  <c:v>Dealers expense</c:v>
                </c:pt>
                <c:pt idx="17" c:formatCode="###,##0.00;\(###,##0.00\)">
                  <c:v>Business promotions</c:v>
                </c:pt>
              </c:strCache>
            </c:strRef>
          </c:cat>
          <c:val>
            <c:numRef>
              <c:f>[Sinetcom_Analysis.xlsx]Opex!$I$42:$I$59</c:f>
              <c:numCache>
                <c:formatCode>General</c:formatCode>
                <c:ptCount val="18"/>
                <c:pt idx="0">
                  <c:v>0</c:v>
                </c:pt>
                <c:pt idx="1" c:formatCode="_ * #,##0.00_ ;_ * \-#,##0.00_ ;_ * &quot;-&quot;??_ ;_ @_ ">
                  <c:v>337268.71</c:v>
                </c:pt>
                <c:pt idx="2">
                  <c:v>0</c:v>
                </c:pt>
                <c:pt idx="3" c:formatCode="_ * #,##0.00_ ;_ * \-#,##0.00_ ;_ * &quot;-&quot;??_ ;_ @_ ">
                  <c:v>54433.78</c:v>
                </c:pt>
                <c:pt idx="4">
                  <c:v>0</c:v>
                </c:pt>
                <c:pt idx="5" c:formatCode="_ * #,##0.00_ ;_ * \-#,##0.00_ ;_ * &quot;-&quot;??_ ;_ @_ ">
                  <c:v>108850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 c:formatCode="_ * #,##0.00_ ;_ * \-#,##0.00_ ;_ * &quot;-&quot;??_ ;_ @_ ">
                  <c:v>-437456.9129</c:v>
                </c:pt>
              </c:numCache>
            </c:numRef>
          </c:val>
        </c:ser>
        <c:ser>
          <c:idx val="2"/>
          <c:order val="2"/>
          <c:tx>
            <c:strRef>
              <c:f>[Sinetcom_Analysis.xlsx]Opex!$J$41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[Sinetcom_Analysis.xlsx]Opex!$G$42:$G$59</c:f>
              <c:strCache>
                <c:ptCount val="18"/>
                <c:pt idx="0" c:formatCode="###,##0.00;\(###,##0.00\)">
                  <c:v>FOREIGN TRAVELLING EXPENSES A/C</c:v>
                </c:pt>
                <c:pt idx="1" c:formatCode="###,##0.00;\(###,##0.00\)">
                  <c:v>Sales commission</c:v>
                </c:pt>
                <c:pt idx="2" c:formatCode="###,##0.00;\(###,##0.00\)">
                  <c:v>WARRANTY CLAIMS RMA  A/C</c:v>
                </c:pt>
                <c:pt idx="3" c:formatCode="###,##0.00;\(###,##0.00\)">
                  <c:v>TRAVELLING EXPENSES A/C</c:v>
                </c:pt>
                <c:pt idx="4" c:formatCode="###,##0.00;\(###,##0.00\)">
                  <c:v>TRANSPORT A/C</c:v>
                </c:pt>
                <c:pt idx="5" c:formatCode="###,##0.00;\(###,##0.00\)">
                  <c:v>BUSINESS PROMOTION A/C</c:v>
                </c:pt>
                <c:pt idx="6" c:formatCode="###,##0.00;\(###,##0.00\)">
                  <c:v>VEHICAL MAINTENANCE A/C</c:v>
                </c:pt>
                <c:pt idx="7" c:formatCode="###,##0.00;\(###,##0.00\)">
                  <c:v>Motor Vehicle Depreciation</c:v>
                </c:pt>
                <c:pt idx="8" c:formatCode="###,##0.00;\(###,##0.00\)">
                  <c:v>ADVERTISMENT</c:v>
                </c:pt>
                <c:pt idx="9" c:formatCode="###,##0.00;\(###,##0.00\)">
                  <c:v>Motor Vehicle Insurance</c:v>
                </c:pt>
                <c:pt idx="10" c:formatCode="###,##0.00;\(###,##0.00\)">
                  <c:v>TENDER CHARGES A/C</c:v>
                </c:pt>
                <c:pt idx="11" c:formatCode="###,##0.00;\(###,##0.00\)">
                  <c:v>BAD DEBTORS</c:v>
                </c:pt>
                <c:pt idx="12" c:formatCode="###,##0.00;\(###,##0.00\)">
                  <c:v>BAD DEBTORS</c:v>
                </c:pt>
                <c:pt idx="13" c:formatCode="###,##0.00;\(###,##0.00\)">
                  <c:v>BAD DEBTS - BELOWRS 10/=</c:v>
                </c:pt>
                <c:pt idx="14" c:formatCode="###,##0.00;\(###,##0.00\)">
                  <c:v>VENDER LICENCE FEE A/C</c:v>
                </c:pt>
                <c:pt idx="15" c:formatCode="###,##0.00;\(###,##0.00\)">
                  <c:v>PROJECT EXPENSES A/C</c:v>
                </c:pt>
                <c:pt idx="16" c:formatCode="###,##0.00;\(###,##0.00\)">
                  <c:v>Dealers expense</c:v>
                </c:pt>
                <c:pt idx="17" c:formatCode="###,##0.00;\(###,##0.00\)">
                  <c:v>Business promotions</c:v>
                </c:pt>
              </c:strCache>
            </c:strRef>
          </c:cat>
          <c:val>
            <c:numRef>
              <c:f>[Sinetcom_Analysis.xlsx]Opex!$J$42:$J$59</c:f>
              <c:numCache>
                <c:formatCode>_ * #,##0.00_ ;_ * \-#,##0.00_ ;_ * "-"??_ ;_ @_ </c:formatCode>
                <c:ptCount val="18"/>
                <c:pt idx="0">
                  <c:v>255448</c:v>
                </c:pt>
                <c:pt idx="1">
                  <c:v>407923.07</c:v>
                </c:pt>
                <c:pt idx="2" c:formatCode="General">
                  <c:v>0</c:v>
                </c:pt>
                <c:pt idx="3">
                  <c:v>94775.44</c:v>
                </c:pt>
                <c:pt idx="4" c:formatCode="General">
                  <c:v>0</c:v>
                </c:pt>
                <c:pt idx="5">
                  <c:v>929500.69</c:v>
                </c:pt>
                <c:pt idx="6" c:formatCode="General">
                  <c:v>0</c:v>
                </c:pt>
                <c:pt idx="7" c:formatCode="General">
                  <c:v>0</c:v>
                </c:pt>
                <c:pt idx="8">
                  <c:v>4029</c:v>
                </c:pt>
                <c:pt idx="9" c:formatCode="General">
                  <c:v>0</c:v>
                </c:pt>
                <c:pt idx="10" c:formatCode="General">
                  <c:v>0</c:v>
                </c:pt>
                <c:pt idx="11" c:formatCode="General">
                  <c:v>0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.0105039498774176"/>
                <c:y val="0.11714248297538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04249523290656"/>
          <c:y val="0.0367993713986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45523907744704"/>
          <c:y val="0.113289760348584"/>
          <c:w val="0.894735074313544"/>
          <c:h val="0.451183732752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[Sinetcom_Analysis.xlsx]Opex!$H$62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[Sinetcom_Analysis.xlsx]Opex!$G$63:$G$68</c:f>
              <c:strCache>
                <c:ptCount val="6"/>
                <c:pt idx="0" c:formatCode="###,##0.00;\(###,##0.00\)">
                  <c:v>[6-11404] Currency Exchange Realized -Loss</c:v>
                </c:pt>
                <c:pt idx="1" c:formatCode="###,##0.00;\(###,##0.00\)">
                  <c:v>[6-30505] Bank Charges</c:v>
                </c:pt>
                <c:pt idx="2" c:formatCode="###,##0.00;\(###,##0.00\)">
                  <c:v>[6-30501] Cheque Book Charges</c:v>
                </c:pt>
                <c:pt idx="3" c:formatCode="###,##0.00;\(###,##0.00\)">
                  <c:v>[6-30401] OD Interest</c:v>
                </c:pt>
                <c:pt idx="4" c:formatCode="###,##0.00;\(###,##0.00\)">
                  <c:v>[6-11405] Currency Adjustment</c:v>
                </c:pt>
                <c:pt idx="5" c:formatCode="###,##0.00;\(###,##0.00\)">
                  <c:v>[6-30504] Bank Charges on Customer TT Remittance</c:v>
                </c:pt>
              </c:strCache>
            </c:strRef>
          </c:cat>
          <c:val>
            <c:numRef>
              <c:f>[Sinetcom_Analysis.xlsx]Opex!$H$63:$H$68</c:f>
              <c:numCache>
                <c:formatCode>_ * #,##0.00_ ;_ * \-#,##0.00_ ;_ * "-"??_ ;_ @_ </c:formatCode>
                <c:ptCount val="6"/>
                <c:pt idx="0">
                  <c:v>165328.0811</c:v>
                </c:pt>
                <c:pt idx="1">
                  <c:v>8290.19245</c:v>
                </c:pt>
                <c:pt idx="2">
                  <c:v>1625</c:v>
                </c:pt>
                <c:pt idx="3">
                  <c:v>685.56</c:v>
                </c:pt>
                <c:pt idx="4" c:formatCode="General">
                  <c:v>0</c:v>
                </c:pt>
                <c:pt idx="5" c:formatCode="General">
                  <c:v>0</c:v>
                </c:pt>
              </c:numCache>
            </c:numRef>
          </c:val>
        </c:ser>
        <c:ser>
          <c:idx val="1"/>
          <c:order val="1"/>
          <c:tx>
            <c:strRef>
              <c:f>[Sinetcom_Analysis.xlsx]Opex!$I$62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[Sinetcom_Analysis.xlsx]Opex!$G$63:$G$68</c:f>
              <c:strCache>
                <c:ptCount val="6"/>
                <c:pt idx="0" c:formatCode="###,##0.00;\(###,##0.00\)">
                  <c:v>[6-11404] Currency Exchange Realized -Loss</c:v>
                </c:pt>
                <c:pt idx="1" c:formatCode="###,##0.00;\(###,##0.00\)">
                  <c:v>[6-30505] Bank Charges</c:v>
                </c:pt>
                <c:pt idx="2" c:formatCode="###,##0.00;\(###,##0.00\)">
                  <c:v>[6-30501] Cheque Book Charges</c:v>
                </c:pt>
                <c:pt idx="3" c:formatCode="###,##0.00;\(###,##0.00\)">
                  <c:v>[6-30401] OD Interest</c:v>
                </c:pt>
                <c:pt idx="4" c:formatCode="###,##0.00;\(###,##0.00\)">
                  <c:v>[6-11405] Currency Adjustment</c:v>
                </c:pt>
                <c:pt idx="5" c:formatCode="###,##0.00;\(###,##0.00\)">
                  <c:v>[6-30504] Bank Charges on Customer TT Remittance</c:v>
                </c:pt>
              </c:strCache>
            </c:strRef>
          </c:cat>
          <c:val>
            <c:numRef>
              <c:f>[Sinetcom_Analysis.xlsx]Opex!$I$63:$I$68</c:f>
              <c:numCache>
                <c:formatCode>_ * #,##0.00_ ;_ * \-#,##0.00_ ;_ * "-"??_ ;_ @_ </c:formatCode>
                <c:ptCount val="6"/>
                <c:pt idx="0">
                  <c:v>247037.3053</c:v>
                </c:pt>
                <c:pt idx="1">
                  <c:v>7700.001</c:v>
                </c:pt>
                <c:pt idx="2" c:formatCode="General">
                  <c:v>0</c:v>
                </c:pt>
                <c:pt idx="3">
                  <c:v>1455.78</c:v>
                </c:pt>
                <c:pt idx="4" c:formatCode="General">
                  <c:v>0</c:v>
                </c:pt>
                <c:pt idx="5" c:formatCode="General">
                  <c:v>0</c:v>
                </c:pt>
              </c:numCache>
            </c:numRef>
          </c:val>
        </c:ser>
        <c:ser>
          <c:idx val="2"/>
          <c:order val="2"/>
          <c:tx>
            <c:strRef>
              <c:f>[Sinetcom_Analysis.xlsx]Opex!$J$62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[Sinetcom_Analysis.xlsx]Opex!$G$63:$G$68</c:f>
              <c:strCache>
                <c:ptCount val="6"/>
                <c:pt idx="0" c:formatCode="###,##0.00;\(###,##0.00\)">
                  <c:v>[6-11404] Currency Exchange Realized -Loss</c:v>
                </c:pt>
                <c:pt idx="1" c:formatCode="###,##0.00;\(###,##0.00\)">
                  <c:v>[6-30505] Bank Charges</c:v>
                </c:pt>
                <c:pt idx="2" c:formatCode="###,##0.00;\(###,##0.00\)">
                  <c:v>[6-30501] Cheque Book Charges</c:v>
                </c:pt>
                <c:pt idx="3" c:formatCode="###,##0.00;\(###,##0.00\)">
                  <c:v>[6-30401] OD Interest</c:v>
                </c:pt>
                <c:pt idx="4" c:formatCode="###,##0.00;\(###,##0.00\)">
                  <c:v>[6-11405] Currency Adjustment</c:v>
                </c:pt>
                <c:pt idx="5" c:formatCode="###,##0.00;\(###,##0.00\)">
                  <c:v>[6-30504] Bank Charges on Customer TT Remittance</c:v>
                </c:pt>
              </c:strCache>
            </c:strRef>
          </c:cat>
          <c:val>
            <c:numRef>
              <c:f>[Sinetcom_Analysis.xlsx]Opex!$J$63:$J$68</c:f>
              <c:numCache>
                <c:formatCode>_ * #,##0.00_ ;_ * \-#,##0.00_ ;_ * "-"??_ ;_ @_ </c:formatCode>
                <c:ptCount val="6"/>
                <c:pt idx="0">
                  <c:v>480624.0594</c:v>
                </c:pt>
                <c:pt idx="1">
                  <c:v>950.004</c:v>
                </c:pt>
                <c:pt idx="2" c:formatCode="General">
                  <c:v>0</c:v>
                </c:pt>
                <c:pt idx="3" c:formatCode="General">
                  <c:v>0</c:v>
                </c:pt>
                <c:pt idx="4" c:formatCode="General">
                  <c:v>0</c:v>
                </c:pt>
                <c:pt idx="5" c:formatCode="General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.0188714654143656"/>
                <c:y val="0.118084126656345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31907463989524"/>
          <c:y val="0.018398680370511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</a:t>
            </a:r>
            <a:r>
              <a:rPr lang="en-US" sz="5400">
                <a:solidFill>
                  <a:schemeClr val="bg1"/>
                </a:solidFill>
                <a:sym typeface="+mn-ea"/>
              </a:rPr>
              <a:t>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lum bright="-48000"/>
          </a:blip>
          <a:stretch>
            <a:fillRect/>
          </a:stretch>
        </p:blipFill>
        <p:spPr>
          <a:xfrm>
            <a:off x="-5715" y="-31750"/>
            <a:ext cx="12200890" cy="4701540"/>
          </a:xfrm>
          <a:prstGeom prst="rect">
            <a:avLst/>
          </a:prstGeom>
        </p:spPr>
      </p:pic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020" y="82550"/>
            <a:ext cx="2190750" cy="4851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Overall 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graphicFrame>
        <p:nvGraphicFramePr>
          <p:cNvPr id="6" name="Chart 5"/>
          <p:cNvGraphicFramePr/>
          <p:nvPr/>
        </p:nvGraphicFramePr>
        <p:xfrm>
          <a:off x="132715" y="1073150"/>
          <a:ext cx="11436985" cy="5512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575" y="1235710"/>
            <a:ext cx="6526530" cy="279781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016500" y="4330065"/>
            <a:ext cx="3218180" cy="43815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and Profit 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graphicFrame>
        <p:nvGraphicFramePr>
          <p:cNvPr id="6" name="Chart 5"/>
          <p:cNvGraphicFramePr/>
          <p:nvPr/>
        </p:nvGraphicFramePr>
        <p:xfrm>
          <a:off x="440690" y="1266190"/>
          <a:ext cx="11362690" cy="5083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graphicFrame>
        <p:nvGraphicFramePr>
          <p:cNvPr id="12" name="Chart 11"/>
          <p:cNvGraphicFramePr/>
          <p:nvPr/>
        </p:nvGraphicFramePr>
        <p:xfrm>
          <a:off x="377190" y="1089660"/>
          <a:ext cx="11481435" cy="5520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KPIs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/>
          <p:nvPr/>
        </p:nvGraphicFramePr>
        <p:xfrm>
          <a:off x="399415" y="1195070"/>
          <a:ext cx="11551920" cy="511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2940"/>
                <a:gridCol w="1703705"/>
                <a:gridCol w="1522095"/>
                <a:gridCol w="2583180"/>
              </a:tblGrid>
              <a:tr h="41783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20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958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Cost of Sale(% of Revenue)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80.92%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83.31%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76.15%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LOCAL PURCHASE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Sales General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80.80%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83.31%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74.99%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Standard Cost Variance - Inbound (Temp)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Sales &amp; Procurement Return Charges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Import &amp; Other Charges (Not added with Costing)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1.14%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Inventory Consumption - General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Service - Expense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Labour Expense - Service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(Tabular Form)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/>
          <p:nvPr/>
        </p:nvGraphicFramePr>
        <p:xfrm>
          <a:off x="374015" y="1385570"/>
          <a:ext cx="11551920" cy="415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2940"/>
                <a:gridCol w="1703705"/>
                <a:gridCol w="1588770"/>
                <a:gridCol w="2516505"/>
              </a:tblGrid>
              <a:tr h="417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20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Cost of Sale(% of Revenue)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34,170,206.54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55,361,289.46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33,973,784.78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LOCAL PURCHASE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280.00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Sales General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34,122,751.81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55,361,289.46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33,458,702.38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Standard Cost Variance - Inbound (Temp)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Sales &amp; Procurement Return Charges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Import &amp; Other Charges (Not added with Costing)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47,454.73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510,127.41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Inventory Consumption - General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4,675.00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Service - Expense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Labour Expense - Service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KPIs (OPEX)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graphicFrame>
        <p:nvGraphicFramePr>
          <p:cNvPr id="2" name="Table 1"/>
          <p:cNvGraphicFramePr/>
          <p:nvPr/>
        </p:nvGraphicFramePr>
        <p:xfrm>
          <a:off x="420370" y="1326515"/>
          <a:ext cx="11487785" cy="4669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/>
                <a:gridCol w="1577975"/>
                <a:gridCol w="878205"/>
                <a:gridCol w="1510030"/>
                <a:gridCol w="878205"/>
                <a:gridCol w="1510030"/>
                <a:gridCol w="1056640"/>
              </a:tblGrid>
              <a:tr h="6610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502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Administrative Expenses (% of Revenue)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3,661,741.02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8.7%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3,679,322.93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5.5%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5,318,094.80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11.9%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1.Employee Cost (% of Administrative cost)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1,312,248.94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35.8%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1,323,173.28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36.0%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1,597,467.81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30.0%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3.Other Admin Cost  (% of Administrative cost)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2,349,492.08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64.2%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2,356,149.65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64.0%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3,720,626.99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70.0%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Selling &amp; Distribution Cost (% of Revenue)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63,095.58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1,691,676.20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2.5%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695,634.27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1.6%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8959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Finance Cost (% of Revenue)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256,193.09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0.6%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481,574.06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0.7%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175,928.83 </a:t>
                      </a:r>
                      <a:endParaRPr lang="en-US" sz="18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0.4%</a:t>
                      </a:r>
                      <a:endParaRPr lang="en-US" sz="20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495" y="239395"/>
            <a:ext cx="2190750" cy="485140"/>
          </a:xfrm>
          <a:prstGeom prst="rect">
            <a:avLst/>
          </a:prstGeom>
        </p:spPr>
      </p:pic>
      <p:graphicFrame>
        <p:nvGraphicFramePr>
          <p:cNvPr id="13" name="Chart 12"/>
          <p:cNvGraphicFramePr/>
          <p:nvPr/>
        </p:nvGraphicFramePr>
        <p:xfrm>
          <a:off x="292100" y="1725930"/>
          <a:ext cx="11608435" cy="4840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30" y="1652905"/>
            <a:ext cx="5184140" cy="2618740"/>
          </a:xfrm>
          <a:prstGeom prst="rect">
            <a:avLst/>
          </a:prstGeom>
        </p:spPr>
      </p:pic>
      <p:graphicFrame>
        <p:nvGraphicFramePr>
          <p:cNvPr id="15" name="Table 14"/>
          <p:cNvGraphicFramePr/>
          <p:nvPr/>
        </p:nvGraphicFramePr>
        <p:xfrm>
          <a:off x="553720" y="103759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Employee Cost(% of AC)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35.8%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36.0%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30.0%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/>
        </p:nvGraphicFramePr>
        <p:xfrm>
          <a:off x="553085" y="105410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Other Admin Cost(% of AC)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64.2%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64.0%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70.0%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Chart 1"/>
          <p:cNvGraphicFramePr/>
          <p:nvPr/>
        </p:nvGraphicFramePr>
        <p:xfrm>
          <a:off x="349885" y="1791970"/>
          <a:ext cx="11491595" cy="4777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245" y="1596390"/>
            <a:ext cx="5309235" cy="2789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(Selling &amp; Distribution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/>
        </p:nvGraphicFramePr>
        <p:xfrm>
          <a:off x="553085" y="105410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Selling &amp; Distribution Expenses(% of Revenue)</a:t>
                      </a:r>
                      <a:endParaRPr lang="en-US" sz="14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0.1%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2.5%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1.6%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374015" y="1721485"/>
          <a:ext cx="11655425" cy="4848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310" y="1630680"/>
            <a:ext cx="4857115" cy="265684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318000" y="2287905"/>
            <a:ext cx="650240" cy="394335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32940" y="2414905"/>
            <a:ext cx="650240" cy="394335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24565" y="4409440"/>
            <a:ext cx="634365" cy="205486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(Finance Cost)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/>
        </p:nvGraphicFramePr>
        <p:xfrm>
          <a:off x="553085" y="105410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3962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Finance Cost (% of Revenue)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0.6%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0.7%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0.4%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Chart 1"/>
          <p:cNvGraphicFramePr/>
          <p:nvPr/>
        </p:nvGraphicFramePr>
        <p:xfrm>
          <a:off x="391795" y="1560830"/>
          <a:ext cx="11638280" cy="5004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785" y="1842770"/>
            <a:ext cx="6903720" cy="16770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08125" y="2333625"/>
            <a:ext cx="1436370" cy="403415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Overall Variation (Sep-Oct)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" y="1167765"/>
            <a:ext cx="11862435" cy="47288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Summary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/>
          <p:nvPr/>
        </p:nvGraphicFramePr>
        <p:xfrm>
          <a:off x="272415" y="1140460"/>
          <a:ext cx="11646535" cy="5231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9360"/>
                <a:gridCol w="1379220"/>
                <a:gridCol w="842645"/>
                <a:gridCol w="1539240"/>
                <a:gridCol w="1204595"/>
                <a:gridCol w="1539875"/>
                <a:gridCol w="1371600"/>
              </a:tblGrid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42,228,750.87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66,455,440.20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44,617,018.68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438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34,170,206.54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80.9%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55,361,289.46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83.3%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33,973,784.78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76.1%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Gross Profit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8,058,544.33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19.1%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11,094,150.74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16.7%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10,643,233.89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23.9%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Other Income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2,419,521.39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5.7%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1,788,861.24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2.7%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516,693.99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1.2%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Administrative Expenses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3,661,741.02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8.7%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3,679,322.93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5.5%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5,318,094.80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11.9%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92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% Of Administrative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20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Employee Cost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1,312,248.94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35.8%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1,323,173.28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36.0%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1,597,467.81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30.0%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Other Admin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2,349,492.08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64.2%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2,356,149.65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64.0%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3,720,626.99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70.0%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Selling &amp; Distribution Cost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63,095.58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0.1%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1,691,676.20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2.5%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695,634.27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1.6%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Finance Cost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256,193.09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0.6%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481,574.06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0.7%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175,928.83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0.4%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Profit Before Tax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6,497,036.04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15.4%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7,030,438.78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10.6%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4,970,269.98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11.1%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Tax Expenses(% of PBT)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480,194.79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7.4%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634,700.10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9.0%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550,017.74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11.1%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Profit After Tax Expenses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(% of Revenue)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6,016,841.25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14.2%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6,395,738.68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9.6%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4,420,252.24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9.9%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WhatsApp-Image-2021-08-30-at-20.03.08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690" y="239395"/>
            <a:ext cx="2190750" cy="4851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Content Placeholder 2"/>
          <p:cNvSpPr>
            <a:spLocks noGrp="1"/>
          </p:cNvSpPr>
          <p:nvPr/>
        </p:nvSpPr>
        <p:spPr>
          <a:xfrm>
            <a:off x="2400300" y="3369310"/>
            <a:ext cx="7383145" cy="83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50000"/>
                  </a:schemeClr>
                </a:solidFill>
              </a14:hiddenFill>
            </a:ext>
          </a:extLst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>
                <a:solidFill>
                  <a:schemeClr val="accent1">
                    <a:lumMod val="50000"/>
                  </a:schemeClr>
                </a:solidFill>
              </a:rPr>
              <a:t>THANK YOU!</a:t>
            </a:r>
            <a:endParaRPr lang="en-US" sz="54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Content Placeholder 6" descr="WhatsApp-Image-2021-08-30-at-20.03.08-removebg-preview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159635" y="1231265"/>
            <a:ext cx="7891780" cy="1747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3304</Words>
  <Application>WPS Presentation</Application>
  <PresentationFormat>Widescreen</PresentationFormat>
  <Paragraphs>516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P&amp;L - Overall Performance</vt:lpstr>
      <vt:lpstr>P&amp;L - Revenue and Profit </vt:lpstr>
      <vt:lpstr>P&amp;L - COGS Performance</vt:lpstr>
      <vt:lpstr>P&amp;L - COGS KPIs</vt:lpstr>
      <vt:lpstr>P&amp;L - COGS (Tabular Form)</vt:lpstr>
      <vt:lpstr>P&amp;L - KPIs (OPEX)</vt:lpstr>
      <vt:lpstr>P&amp;L - OPEX (Administration Expenses)</vt:lpstr>
      <vt:lpstr>P&amp;L - OPEX (Administration Expenses)</vt:lpstr>
      <vt:lpstr>P&amp;L - OPEX (Selling &amp; Distribution Expenses)</vt:lpstr>
      <vt:lpstr>P&amp;L - OPEX (Finance Cost)</vt:lpstr>
      <vt:lpstr>P&amp;L - Overall Variation (Sep-Oct)</vt:lpstr>
      <vt:lpstr>P&amp;L - 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User</dc:creator>
  <cp:lastModifiedBy>User</cp:lastModifiedBy>
  <cp:revision>23</cp:revision>
  <dcterms:created xsi:type="dcterms:W3CDTF">2024-12-09T04:57:00Z</dcterms:created>
  <dcterms:modified xsi:type="dcterms:W3CDTF">2024-12-13T11:01:24Z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1033-10.2.0.7480</vt:lpwstr>
  </property>
</Properties>
</file>